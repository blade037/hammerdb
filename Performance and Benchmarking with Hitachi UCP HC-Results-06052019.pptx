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40" r:id="rId2"/>
    <p:sldId id="302" r:id="rId3"/>
    <p:sldId id="310" r:id="rId4"/>
    <p:sldId id="361" r:id="rId5"/>
    <p:sldId id="367" r:id="rId6"/>
    <p:sldId id="360" r:id="rId7"/>
    <p:sldId id="350" r:id="rId8"/>
    <p:sldId id="352" r:id="rId9"/>
    <p:sldId id="355" r:id="rId10"/>
    <p:sldId id="356" r:id="rId11"/>
    <p:sldId id="366" r:id="rId12"/>
    <p:sldId id="362" r:id="rId13"/>
    <p:sldId id="363" r:id="rId14"/>
    <p:sldId id="395" r:id="rId15"/>
    <p:sldId id="373" r:id="rId16"/>
    <p:sldId id="400" r:id="rId17"/>
    <p:sldId id="382" r:id="rId18"/>
    <p:sldId id="383" r:id="rId19"/>
    <p:sldId id="384" r:id="rId20"/>
    <p:sldId id="396" r:id="rId21"/>
    <p:sldId id="381" r:id="rId22"/>
    <p:sldId id="389" r:id="rId23"/>
    <p:sldId id="386" r:id="rId24"/>
    <p:sldId id="387" r:id="rId25"/>
    <p:sldId id="388" r:id="rId26"/>
    <p:sldId id="401" r:id="rId27"/>
    <p:sldId id="397" r:id="rId28"/>
    <p:sldId id="379" r:id="rId29"/>
    <p:sldId id="399" r:id="rId30"/>
    <p:sldId id="390" r:id="rId31"/>
    <p:sldId id="371" r:id="rId32"/>
    <p:sldId id="375" r:id="rId33"/>
    <p:sldId id="374" r:id="rId34"/>
    <p:sldId id="394" r:id="rId35"/>
    <p:sldId id="391" r:id="rId36"/>
    <p:sldId id="376" r:id="rId37"/>
    <p:sldId id="392" r:id="rId38"/>
    <p:sldId id="393" r:id="rId39"/>
    <p:sldId id="377" r:id="rId40"/>
    <p:sldId id="378" r:id="rId41"/>
    <p:sldId id="319" r:id="rId42"/>
    <p:sldId id="368" r:id="rId43"/>
    <p:sldId id="402" r:id="rId44"/>
    <p:sldId id="281" r:id="rId45"/>
    <p:sldId id="306" r:id="rId46"/>
    <p:sldId id="372" r:id="rId47"/>
    <p:sldId id="357" r:id="rId48"/>
    <p:sldId id="358" r:id="rId49"/>
    <p:sldId id="359" r:id="rId50"/>
    <p:sldId id="403" r:id="rId51"/>
  </p:sldIdLst>
  <p:sldSz cx="9144000" cy="5143500" type="screen16x9"/>
  <p:notesSz cx="6858000" cy="9144000"/>
  <p:custDataLst>
    <p:tags r:id="rId5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0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pos="173">
          <p15:clr>
            <a:srgbClr val="A4A3A4"/>
          </p15:clr>
        </p15:guide>
        <p15:guide id="4" pos="414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295"/>
    <a:srgbClr val="000000"/>
    <a:srgbClr val="032F46"/>
    <a:srgbClr val="06252F"/>
    <a:srgbClr val="0B3F4E"/>
    <a:srgbClr val="0A2F3B"/>
    <a:srgbClr val="155E74"/>
    <a:srgbClr val="0D143C"/>
    <a:srgbClr val="A4CE4E"/>
    <a:srgbClr val="41414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3872" autoAdjust="0"/>
  </p:normalViewPr>
  <p:slideViewPr>
    <p:cSldViewPr snapToGrid="0" snapToObjects="1" showGuides="1">
      <p:cViewPr varScale="1">
        <p:scale>
          <a:sx n="210" d="100"/>
          <a:sy n="210" d="100"/>
        </p:scale>
        <p:origin x="712" y="116"/>
      </p:cViewPr>
      <p:guideLst>
        <p:guide orient="horz" pos="169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 snapToObjects="1">
      <p:cViewPr varScale="1">
        <p:scale>
          <a:sx n="141" d="100"/>
          <a:sy n="141" d="100"/>
        </p:scale>
        <p:origin x="-4688" y="-120"/>
      </p:cViewPr>
      <p:guideLst>
        <p:guide orient="horz" pos="2880"/>
        <p:guide pos="2160"/>
        <p:guide pos="173"/>
        <p:guide pos="41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3F974-BB90-4059-9901-8147A3A63439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5FBB6-509D-433A-BC0A-FC2E7C728B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806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84200" y="849313"/>
            <a:ext cx="5689600" cy="3200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55010" y="4236396"/>
            <a:ext cx="6414557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2625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lnSpc>
        <a:spcPct val="95000"/>
      </a:lnSpc>
      <a:spcBef>
        <a:spcPts val="800"/>
      </a:spcBef>
      <a:spcAft>
        <a:spcPts val="600"/>
      </a:spcAft>
      <a:buClr>
        <a:schemeClr val="accent2"/>
      </a:buClr>
      <a:buFont typeface="Wingdings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39725" indent="-165100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57200" indent="-117475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74675" indent="-117475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39775" indent="-165100" algn="l" defTabSz="914400" rtl="0" eaLnBrk="1" latinLnBrk="0" hangingPunct="1">
      <a:lnSpc>
        <a:spcPct val="85000"/>
      </a:lnSpc>
      <a:spcBef>
        <a:spcPts val="0"/>
      </a:spcBef>
      <a:spcAft>
        <a:spcPts val="400"/>
      </a:spcAft>
      <a:buClr>
        <a:schemeClr val="tx1">
          <a:lumMod val="85000"/>
          <a:lumOff val="15000"/>
        </a:schemeClr>
      </a:buClr>
      <a:buFont typeface="HelveticaNeueLT Std" pitchFamily="34" charset="0"/>
      <a:buChar char="‐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58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7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61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94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22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50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86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04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28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6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27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78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7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0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56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4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53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1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84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11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25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35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958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58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1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694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81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11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24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782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526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47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897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36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066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158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625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45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967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4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4200" y="849313"/>
            <a:ext cx="5689600" cy="3200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50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Stock_000044596172_Large_150dpi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415" y="-1"/>
            <a:ext cx="9152830" cy="2103642"/>
          </a:xfrm>
          <a:prstGeom prst="rect">
            <a:avLst/>
          </a:prstGeom>
        </p:spPr>
      </p:pic>
      <p:sp>
        <p:nvSpPr>
          <p:cNvPr id="53" name="Rectangle 52"/>
          <p:cNvSpPr/>
          <p:nvPr userDrawn="1"/>
        </p:nvSpPr>
        <p:spPr>
          <a:xfrm>
            <a:off x="1611" y="-1"/>
            <a:ext cx="9151219" cy="1228811"/>
          </a:xfrm>
          <a:prstGeom prst="rect">
            <a:avLst/>
          </a:prstGeom>
          <a:gradFill flip="none" rotWithShape="1">
            <a:gsLst>
              <a:gs pos="0">
                <a:srgbClr val="0D143C">
                  <a:alpha val="68000"/>
                </a:srgbClr>
              </a:gs>
              <a:gs pos="100000">
                <a:srgbClr val="0D143C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grpSp>
        <p:nvGrpSpPr>
          <p:cNvPr id="58" name="Group 57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59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9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0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</p:grpSp>
      <p:grpSp>
        <p:nvGrpSpPr>
          <p:cNvPr id="101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02" name="Freeform 101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3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4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5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6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7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8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9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0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7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8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9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0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1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2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3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4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5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6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</p:grpSp>
      <p:sp>
        <p:nvSpPr>
          <p:cNvPr id="1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2742496"/>
            <a:ext cx="7653702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28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56529"/>
            <a:ext cx="7653702" cy="392669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1 Line HDS Title Slide Placeholder</a:t>
            </a:r>
          </a:p>
        </p:txBody>
      </p:sp>
      <p:sp>
        <p:nvSpPr>
          <p:cNvPr id="130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3805038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31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036019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132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13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187862" y="4313018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87378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Stock_000044596172_Large_150dpi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415" y="-1"/>
            <a:ext cx="9152830" cy="2103642"/>
          </a:xfrm>
          <a:prstGeom prst="rect">
            <a:avLst/>
          </a:prstGeom>
        </p:spPr>
      </p:pic>
      <p:sp>
        <p:nvSpPr>
          <p:cNvPr id="53" name="Rectangle 52"/>
          <p:cNvSpPr/>
          <p:nvPr userDrawn="1"/>
        </p:nvSpPr>
        <p:spPr>
          <a:xfrm>
            <a:off x="1611" y="-1"/>
            <a:ext cx="9151219" cy="1228811"/>
          </a:xfrm>
          <a:prstGeom prst="rect">
            <a:avLst/>
          </a:prstGeom>
          <a:gradFill flip="none" rotWithShape="1">
            <a:gsLst>
              <a:gs pos="0">
                <a:srgbClr val="0D143C">
                  <a:alpha val="68000"/>
                </a:srgbClr>
              </a:gs>
              <a:gs pos="100000">
                <a:srgbClr val="0D143C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grpSp>
        <p:nvGrpSpPr>
          <p:cNvPr id="58" name="Group 57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59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9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0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</p:grpSp>
      <p:grpSp>
        <p:nvGrpSpPr>
          <p:cNvPr id="101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02" name="Freeform 101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3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4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5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6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7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8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9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0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7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8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9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0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1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2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3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4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5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6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</p:grpSp>
      <p:sp>
        <p:nvSpPr>
          <p:cNvPr id="1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3170478"/>
            <a:ext cx="7653702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28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296200"/>
            <a:ext cx="7653702" cy="880980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2 Line HDS Title Slide Placeholder </a:t>
            </a:r>
            <a:br>
              <a:rPr lang="en-US" dirty="0"/>
            </a:br>
            <a:r>
              <a:rPr lang="en-US" dirty="0"/>
              <a:t>2 Line HDS Title Slide Placeholder</a:t>
            </a:r>
          </a:p>
        </p:txBody>
      </p:sp>
      <p:sp>
        <p:nvSpPr>
          <p:cNvPr id="130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4068884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31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299865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132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13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187862" y="4576864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8806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Stock_000055038830_Full_150dpi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2"/>
          <a:stretch/>
        </p:blipFill>
        <p:spPr>
          <a:xfrm>
            <a:off x="-4063" y="0"/>
            <a:ext cx="9152127" cy="2130905"/>
          </a:xfrm>
          <a:prstGeom prst="rect">
            <a:avLst/>
          </a:prstGeom>
        </p:spPr>
      </p:pic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1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2742496"/>
            <a:ext cx="6212117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26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56529"/>
            <a:ext cx="6212117" cy="392669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HDS Title Slide Placeholder</a:t>
            </a:r>
          </a:p>
        </p:txBody>
      </p:sp>
      <p:sp>
        <p:nvSpPr>
          <p:cNvPr id="12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3805038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2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036019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3817471" cy="2154914"/>
          </a:xfrm>
          <a:prstGeom prst="rect">
            <a:avLst/>
          </a:prstGeom>
          <a:gradFill flip="none" rotWithShape="1">
            <a:gsLst>
              <a:gs pos="23000">
                <a:srgbClr val="032F46">
                  <a:alpha val="8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99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00" name="Freeform 99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1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2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3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4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5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6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7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8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9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0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7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8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9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0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1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2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3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4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</p:grpSp>
      <p:sp>
        <p:nvSpPr>
          <p:cNvPr id="56" name="Rectangle 55"/>
          <p:cNvSpPr/>
          <p:nvPr userDrawn="1"/>
        </p:nvSpPr>
        <p:spPr>
          <a:xfrm flipH="1">
            <a:off x="6730999" y="0"/>
            <a:ext cx="2422143" cy="2154914"/>
          </a:xfrm>
          <a:prstGeom prst="rect">
            <a:avLst/>
          </a:prstGeom>
          <a:gradFill flip="none" rotWithShape="1">
            <a:gsLst>
              <a:gs pos="23000">
                <a:srgbClr val="032F46">
                  <a:alpha val="8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54" name="Group 53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55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9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1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2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3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7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1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2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3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57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187862" y="4313018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7346191" y="2350565"/>
            <a:ext cx="1479921" cy="875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0" name="Rectangle 59"/>
          <p:cNvSpPr/>
          <p:nvPr userDrawn="1"/>
        </p:nvSpPr>
        <p:spPr>
          <a:xfrm>
            <a:off x="7399980" y="2416158"/>
            <a:ext cx="136627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</a:t>
            </a:r>
            <a:b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</a:b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For use by Hitachi Data Systems employees and other audiences under NDA only.</a:t>
            </a:r>
            <a:endParaRPr lang="en-US" sz="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01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Stock_000055038830_Full_150dpi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2"/>
          <a:stretch/>
        </p:blipFill>
        <p:spPr>
          <a:xfrm>
            <a:off x="-4063" y="0"/>
            <a:ext cx="9152127" cy="2130905"/>
          </a:xfrm>
          <a:prstGeom prst="rect">
            <a:avLst/>
          </a:prstGeom>
        </p:spPr>
      </p:pic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sp>
        <p:nvSpPr>
          <p:cNvPr id="1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3169689"/>
            <a:ext cx="6212117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26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296200"/>
            <a:ext cx="6212117" cy="880191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2 Line HDS Title Slide Placeholder </a:t>
            </a:r>
            <a:br>
              <a:rPr lang="en-US" dirty="0"/>
            </a:br>
            <a:r>
              <a:rPr lang="en-US" dirty="0"/>
              <a:t>2 Line HDS Title Slide Placeholder</a:t>
            </a:r>
          </a:p>
        </p:txBody>
      </p:sp>
      <p:sp>
        <p:nvSpPr>
          <p:cNvPr id="12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4067246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2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298227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3817471" cy="2154914"/>
          </a:xfrm>
          <a:prstGeom prst="rect">
            <a:avLst/>
          </a:prstGeom>
          <a:gradFill flip="none" rotWithShape="1">
            <a:gsLst>
              <a:gs pos="23000">
                <a:srgbClr val="032F46">
                  <a:alpha val="8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99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00" name="Freeform 99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1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2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3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4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5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6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7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8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9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0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7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8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9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0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1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2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3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4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</p:grpSp>
      <p:sp>
        <p:nvSpPr>
          <p:cNvPr id="56" name="Rectangle 55"/>
          <p:cNvSpPr/>
          <p:nvPr userDrawn="1"/>
        </p:nvSpPr>
        <p:spPr>
          <a:xfrm flipH="1">
            <a:off x="6730999" y="0"/>
            <a:ext cx="2422143" cy="2154914"/>
          </a:xfrm>
          <a:prstGeom prst="rect">
            <a:avLst/>
          </a:prstGeom>
          <a:gradFill flip="none" rotWithShape="1">
            <a:gsLst>
              <a:gs pos="23000">
                <a:srgbClr val="032F46">
                  <a:alpha val="8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54" name="Group 53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55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9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0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1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2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3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4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5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6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7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8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89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0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1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2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3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4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5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6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7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1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2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13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</p:grpSp>
      <p:sp>
        <p:nvSpPr>
          <p:cNvPr id="57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>
              <a:solidFill>
                <a:prstClr val="white"/>
              </a:solidFill>
              <a:latin typeface="Arial"/>
            </a:endParaRP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187862" y="4575226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7346191" y="2350565"/>
            <a:ext cx="1479921" cy="875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0" name="Rectangle 59"/>
          <p:cNvSpPr/>
          <p:nvPr userDrawn="1"/>
        </p:nvSpPr>
        <p:spPr>
          <a:xfrm>
            <a:off x="7399980" y="2416158"/>
            <a:ext cx="136627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</a:t>
            </a:r>
            <a:b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</a:b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For use by Hitachi Data Systems employees and other audiences under NDA only.</a:t>
            </a:r>
            <a:endParaRPr lang="en-US" sz="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15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2154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bg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bg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52" name="グループ化 34"/>
          <p:cNvGrpSpPr/>
          <p:nvPr userDrawn="1"/>
        </p:nvGrpSpPr>
        <p:grpSpPr bwMode="gray">
          <a:xfrm>
            <a:off x="324487" y="2057426"/>
            <a:ext cx="8495663" cy="97507"/>
            <a:chOff x="324487" y="2057426"/>
            <a:chExt cx="8495663" cy="97507"/>
          </a:xfrm>
        </p:grpSpPr>
        <p:sp>
          <p:nvSpPr>
            <p:cNvPr id="53" name="正方形/長方形 11"/>
            <p:cNvSpPr>
              <a:spLocks noChangeArrowheads="1"/>
            </p:cNvSpPr>
            <p:nvPr/>
          </p:nvSpPr>
          <p:spPr bwMode="gray">
            <a:xfrm>
              <a:off x="324489" y="2057426"/>
              <a:ext cx="8495661" cy="97488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ja-JP" altLang="en-US"/>
            </a:p>
          </p:txBody>
        </p:sp>
        <p:grpSp>
          <p:nvGrpSpPr>
            <p:cNvPr id="54" name="グループ化 16"/>
            <p:cNvGrpSpPr/>
            <p:nvPr/>
          </p:nvGrpSpPr>
          <p:grpSpPr bwMode="gray">
            <a:xfrm>
              <a:off x="324487" y="2057439"/>
              <a:ext cx="1938811" cy="97494"/>
              <a:chOff x="312738" y="2747961"/>
              <a:chExt cx="1970086" cy="109543"/>
            </a:xfrm>
          </p:grpSpPr>
          <p:sp>
            <p:nvSpPr>
              <p:cNvPr id="55" name="正方形/長方形 37"/>
              <p:cNvSpPr/>
              <p:nvPr/>
            </p:nvSpPr>
            <p:spPr bwMode="gray">
              <a:xfrm>
                <a:off x="1298574" y="2747961"/>
                <a:ext cx="984250" cy="10953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正方形/長方形 38"/>
              <p:cNvSpPr/>
              <p:nvPr/>
            </p:nvSpPr>
            <p:spPr bwMode="gray">
              <a:xfrm>
                <a:off x="312738" y="2747967"/>
                <a:ext cx="985837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122" name="Group 121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chemeClr val="tx1"/>
          </a:solidFill>
        </p:grpSpPr>
        <p:sp>
          <p:nvSpPr>
            <p:cNvPr id="123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5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tx1"/>
          </a:solidFill>
        </p:grpSpPr>
        <p:sp>
          <p:nvSpPr>
            <p:cNvPr id="166" name="Freeform 165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7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8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9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0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1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2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3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4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5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6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7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8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9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0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1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2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3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4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</p:grpSp>
      <p:sp>
        <p:nvSpPr>
          <p:cNvPr id="18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2742496"/>
            <a:ext cx="5955025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86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56529"/>
            <a:ext cx="5955025" cy="392669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Title placeholder</a:t>
            </a:r>
          </a:p>
        </p:txBody>
      </p:sp>
      <p:sp>
        <p:nvSpPr>
          <p:cNvPr id="18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3805038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8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036019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191" name="Rectangle 190"/>
          <p:cNvSpPr/>
          <p:nvPr userDrawn="1"/>
        </p:nvSpPr>
        <p:spPr>
          <a:xfrm>
            <a:off x="7346191" y="2350565"/>
            <a:ext cx="1479921" cy="875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92" name="Rectangle 191"/>
          <p:cNvSpPr/>
          <p:nvPr userDrawn="1"/>
        </p:nvSpPr>
        <p:spPr>
          <a:xfrm>
            <a:off x="7399980" y="2416158"/>
            <a:ext cx="136627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</a:t>
            </a:r>
            <a:b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</a:b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For use by Hitachi Data Systems employees and other audiences under NDA only.</a:t>
            </a:r>
            <a:endParaRPr lang="en-US" sz="800" b="1" dirty="0">
              <a:solidFill>
                <a:schemeClr val="accent2"/>
              </a:solidFill>
            </a:endParaRPr>
          </a:p>
        </p:txBody>
      </p:sp>
      <p:sp>
        <p:nvSpPr>
          <p:cNvPr id="19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187862" y="4313018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5241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2154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bg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bg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52" name="グループ化 34"/>
          <p:cNvGrpSpPr/>
          <p:nvPr userDrawn="1"/>
        </p:nvGrpSpPr>
        <p:grpSpPr bwMode="gray">
          <a:xfrm>
            <a:off x="324487" y="2057426"/>
            <a:ext cx="8495663" cy="97507"/>
            <a:chOff x="324487" y="2057426"/>
            <a:chExt cx="8495663" cy="97507"/>
          </a:xfrm>
        </p:grpSpPr>
        <p:sp>
          <p:nvSpPr>
            <p:cNvPr id="53" name="正方形/長方形 11"/>
            <p:cNvSpPr>
              <a:spLocks noChangeArrowheads="1"/>
            </p:cNvSpPr>
            <p:nvPr/>
          </p:nvSpPr>
          <p:spPr bwMode="gray">
            <a:xfrm>
              <a:off x="324489" y="2057426"/>
              <a:ext cx="8495661" cy="97488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ja-JP" altLang="en-US"/>
            </a:p>
          </p:txBody>
        </p:sp>
        <p:grpSp>
          <p:nvGrpSpPr>
            <p:cNvPr id="54" name="グループ化 16"/>
            <p:cNvGrpSpPr/>
            <p:nvPr/>
          </p:nvGrpSpPr>
          <p:grpSpPr bwMode="gray">
            <a:xfrm>
              <a:off x="324487" y="2057439"/>
              <a:ext cx="1938811" cy="97494"/>
              <a:chOff x="312738" y="2747961"/>
              <a:chExt cx="1970086" cy="109543"/>
            </a:xfrm>
          </p:grpSpPr>
          <p:sp>
            <p:nvSpPr>
              <p:cNvPr id="55" name="正方形/長方形 37"/>
              <p:cNvSpPr/>
              <p:nvPr/>
            </p:nvSpPr>
            <p:spPr bwMode="gray">
              <a:xfrm>
                <a:off x="1298574" y="2747961"/>
                <a:ext cx="984250" cy="10953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正方形/長方形 38"/>
              <p:cNvSpPr/>
              <p:nvPr/>
            </p:nvSpPr>
            <p:spPr bwMode="gray">
              <a:xfrm>
                <a:off x="312738" y="2747967"/>
                <a:ext cx="985837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122" name="Group 121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chemeClr val="tx1"/>
          </a:solidFill>
        </p:grpSpPr>
        <p:sp>
          <p:nvSpPr>
            <p:cNvPr id="123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5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tx1"/>
          </a:solidFill>
        </p:grpSpPr>
        <p:sp>
          <p:nvSpPr>
            <p:cNvPr id="166" name="Freeform 165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7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8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69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0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1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2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3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4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5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6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7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8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79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0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1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2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3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84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</p:grpSp>
      <p:sp>
        <p:nvSpPr>
          <p:cNvPr id="18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87863" y="3173173"/>
            <a:ext cx="5955025" cy="646331"/>
          </a:xfrm>
          <a:prstGeom prst="rect">
            <a:avLst/>
          </a:prstGeom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charset="2"/>
              <a:buNone/>
              <a:tabLst/>
              <a:defRPr sz="1800" cap="none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placeholder</a:t>
            </a:r>
          </a:p>
          <a:p>
            <a:r>
              <a:rPr lang="en-US" dirty="0"/>
              <a:t>Subtitle placeholder</a:t>
            </a:r>
          </a:p>
        </p:txBody>
      </p:sp>
      <p:sp>
        <p:nvSpPr>
          <p:cNvPr id="186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05268"/>
            <a:ext cx="5955025" cy="87460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2 Line HDS Title Slide Placeholder </a:t>
            </a:r>
            <a:br>
              <a:rPr lang="en-US" dirty="0"/>
            </a:br>
            <a:r>
              <a:rPr lang="en-US" dirty="0"/>
              <a:t>2 Line HDS Title Slide Placeholder</a:t>
            </a:r>
          </a:p>
        </p:txBody>
      </p:sp>
      <p:sp>
        <p:nvSpPr>
          <p:cNvPr id="18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187862" y="4066737"/>
            <a:ext cx="4633158" cy="307777"/>
          </a:xfrm>
        </p:spPr>
        <p:txBody>
          <a:bodyPr anchor="t"/>
          <a:lstStyle>
            <a:lvl1pPr marL="0" indent="0">
              <a:buNone/>
              <a:defRPr sz="1400" b="1" baseline="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8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187862" y="4297718"/>
            <a:ext cx="4633158" cy="276999"/>
          </a:xfrm>
        </p:spPr>
        <p:txBody>
          <a:bodyPr anchor="t"/>
          <a:lstStyle>
            <a:lvl1pPr marL="0" indent="0">
              <a:buNone/>
              <a:defRPr sz="1200"/>
            </a:lvl1pPr>
            <a:lvl2pPr marL="280987" indent="0">
              <a:buNone/>
              <a:defRPr/>
            </a:lvl2pPr>
            <a:lvl3pPr marL="574675" indent="0">
              <a:buNone/>
              <a:defRPr/>
            </a:lvl3pPr>
            <a:lvl4pPr marL="855663" indent="0">
              <a:buNone/>
              <a:defRPr/>
            </a:lvl4pPr>
            <a:lvl5pPr marL="1090613" indent="0">
              <a:buNone/>
              <a:defRPr/>
            </a:lvl5pPr>
          </a:lstStyle>
          <a:p>
            <a:pPr lvl="0"/>
            <a:r>
              <a:rPr lang="en-US" dirty="0"/>
              <a:t>Title/Department</a:t>
            </a:r>
          </a:p>
        </p:txBody>
      </p:sp>
      <p:sp>
        <p:nvSpPr>
          <p:cNvPr id="191" name="Rectangle 190"/>
          <p:cNvSpPr/>
          <p:nvPr userDrawn="1"/>
        </p:nvSpPr>
        <p:spPr>
          <a:xfrm>
            <a:off x="7346191" y="2350565"/>
            <a:ext cx="1479921" cy="875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92" name="Rectangle 191"/>
          <p:cNvSpPr/>
          <p:nvPr userDrawn="1"/>
        </p:nvSpPr>
        <p:spPr>
          <a:xfrm>
            <a:off x="7399980" y="2416158"/>
            <a:ext cx="136627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</a:t>
            </a:r>
            <a:br>
              <a:rPr lang="en-US" sz="9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</a:b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For use by Hitachi Data Systems employees and other audiences under NDA only.</a:t>
            </a:r>
            <a:endParaRPr lang="en-US" sz="800" b="1" dirty="0">
              <a:solidFill>
                <a:schemeClr val="accent2"/>
              </a:solidFill>
            </a:endParaRPr>
          </a:p>
        </p:txBody>
      </p:sp>
      <p:sp>
        <p:nvSpPr>
          <p:cNvPr id="19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187862" y="4574717"/>
            <a:ext cx="4633158" cy="276999"/>
          </a:xfrm>
        </p:spPr>
        <p:txBody>
          <a:bodyPr/>
          <a:lstStyle>
            <a:lvl1pPr marL="0" indent="0">
              <a:buNone/>
              <a:defRPr sz="1200"/>
            </a:lvl1pPr>
            <a:lvl2pPr marL="280987" indent="0">
              <a:buNone/>
              <a:defRPr sz="1400"/>
            </a:lvl2pPr>
            <a:lvl3pPr marL="574675" indent="0">
              <a:buNone/>
              <a:defRPr sz="1400"/>
            </a:lvl3pPr>
            <a:lvl4pPr marL="855663" indent="0">
              <a:buNone/>
              <a:defRPr sz="1400"/>
            </a:lvl4pPr>
            <a:lvl5pPr marL="1090613" indent="0">
              <a:buNone/>
              <a:defRPr sz="1400"/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110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7471"/>
            <a:ext cx="9144000" cy="2154914"/>
          </a:xfrm>
          <a:prstGeom prst="rect">
            <a:avLst/>
          </a:prstGeom>
          <a:solidFill>
            <a:schemeClr val="accent4"/>
          </a:solidFill>
          <a:ln/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bg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bg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81" name="Group 80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82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11" name="Freeform 110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2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3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4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5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2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3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4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5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6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7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8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9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0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1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2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3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4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5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</p:grpSp>
      <p:sp>
        <p:nvSpPr>
          <p:cNvPr id="156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57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19174"/>
            <a:ext cx="7653702" cy="848355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28587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7471"/>
            <a:ext cx="9144000" cy="2154914"/>
          </a:xfrm>
          <a:prstGeom prst="rect">
            <a:avLst/>
          </a:prstGeom>
          <a:solidFill>
            <a:schemeClr val="accent1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bg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bg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661372" y="276622"/>
            <a:ext cx="1200300" cy="343060"/>
            <a:chOff x="7661372" y="276622"/>
            <a:chExt cx="1200300" cy="343060"/>
          </a:xfrm>
        </p:grpSpPr>
        <p:sp>
          <p:nvSpPr>
            <p:cNvPr id="82" name="Freeform 1"/>
            <p:cNvSpPr>
              <a:spLocks noChangeArrowheads="1"/>
            </p:cNvSpPr>
            <p:nvPr/>
          </p:nvSpPr>
          <p:spPr bwMode="auto">
            <a:xfrm>
              <a:off x="8543525" y="279889"/>
              <a:ext cx="173163" cy="16254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2"/>
            <p:cNvSpPr>
              <a:spLocks noChangeArrowheads="1"/>
            </p:cNvSpPr>
            <p:nvPr/>
          </p:nvSpPr>
          <p:spPr bwMode="auto">
            <a:xfrm>
              <a:off x="8004023" y="279889"/>
              <a:ext cx="174389" cy="16254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3"/>
            <p:cNvSpPr>
              <a:spLocks noChangeArrowheads="1"/>
            </p:cNvSpPr>
            <p:nvPr/>
          </p:nvSpPr>
          <p:spPr bwMode="auto">
            <a:xfrm>
              <a:off x="8140839" y="279889"/>
              <a:ext cx="205019" cy="16254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4"/>
            <p:cNvSpPr>
              <a:spLocks noChangeArrowheads="1"/>
            </p:cNvSpPr>
            <p:nvPr/>
          </p:nvSpPr>
          <p:spPr bwMode="auto">
            <a:xfrm>
              <a:off x="8750586" y="279889"/>
              <a:ext cx="42883" cy="16254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5"/>
            <p:cNvSpPr>
              <a:spLocks noChangeArrowheads="1"/>
            </p:cNvSpPr>
            <p:nvPr/>
          </p:nvSpPr>
          <p:spPr bwMode="auto">
            <a:xfrm>
              <a:off x="7738152" y="279889"/>
              <a:ext cx="173163" cy="16254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Freeform 6"/>
            <p:cNvSpPr>
              <a:spLocks noChangeArrowheads="1"/>
            </p:cNvSpPr>
            <p:nvPr/>
          </p:nvSpPr>
          <p:spPr bwMode="auto">
            <a:xfrm>
              <a:off x="7945213" y="279889"/>
              <a:ext cx="43291" cy="16254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Freeform 7"/>
            <p:cNvSpPr>
              <a:spLocks noChangeArrowheads="1"/>
            </p:cNvSpPr>
            <p:nvPr/>
          </p:nvSpPr>
          <p:spPr bwMode="auto">
            <a:xfrm>
              <a:off x="8338506" y="276622"/>
              <a:ext cx="184190" cy="170713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8"/>
            <p:cNvSpPr>
              <a:spLocks noChangeArrowheads="1"/>
            </p:cNvSpPr>
            <p:nvPr/>
          </p:nvSpPr>
          <p:spPr bwMode="auto">
            <a:xfrm>
              <a:off x="7661372" y="487767"/>
              <a:ext cx="39615" cy="102510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9"/>
            <p:cNvSpPr>
              <a:spLocks noChangeArrowheads="1"/>
            </p:cNvSpPr>
            <p:nvPr/>
          </p:nvSpPr>
          <p:spPr bwMode="auto">
            <a:xfrm>
              <a:off x="7721816" y="517581"/>
              <a:ext cx="81272" cy="72696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10"/>
            <p:cNvSpPr>
              <a:spLocks noChangeArrowheads="1"/>
            </p:cNvSpPr>
            <p:nvPr/>
          </p:nvSpPr>
          <p:spPr bwMode="auto">
            <a:xfrm>
              <a:off x="7824734" y="517989"/>
              <a:ext cx="54726" cy="74330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11"/>
            <p:cNvSpPr>
              <a:spLocks noChangeArrowheads="1"/>
            </p:cNvSpPr>
            <p:nvPr/>
          </p:nvSpPr>
          <p:spPr bwMode="auto">
            <a:xfrm>
              <a:off x="7888853" y="517581"/>
              <a:ext cx="83723" cy="102101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12"/>
            <p:cNvSpPr>
              <a:spLocks noChangeArrowheads="1"/>
            </p:cNvSpPr>
            <p:nvPr/>
          </p:nvSpPr>
          <p:spPr bwMode="auto">
            <a:xfrm>
              <a:off x="7986053" y="517581"/>
              <a:ext cx="31856" cy="72696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13"/>
            <p:cNvSpPr>
              <a:spLocks noChangeArrowheads="1"/>
            </p:cNvSpPr>
            <p:nvPr/>
          </p:nvSpPr>
          <p:spPr bwMode="auto">
            <a:xfrm>
              <a:off x="7997080" y="488176"/>
              <a:ext cx="24096" cy="21237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14"/>
            <p:cNvSpPr>
              <a:spLocks noChangeArrowheads="1"/>
            </p:cNvSpPr>
            <p:nvPr/>
          </p:nvSpPr>
          <p:spPr bwMode="auto">
            <a:xfrm>
              <a:off x="8037104" y="517989"/>
              <a:ext cx="62894" cy="722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15"/>
            <p:cNvSpPr>
              <a:spLocks noChangeArrowheads="1"/>
            </p:cNvSpPr>
            <p:nvPr/>
          </p:nvSpPr>
          <p:spPr bwMode="auto">
            <a:xfrm>
              <a:off x="8107758" y="517989"/>
              <a:ext cx="68612" cy="73921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16"/>
            <p:cNvSpPr>
              <a:spLocks noChangeArrowheads="1"/>
            </p:cNvSpPr>
            <p:nvPr/>
          </p:nvSpPr>
          <p:spPr bwMode="auto">
            <a:xfrm>
              <a:off x="8293990" y="484908"/>
              <a:ext cx="80864" cy="105368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Freeform 17"/>
            <p:cNvSpPr>
              <a:spLocks noChangeArrowheads="1"/>
            </p:cNvSpPr>
            <p:nvPr/>
          </p:nvSpPr>
          <p:spPr bwMode="auto">
            <a:xfrm>
              <a:off x="8392824" y="517989"/>
              <a:ext cx="68612" cy="73921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Freeform 18"/>
            <p:cNvSpPr>
              <a:spLocks noChangeArrowheads="1"/>
            </p:cNvSpPr>
            <p:nvPr/>
          </p:nvSpPr>
          <p:spPr bwMode="auto">
            <a:xfrm>
              <a:off x="8230688" y="497569"/>
              <a:ext cx="54726" cy="94342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19"/>
            <p:cNvSpPr>
              <a:spLocks noChangeArrowheads="1"/>
            </p:cNvSpPr>
            <p:nvPr/>
          </p:nvSpPr>
          <p:spPr bwMode="auto">
            <a:xfrm>
              <a:off x="8510036" y="488992"/>
              <a:ext cx="115987" cy="101693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Freeform 20"/>
            <p:cNvSpPr>
              <a:spLocks noChangeArrowheads="1"/>
            </p:cNvSpPr>
            <p:nvPr/>
          </p:nvSpPr>
          <p:spPr bwMode="auto">
            <a:xfrm>
              <a:off x="8644809" y="517989"/>
              <a:ext cx="68612" cy="73921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Freeform 21"/>
            <p:cNvSpPr>
              <a:spLocks noChangeArrowheads="1"/>
            </p:cNvSpPr>
            <p:nvPr/>
          </p:nvSpPr>
          <p:spPr bwMode="auto">
            <a:xfrm>
              <a:off x="8806946" y="497569"/>
              <a:ext cx="54726" cy="94342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Freeform 22"/>
            <p:cNvSpPr>
              <a:spLocks noChangeArrowheads="1"/>
            </p:cNvSpPr>
            <p:nvPr/>
          </p:nvSpPr>
          <p:spPr bwMode="auto">
            <a:xfrm>
              <a:off x="8715872" y="519623"/>
              <a:ext cx="85356" cy="70654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Freeform 23"/>
            <p:cNvSpPr>
              <a:spLocks noChangeArrowheads="1"/>
            </p:cNvSpPr>
            <p:nvPr/>
          </p:nvSpPr>
          <p:spPr bwMode="auto">
            <a:xfrm>
              <a:off x="8799595" y="468981"/>
              <a:ext cx="45333" cy="28588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11" name="Freeform 110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2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3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4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5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2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3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4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5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6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7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8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9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0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1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2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3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4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5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</p:grpSp>
      <p:sp>
        <p:nvSpPr>
          <p:cNvPr id="50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1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187863" y="2319174"/>
            <a:ext cx="7653702" cy="848355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00195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7471"/>
            <a:ext cx="9144000" cy="2154914"/>
          </a:xfrm>
          <a:prstGeom prst="rect">
            <a:avLst/>
          </a:prstGeom>
          <a:solidFill>
            <a:schemeClr val="tx1"/>
          </a:solidFill>
          <a:ln/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bg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bg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81" name="Group 80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82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11" name="Freeform 110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2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3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4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15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2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3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4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5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6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7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8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29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0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1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2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3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4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  <p:sp>
          <p:nvSpPr>
            <p:cNvPr id="135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SimSun" charset="0"/>
              </a:endParaRPr>
            </a:p>
          </p:txBody>
        </p:sp>
      </p:grpSp>
      <p:sp>
        <p:nvSpPr>
          <p:cNvPr id="50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51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19174"/>
            <a:ext cx="7653702" cy="848355"/>
          </a:xfrm>
          <a:prstGeom prst="rect">
            <a:avLst/>
          </a:prstGeom>
          <a:effectLst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101399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0" y="967575"/>
            <a:ext cx="8584006" cy="19613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264160" y="4911122"/>
            <a:ext cx="54254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CONFIDENTIAL – For use by Hitachi Data Systems employees and other audiences under NDA only.</a:t>
            </a:r>
            <a:endParaRPr lang="en-US" sz="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7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0" y="967575"/>
            <a:ext cx="8584006" cy="19613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923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148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648200" y="967579"/>
            <a:ext cx="3898900" cy="43088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0" y="967575"/>
            <a:ext cx="4130040" cy="19613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8149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Stock_000044596172_Large_150dpi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415" y="-1"/>
            <a:ext cx="9152830" cy="2103642"/>
          </a:xfrm>
          <a:prstGeom prst="rect">
            <a:avLst/>
          </a:prstGeom>
        </p:spPr>
      </p:pic>
      <p:sp>
        <p:nvSpPr>
          <p:cNvPr id="53" name="Rectangle 52"/>
          <p:cNvSpPr/>
          <p:nvPr userDrawn="1"/>
        </p:nvSpPr>
        <p:spPr>
          <a:xfrm>
            <a:off x="1611" y="-1"/>
            <a:ext cx="9151219" cy="1228811"/>
          </a:xfrm>
          <a:prstGeom prst="rect">
            <a:avLst/>
          </a:prstGeom>
          <a:gradFill flip="none" rotWithShape="1">
            <a:gsLst>
              <a:gs pos="0">
                <a:srgbClr val="0D143C">
                  <a:alpha val="68000"/>
                </a:srgbClr>
              </a:gs>
              <a:gs pos="100000">
                <a:srgbClr val="0D143C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11F478C-84AE-4601-9BE4-60468A3A6C06}" type="slidenum">
              <a:rPr lang="en-US" sz="800" smtClean="0">
                <a:solidFill>
                  <a:prstClr val="white">
                    <a:alpha val="50000"/>
                  </a:prstClr>
                </a:solidFill>
                <a:latin typeface="Arial"/>
              </a:rPr>
              <a:pPr/>
              <a:t>‹#›</a:t>
            </a:fld>
            <a:endParaRPr lang="en-US" sz="800" dirty="0">
              <a:solidFill>
                <a:prstClr val="white">
                  <a:alpha val="50000"/>
                </a:prstClr>
              </a:solidFill>
              <a:latin typeface="Arial"/>
            </a:endParaRPr>
          </a:p>
        </p:txBody>
      </p:sp>
      <p:grpSp>
        <p:nvGrpSpPr>
          <p:cNvPr id="58" name="Group 57"/>
          <p:cNvGrpSpPr/>
          <p:nvPr userDrawn="1"/>
        </p:nvGrpSpPr>
        <p:grpSpPr>
          <a:xfrm>
            <a:off x="7661372" y="276622"/>
            <a:ext cx="1200300" cy="343060"/>
            <a:chOff x="2751138" y="3262313"/>
            <a:chExt cx="4665662" cy="1333500"/>
          </a:xfrm>
          <a:solidFill>
            <a:srgbClr val="FFFFFF"/>
          </a:solidFill>
        </p:grpSpPr>
        <p:sp>
          <p:nvSpPr>
            <p:cNvPr id="59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0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1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2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3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4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5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6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7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8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69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0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1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2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3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4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5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6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7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78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8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99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  <p:sp>
          <p:nvSpPr>
            <p:cNvPr id="100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414141"/>
                </a:solidFill>
                <a:latin typeface="Arial"/>
              </a:endParaRPr>
            </a:p>
          </p:txBody>
        </p:sp>
      </p:grpSp>
      <p:grpSp>
        <p:nvGrpSpPr>
          <p:cNvPr id="101" name="Group 1"/>
          <p:cNvGrpSpPr>
            <a:grpSpLocks noChangeAspect="1"/>
          </p:cNvGrpSpPr>
          <p:nvPr userDrawn="1"/>
        </p:nvGrpSpPr>
        <p:grpSpPr bwMode="auto">
          <a:xfrm>
            <a:off x="327025" y="272385"/>
            <a:ext cx="1968264" cy="195512"/>
            <a:chOff x="1096963" y="2925763"/>
            <a:chExt cx="7367587" cy="731837"/>
          </a:xfrm>
          <a:solidFill>
            <a:schemeClr val="bg1"/>
          </a:solidFill>
        </p:grpSpPr>
        <p:sp>
          <p:nvSpPr>
            <p:cNvPr id="102" name="Freeform 101"/>
            <p:cNvSpPr>
              <a:spLocks noChangeArrowheads="1"/>
            </p:cNvSpPr>
            <p:nvPr/>
          </p:nvSpPr>
          <p:spPr bwMode="auto">
            <a:xfrm>
              <a:off x="1879600" y="3048000"/>
              <a:ext cx="379413" cy="471488"/>
            </a:xfrm>
            <a:custGeom>
              <a:avLst/>
              <a:gdLst>
                <a:gd name="T0" fmla="*/ 0 w 1056"/>
                <a:gd name="T1" fmla="*/ 1309 h 1310"/>
                <a:gd name="T2" fmla="*/ 0 w 1056"/>
                <a:gd name="T3" fmla="*/ 0 h 1310"/>
                <a:gd name="T4" fmla="*/ 274 w 1056"/>
                <a:gd name="T5" fmla="*/ 0 h 1310"/>
                <a:gd name="T6" fmla="*/ 274 w 1056"/>
                <a:gd name="T7" fmla="*/ 503 h 1310"/>
                <a:gd name="T8" fmla="*/ 782 w 1056"/>
                <a:gd name="T9" fmla="*/ 503 h 1310"/>
                <a:gd name="T10" fmla="*/ 782 w 1056"/>
                <a:gd name="T11" fmla="*/ 0 h 1310"/>
                <a:gd name="T12" fmla="*/ 1055 w 1056"/>
                <a:gd name="T13" fmla="*/ 0 h 1310"/>
                <a:gd name="T14" fmla="*/ 1055 w 1056"/>
                <a:gd name="T15" fmla="*/ 1309 h 1310"/>
                <a:gd name="T16" fmla="*/ 782 w 1056"/>
                <a:gd name="T17" fmla="*/ 1309 h 1310"/>
                <a:gd name="T18" fmla="*/ 782 w 1056"/>
                <a:gd name="T19" fmla="*/ 726 h 1310"/>
                <a:gd name="T20" fmla="*/ 274 w 1056"/>
                <a:gd name="T21" fmla="*/ 726 h 1310"/>
                <a:gd name="T22" fmla="*/ 274 w 1056"/>
                <a:gd name="T23" fmla="*/ 1309 h 1310"/>
                <a:gd name="T24" fmla="*/ 0 w 1056"/>
                <a:gd name="T25" fmla="*/ 130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6" h="1310">
                  <a:moveTo>
                    <a:pt x="0" y="1309"/>
                  </a:moveTo>
                  <a:lnTo>
                    <a:pt x="0" y="0"/>
                  </a:lnTo>
                  <a:lnTo>
                    <a:pt x="274" y="0"/>
                  </a:lnTo>
                  <a:lnTo>
                    <a:pt x="274" y="503"/>
                  </a:lnTo>
                  <a:lnTo>
                    <a:pt x="782" y="503"/>
                  </a:lnTo>
                  <a:lnTo>
                    <a:pt x="782" y="0"/>
                  </a:lnTo>
                  <a:lnTo>
                    <a:pt x="1055" y="0"/>
                  </a:lnTo>
                  <a:lnTo>
                    <a:pt x="1055" y="1309"/>
                  </a:lnTo>
                  <a:lnTo>
                    <a:pt x="782" y="1309"/>
                  </a:lnTo>
                  <a:lnTo>
                    <a:pt x="782" y="726"/>
                  </a:lnTo>
                  <a:lnTo>
                    <a:pt x="274" y="726"/>
                  </a:lnTo>
                  <a:lnTo>
                    <a:pt x="274" y="1309"/>
                  </a:lnTo>
                  <a:lnTo>
                    <a:pt x="0" y="130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3" name="Freeform 2"/>
            <p:cNvSpPr>
              <a:spLocks noChangeArrowheads="1"/>
            </p:cNvSpPr>
            <p:nvPr/>
          </p:nvSpPr>
          <p:spPr bwMode="auto">
            <a:xfrm>
              <a:off x="2347913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4" name="Freeform 3"/>
            <p:cNvSpPr>
              <a:spLocks noChangeArrowheads="1"/>
            </p:cNvSpPr>
            <p:nvPr/>
          </p:nvSpPr>
          <p:spPr bwMode="auto">
            <a:xfrm>
              <a:off x="2492375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2" y="1026"/>
                    <a:pt x="399" y="1033"/>
                  </a:cubicBezTo>
                  <a:cubicBezTo>
                    <a:pt x="406" y="1040"/>
                    <a:pt x="444" y="1049"/>
                    <a:pt x="485" y="1049"/>
                  </a:cubicBezTo>
                  <a:cubicBezTo>
                    <a:pt x="494" y="1049"/>
                    <a:pt x="502" y="1049"/>
                    <a:pt x="508" y="1049"/>
                  </a:cubicBezTo>
                  <a:cubicBezTo>
                    <a:pt x="516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6" y="1256"/>
                    <a:pt x="212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5" name="Freeform 4"/>
            <p:cNvSpPr>
              <a:spLocks noChangeArrowheads="1"/>
            </p:cNvSpPr>
            <p:nvPr/>
          </p:nvSpPr>
          <p:spPr bwMode="auto">
            <a:xfrm>
              <a:off x="2722563" y="3162300"/>
              <a:ext cx="327025" cy="368300"/>
            </a:xfrm>
            <a:custGeom>
              <a:avLst/>
              <a:gdLst>
                <a:gd name="T0" fmla="*/ 452 w 910"/>
                <a:gd name="T1" fmla="*/ 400 h 1023"/>
                <a:gd name="T2" fmla="*/ 555 w 910"/>
                <a:gd name="T3" fmla="*/ 377 h 1023"/>
                <a:gd name="T4" fmla="*/ 605 w 910"/>
                <a:gd name="T5" fmla="*/ 305 h 1023"/>
                <a:gd name="T6" fmla="*/ 561 w 910"/>
                <a:gd name="T7" fmla="*/ 224 h 1023"/>
                <a:gd name="T8" fmla="*/ 435 w 910"/>
                <a:gd name="T9" fmla="*/ 201 h 1023"/>
                <a:gd name="T10" fmla="*/ 309 w 910"/>
                <a:gd name="T11" fmla="*/ 246 h 1023"/>
                <a:gd name="T12" fmla="*/ 273 w 910"/>
                <a:gd name="T13" fmla="*/ 333 h 1023"/>
                <a:gd name="T14" fmla="*/ 30 w 910"/>
                <a:gd name="T15" fmla="*/ 333 h 1023"/>
                <a:gd name="T16" fmla="*/ 103 w 910"/>
                <a:gd name="T17" fmla="*/ 126 h 1023"/>
                <a:gd name="T18" fmla="*/ 452 w 910"/>
                <a:gd name="T19" fmla="*/ 0 h 1023"/>
                <a:gd name="T20" fmla="*/ 731 w 910"/>
                <a:gd name="T21" fmla="*/ 67 h 1023"/>
                <a:gd name="T22" fmla="*/ 856 w 910"/>
                <a:gd name="T23" fmla="*/ 305 h 1023"/>
                <a:gd name="T24" fmla="*/ 856 w 910"/>
                <a:gd name="T25" fmla="*/ 748 h 1023"/>
                <a:gd name="T26" fmla="*/ 856 w 910"/>
                <a:gd name="T27" fmla="*/ 857 h 1023"/>
                <a:gd name="T28" fmla="*/ 873 w 910"/>
                <a:gd name="T29" fmla="*/ 924 h 1023"/>
                <a:gd name="T30" fmla="*/ 909 w 910"/>
                <a:gd name="T31" fmla="*/ 955 h 1023"/>
                <a:gd name="T32" fmla="*/ 909 w 910"/>
                <a:gd name="T33" fmla="*/ 991 h 1023"/>
                <a:gd name="T34" fmla="*/ 636 w 910"/>
                <a:gd name="T35" fmla="*/ 991 h 1023"/>
                <a:gd name="T36" fmla="*/ 619 w 910"/>
                <a:gd name="T37" fmla="*/ 941 h 1023"/>
                <a:gd name="T38" fmla="*/ 614 w 910"/>
                <a:gd name="T39" fmla="*/ 880 h 1023"/>
                <a:gd name="T40" fmla="*/ 494 w 910"/>
                <a:gd name="T41" fmla="*/ 977 h 1023"/>
                <a:gd name="T42" fmla="*/ 309 w 910"/>
                <a:gd name="T43" fmla="*/ 1022 h 1023"/>
                <a:gd name="T44" fmla="*/ 89 w 910"/>
                <a:gd name="T45" fmla="*/ 947 h 1023"/>
                <a:gd name="T46" fmla="*/ 0 w 910"/>
                <a:gd name="T47" fmla="*/ 732 h 1023"/>
                <a:gd name="T48" fmla="*/ 139 w 910"/>
                <a:gd name="T49" fmla="*/ 475 h 1023"/>
                <a:gd name="T50" fmla="*/ 362 w 910"/>
                <a:gd name="T51" fmla="*/ 416 h 1023"/>
                <a:gd name="T52" fmla="*/ 452 w 910"/>
                <a:gd name="T53" fmla="*/ 400 h 1023"/>
                <a:gd name="T54" fmla="*/ 555 w 910"/>
                <a:gd name="T55" fmla="*/ 542 h 1023"/>
                <a:gd name="T56" fmla="*/ 488 w 910"/>
                <a:gd name="T57" fmla="*/ 556 h 1023"/>
                <a:gd name="T58" fmla="*/ 429 w 910"/>
                <a:gd name="T59" fmla="*/ 564 h 1023"/>
                <a:gd name="T60" fmla="*/ 309 w 910"/>
                <a:gd name="T61" fmla="*/ 601 h 1023"/>
                <a:gd name="T62" fmla="*/ 251 w 910"/>
                <a:gd name="T63" fmla="*/ 709 h 1023"/>
                <a:gd name="T64" fmla="*/ 287 w 910"/>
                <a:gd name="T65" fmla="*/ 807 h 1023"/>
                <a:gd name="T66" fmla="*/ 376 w 910"/>
                <a:gd name="T67" fmla="*/ 838 h 1023"/>
                <a:gd name="T68" fmla="*/ 533 w 910"/>
                <a:gd name="T69" fmla="*/ 793 h 1023"/>
                <a:gd name="T70" fmla="*/ 605 w 910"/>
                <a:gd name="T71" fmla="*/ 614 h 1023"/>
                <a:gd name="T72" fmla="*/ 605 w 910"/>
                <a:gd name="T73" fmla="*/ 520 h 1023"/>
                <a:gd name="T74" fmla="*/ 555 w 910"/>
                <a:gd name="T75" fmla="*/ 542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0" h="1023">
                  <a:moveTo>
                    <a:pt x="452" y="400"/>
                  </a:moveTo>
                  <a:cubicBezTo>
                    <a:pt x="494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1" y="224"/>
                  </a:cubicBezTo>
                  <a:cubicBezTo>
                    <a:pt x="533" y="207"/>
                    <a:pt x="494" y="201"/>
                    <a:pt x="435" y="201"/>
                  </a:cubicBezTo>
                  <a:cubicBezTo>
                    <a:pt x="376" y="201"/>
                    <a:pt x="332" y="215"/>
                    <a:pt x="309" y="246"/>
                  </a:cubicBezTo>
                  <a:cubicBezTo>
                    <a:pt x="295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6" y="252"/>
                    <a:pt x="58" y="179"/>
                    <a:pt x="103" y="126"/>
                  </a:cubicBezTo>
                  <a:cubicBezTo>
                    <a:pt x="170" y="40"/>
                    <a:pt x="287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2" y="112"/>
                    <a:pt x="856" y="185"/>
                    <a:pt x="856" y="305"/>
                  </a:cubicBezTo>
                  <a:lnTo>
                    <a:pt x="856" y="748"/>
                  </a:lnTo>
                  <a:lnTo>
                    <a:pt x="856" y="857"/>
                  </a:lnTo>
                  <a:cubicBezTo>
                    <a:pt x="856" y="888"/>
                    <a:pt x="865" y="919"/>
                    <a:pt x="873" y="924"/>
                  </a:cubicBezTo>
                  <a:cubicBezTo>
                    <a:pt x="879" y="941"/>
                    <a:pt x="893" y="947"/>
                    <a:pt x="909" y="955"/>
                  </a:cubicBezTo>
                  <a:lnTo>
                    <a:pt x="909" y="991"/>
                  </a:lnTo>
                  <a:lnTo>
                    <a:pt x="636" y="991"/>
                  </a:lnTo>
                  <a:cubicBezTo>
                    <a:pt x="628" y="969"/>
                    <a:pt x="619" y="956"/>
                    <a:pt x="619" y="941"/>
                  </a:cubicBezTo>
                  <a:cubicBezTo>
                    <a:pt x="619" y="926"/>
                    <a:pt x="614" y="902"/>
                    <a:pt x="614" y="880"/>
                  </a:cubicBezTo>
                  <a:cubicBezTo>
                    <a:pt x="577" y="919"/>
                    <a:pt x="538" y="947"/>
                    <a:pt x="494" y="977"/>
                  </a:cubicBezTo>
                  <a:cubicBezTo>
                    <a:pt x="443" y="1005"/>
                    <a:pt x="376" y="1022"/>
                    <a:pt x="309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39" y="475"/>
                  </a:cubicBezTo>
                  <a:cubicBezTo>
                    <a:pt x="192" y="444"/>
                    <a:pt x="265" y="422"/>
                    <a:pt x="362" y="416"/>
                  </a:cubicBezTo>
                  <a:lnTo>
                    <a:pt x="452" y="400"/>
                  </a:lnTo>
                  <a:close/>
                  <a:moveTo>
                    <a:pt x="555" y="542"/>
                  </a:moveTo>
                  <a:cubicBezTo>
                    <a:pt x="538" y="547"/>
                    <a:pt x="516" y="556"/>
                    <a:pt x="488" y="556"/>
                  </a:cubicBezTo>
                  <a:lnTo>
                    <a:pt x="429" y="564"/>
                  </a:lnTo>
                  <a:cubicBezTo>
                    <a:pt x="376" y="570"/>
                    <a:pt x="332" y="584"/>
                    <a:pt x="309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5" y="785"/>
                    <a:pt x="287" y="807"/>
                  </a:cubicBezTo>
                  <a:cubicBezTo>
                    <a:pt x="309" y="829"/>
                    <a:pt x="340" y="838"/>
                    <a:pt x="376" y="838"/>
                  </a:cubicBezTo>
                  <a:cubicBezTo>
                    <a:pt x="429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ubicBezTo>
                    <a:pt x="591" y="525"/>
                    <a:pt x="577" y="534"/>
                    <a:pt x="555" y="54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6" name="Freeform 5"/>
            <p:cNvSpPr>
              <a:spLocks noChangeArrowheads="1"/>
            </p:cNvSpPr>
            <p:nvPr/>
          </p:nvSpPr>
          <p:spPr bwMode="auto">
            <a:xfrm>
              <a:off x="3087688" y="3160713"/>
              <a:ext cx="322262" cy="369887"/>
            </a:xfrm>
            <a:custGeom>
              <a:avLst/>
              <a:gdLst>
                <a:gd name="T0" fmla="*/ 642 w 894"/>
                <a:gd name="T1" fmla="*/ 377 h 1028"/>
                <a:gd name="T2" fmla="*/ 605 w 894"/>
                <a:gd name="T3" fmla="*/ 279 h 1028"/>
                <a:gd name="T4" fmla="*/ 471 w 894"/>
                <a:gd name="T5" fmla="*/ 220 h 1028"/>
                <a:gd name="T6" fmla="*/ 296 w 894"/>
                <a:gd name="T7" fmla="*/ 346 h 1028"/>
                <a:gd name="T8" fmla="*/ 273 w 894"/>
                <a:gd name="T9" fmla="*/ 525 h 1028"/>
                <a:gd name="T10" fmla="*/ 296 w 894"/>
                <a:gd name="T11" fmla="*/ 695 h 1028"/>
                <a:gd name="T12" fmla="*/ 466 w 894"/>
                <a:gd name="T13" fmla="*/ 812 h 1028"/>
                <a:gd name="T14" fmla="*/ 591 w 894"/>
                <a:gd name="T15" fmla="*/ 767 h 1028"/>
                <a:gd name="T16" fmla="*/ 636 w 894"/>
                <a:gd name="T17" fmla="*/ 642 h 1028"/>
                <a:gd name="T18" fmla="*/ 893 w 894"/>
                <a:gd name="T19" fmla="*/ 642 h 1028"/>
                <a:gd name="T20" fmla="*/ 812 w 894"/>
                <a:gd name="T21" fmla="*/ 862 h 1028"/>
                <a:gd name="T22" fmla="*/ 457 w 894"/>
                <a:gd name="T23" fmla="*/ 1027 h 1028"/>
                <a:gd name="T24" fmla="*/ 111 w 894"/>
                <a:gd name="T25" fmla="*/ 885 h 1028"/>
                <a:gd name="T26" fmla="*/ 0 w 894"/>
                <a:gd name="T27" fmla="*/ 525 h 1028"/>
                <a:gd name="T28" fmla="*/ 117 w 894"/>
                <a:gd name="T29" fmla="*/ 139 h 1028"/>
                <a:gd name="T30" fmla="*/ 449 w 894"/>
                <a:gd name="T31" fmla="*/ 0 h 1028"/>
                <a:gd name="T32" fmla="*/ 745 w 894"/>
                <a:gd name="T33" fmla="*/ 81 h 1028"/>
                <a:gd name="T34" fmla="*/ 887 w 894"/>
                <a:gd name="T35" fmla="*/ 368 h 1028"/>
                <a:gd name="T36" fmla="*/ 642 w 894"/>
                <a:gd name="T37" fmla="*/ 368 h 1028"/>
                <a:gd name="T38" fmla="*/ 642 w 894"/>
                <a:gd name="T39" fmla="*/ 377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94" h="1028">
                  <a:moveTo>
                    <a:pt x="642" y="377"/>
                  </a:moveTo>
                  <a:cubicBezTo>
                    <a:pt x="636" y="338"/>
                    <a:pt x="628" y="310"/>
                    <a:pt x="605" y="279"/>
                  </a:cubicBezTo>
                  <a:cubicBezTo>
                    <a:pt x="575" y="243"/>
                    <a:pt x="530" y="220"/>
                    <a:pt x="471" y="220"/>
                  </a:cubicBezTo>
                  <a:cubicBezTo>
                    <a:pt x="385" y="220"/>
                    <a:pt x="332" y="265"/>
                    <a:pt x="296" y="346"/>
                  </a:cubicBezTo>
                  <a:cubicBezTo>
                    <a:pt x="279" y="391"/>
                    <a:pt x="273" y="451"/>
                    <a:pt x="273" y="525"/>
                  </a:cubicBezTo>
                  <a:cubicBezTo>
                    <a:pt x="273" y="599"/>
                    <a:pt x="279" y="650"/>
                    <a:pt x="296" y="695"/>
                  </a:cubicBezTo>
                  <a:cubicBezTo>
                    <a:pt x="323" y="776"/>
                    <a:pt x="385" y="812"/>
                    <a:pt x="466" y="812"/>
                  </a:cubicBezTo>
                  <a:cubicBezTo>
                    <a:pt x="524" y="812"/>
                    <a:pt x="569" y="798"/>
                    <a:pt x="591" y="767"/>
                  </a:cubicBezTo>
                  <a:cubicBezTo>
                    <a:pt x="614" y="737"/>
                    <a:pt x="628" y="695"/>
                    <a:pt x="636" y="642"/>
                  </a:cubicBezTo>
                  <a:lnTo>
                    <a:pt x="893" y="642"/>
                  </a:lnTo>
                  <a:cubicBezTo>
                    <a:pt x="887" y="714"/>
                    <a:pt x="856" y="790"/>
                    <a:pt x="812" y="862"/>
                  </a:cubicBezTo>
                  <a:cubicBezTo>
                    <a:pt x="731" y="974"/>
                    <a:pt x="614" y="1027"/>
                    <a:pt x="457" y="1027"/>
                  </a:cubicBezTo>
                  <a:cubicBezTo>
                    <a:pt x="301" y="1027"/>
                    <a:pt x="184" y="982"/>
                    <a:pt x="111" y="885"/>
                  </a:cubicBezTo>
                  <a:cubicBezTo>
                    <a:pt x="36" y="798"/>
                    <a:pt x="0" y="672"/>
                    <a:pt x="0" y="525"/>
                  </a:cubicBezTo>
                  <a:cubicBezTo>
                    <a:pt x="0" y="360"/>
                    <a:pt x="36" y="229"/>
                    <a:pt x="117" y="139"/>
                  </a:cubicBezTo>
                  <a:cubicBezTo>
                    <a:pt x="198" y="50"/>
                    <a:pt x="309" y="0"/>
                    <a:pt x="449" y="0"/>
                  </a:cubicBezTo>
                  <a:cubicBezTo>
                    <a:pt x="569" y="0"/>
                    <a:pt x="672" y="28"/>
                    <a:pt x="745" y="81"/>
                  </a:cubicBezTo>
                  <a:cubicBezTo>
                    <a:pt x="820" y="131"/>
                    <a:pt x="870" y="229"/>
                    <a:pt x="887" y="368"/>
                  </a:cubicBezTo>
                  <a:lnTo>
                    <a:pt x="642" y="368"/>
                  </a:lnTo>
                  <a:lnTo>
                    <a:pt x="642" y="37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7" name="Freeform 6"/>
            <p:cNvSpPr>
              <a:spLocks noChangeArrowheads="1"/>
            </p:cNvSpPr>
            <p:nvPr/>
          </p:nvSpPr>
          <p:spPr bwMode="auto">
            <a:xfrm>
              <a:off x="3475038" y="3051175"/>
              <a:ext cx="314325" cy="468313"/>
            </a:xfrm>
            <a:custGeom>
              <a:avLst/>
              <a:gdLst>
                <a:gd name="T0" fmla="*/ 695 w 874"/>
                <a:gd name="T1" fmla="*/ 340 h 1301"/>
                <a:gd name="T2" fmla="*/ 815 w 874"/>
                <a:gd name="T3" fmla="*/ 435 h 1301"/>
                <a:gd name="T4" fmla="*/ 865 w 874"/>
                <a:gd name="T5" fmla="*/ 547 h 1301"/>
                <a:gd name="T6" fmla="*/ 873 w 874"/>
                <a:gd name="T7" fmla="*/ 731 h 1301"/>
                <a:gd name="T8" fmla="*/ 873 w 874"/>
                <a:gd name="T9" fmla="*/ 1300 h 1301"/>
                <a:gd name="T10" fmla="*/ 614 w 874"/>
                <a:gd name="T11" fmla="*/ 1300 h 1301"/>
                <a:gd name="T12" fmla="*/ 614 w 874"/>
                <a:gd name="T13" fmla="*/ 709 h 1301"/>
                <a:gd name="T14" fmla="*/ 586 w 874"/>
                <a:gd name="T15" fmla="*/ 583 h 1301"/>
                <a:gd name="T16" fmla="*/ 452 w 874"/>
                <a:gd name="T17" fmla="*/ 516 h 1301"/>
                <a:gd name="T18" fmla="*/ 304 w 874"/>
                <a:gd name="T19" fmla="*/ 583 h 1301"/>
                <a:gd name="T20" fmla="*/ 251 w 874"/>
                <a:gd name="T21" fmla="*/ 776 h 1301"/>
                <a:gd name="T22" fmla="*/ 251 w 874"/>
                <a:gd name="T23" fmla="*/ 1300 h 1301"/>
                <a:gd name="T24" fmla="*/ 0 w 874"/>
                <a:gd name="T25" fmla="*/ 1300 h 1301"/>
                <a:gd name="T26" fmla="*/ 0 w 874"/>
                <a:gd name="T27" fmla="*/ 0 h 1301"/>
                <a:gd name="T28" fmla="*/ 251 w 874"/>
                <a:gd name="T29" fmla="*/ 0 h 1301"/>
                <a:gd name="T30" fmla="*/ 251 w 874"/>
                <a:gd name="T31" fmla="*/ 457 h 1301"/>
                <a:gd name="T32" fmla="*/ 377 w 874"/>
                <a:gd name="T33" fmla="*/ 340 h 1301"/>
                <a:gd name="T34" fmla="*/ 533 w 874"/>
                <a:gd name="T35" fmla="*/ 304 h 1301"/>
                <a:gd name="T36" fmla="*/ 695 w 874"/>
                <a:gd name="T37" fmla="*/ 340 h 1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4" h="1301">
                  <a:moveTo>
                    <a:pt x="695" y="340"/>
                  </a:moveTo>
                  <a:cubicBezTo>
                    <a:pt x="748" y="363"/>
                    <a:pt x="784" y="390"/>
                    <a:pt x="815" y="435"/>
                  </a:cubicBezTo>
                  <a:cubicBezTo>
                    <a:pt x="843" y="474"/>
                    <a:pt x="859" y="510"/>
                    <a:pt x="865" y="547"/>
                  </a:cubicBezTo>
                  <a:cubicBezTo>
                    <a:pt x="873" y="583"/>
                    <a:pt x="873" y="650"/>
                    <a:pt x="873" y="731"/>
                  </a:cubicBezTo>
                  <a:lnTo>
                    <a:pt x="873" y="1300"/>
                  </a:lnTo>
                  <a:lnTo>
                    <a:pt x="614" y="1300"/>
                  </a:lnTo>
                  <a:lnTo>
                    <a:pt x="614" y="709"/>
                  </a:lnTo>
                  <a:cubicBezTo>
                    <a:pt x="614" y="658"/>
                    <a:pt x="608" y="614"/>
                    <a:pt x="586" y="583"/>
                  </a:cubicBezTo>
                  <a:cubicBezTo>
                    <a:pt x="564" y="538"/>
                    <a:pt x="519" y="516"/>
                    <a:pt x="452" y="516"/>
                  </a:cubicBezTo>
                  <a:cubicBezTo>
                    <a:pt x="385" y="516"/>
                    <a:pt x="335" y="538"/>
                    <a:pt x="304" y="583"/>
                  </a:cubicBezTo>
                  <a:cubicBezTo>
                    <a:pt x="268" y="628"/>
                    <a:pt x="251" y="695"/>
                    <a:pt x="251" y="776"/>
                  </a:cubicBezTo>
                  <a:lnTo>
                    <a:pt x="251" y="1300"/>
                  </a:lnTo>
                  <a:lnTo>
                    <a:pt x="0" y="1300"/>
                  </a:lnTo>
                  <a:lnTo>
                    <a:pt x="0" y="0"/>
                  </a:lnTo>
                  <a:lnTo>
                    <a:pt x="251" y="0"/>
                  </a:lnTo>
                  <a:lnTo>
                    <a:pt x="251" y="457"/>
                  </a:lnTo>
                  <a:cubicBezTo>
                    <a:pt x="290" y="399"/>
                    <a:pt x="335" y="363"/>
                    <a:pt x="377" y="340"/>
                  </a:cubicBezTo>
                  <a:cubicBezTo>
                    <a:pt x="430" y="318"/>
                    <a:pt x="474" y="304"/>
                    <a:pt x="533" y="304"/>
                  </a:cubicBezTo>
                  <a:cubicBezTo>
                    <a:pt x="592" y="309"/>
                    <a:pt x="645" y="318"/>
                    <a:pt x="695" y="34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8" name="Freeform 7"/>
            <p:cNvSpPr>
              <a:spLocks noChangeArrowheads="1"/>
            </p:cNvSpPr>
            <p:nvPr/>
          </p:nvSpPr>
          <p:spPr bwMode="auto">
            <a:xfrm>
              <a:off x="3875088" y="3041650"/>
              <a:ext cx="92075" cy="476250"/>
            </a:xfrm>
            <a:custGeom>
              <a:avLst/>
              <a:gdLst>
                <a:gd name="T0" fmla="*/ 256 w 257"/>
                <a:gd name="T1" fmla="*/ 238 h 1324"/>
                <a:gd name="T2" fmla="*/ 0 w 257"/>
                <a:gd name="T3" fmla="*/ 238 h 1324"/>
                <a:gd name="T4" fmla="*/ 0 w 257"/>
                <a:gd name="T5" fmla="*/ 0 h 1324"/>
                <a:gd name="T6" fmla="*/ 256 w 257"/>
                <a:gd name="T7" fmla="*/ 0 h 1324"/>
                <a:gd name="T8" fmla="*/ 256 w 257"/>
                <a:gd name="T9" fmla="*/ 238 h 1324"/>
                <a:gd name="T10" fmla="*/ 0 w 257"/>
                <a:gd name="T11" fmla="*/ 355 h 1324"/>
                <a:gd name="T12" fmla="*/ 256 w 257"/>
                <a:gd name="T13" fmla="*/ 355 h 1324"/>
                <a:gd name="T14" fmla="*/ 256 w 257"/>
                <a:gd name="T15" fmla="*/ 1323 h 1324"/>
                <a:gd name="T16" fmla="*/ 0 w 257"/>
                <a:gd name="T17" fmla="*/ 1323 h 1324"/>
                <a:gd name="T18" fmla="*/ 0 w 257"/>
                <a:gd name="T19" fmla="*/ 355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7" h="1324">
                  <a:moveTo>
                    <a:pt x="256" y="238"/>
                  </a:moveTo>
                  <a:lnTo>
                    <a:pt x="0" y="238"/>
                  </a:lnTo>
                  <a:lnTo>
                    <a:pt x="0" y="0"/>
                  </a:lnTo>
                  <a:lnTo>
                    <a:pt x="256" y="0"/>
                  </a:lnTo>
                  <a:lnTo>
                    <a:pt x="256" y="238"/>
                  </a:lnTo>
                  <a:close/>
                  <a:moveTo>
                    <a:pt x="0" y="355"/>
                  </a:moveTo>
                  <a:lnTo>
                    <a:pt x="256" y="355"/>
                  </a:lnTo>
                  <a:lnTo>
                    <a:pt x="256" y="1323"/>
                  </a:lnTo>
                  <a:lnTo>
                    <a:pt x="0" y="1323"/>
                  </a:lnTo>
                  <a:lnTo>
                    <a:pt x="0" y="35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09" name="Freeform 8"/>
            <p:cNvSpPr>
              <a:spLocks noChangeArrowheads="1"/>
            </p:cNvSpPr>
            <p:nvPr/>
          </p:nvSpPr>
          <p:spPr bwMode="auto">
            <a:xfrm>
              <a:off x="4246563" y="3048000"/>
              <a:ext cx="396875" cy="471488"/>
            </a:xfrm>
            <a:custGeom>
              <a:avLst/>
              <a:gdLst>
                <a:gd name="T0" fmla="*/ 762 w 1104"/>
                <a:gd name="T1" fmla="*/ 31 h 1310"/>
                <a:gd name="T2" fmla="*/ 985 w 1104"/>
                <a:gd name="T3" fmla="*/ 193 h 1310"/>
                <a:gd name="T4" fmla="*/ 1080 w 1104"/>
                <a:gd name="T5" fmla="*/ 408 h 1310"/>
                <a:gd name="T6" fmla="*/ 1103 w 1104"/>
                <a:gd name="T7" fmla="*/ 623 h 1310"/>
                <a:gd name="T8" fmla="*/ 999 w 1104"/>
                <a:gd name="T9" fmla="*/ 1066 h 1310"/>
                <a:gd name="T10" fmla="*/ 564 w 1104"/>
                <a:gd name="T11" fmla="*/ 1309 h 1310"/>
                <a:gd name="T12" fmla="*/ 0 w 1104"/>
                <a:gd name="T13" fmla="*/ 1309 h 1310"/>
                <a:gd name="T14" fmla="*/ 0 w 1104"/>
                <a:gd name="T15" fmla="*/ 0 h 1310"/>
                <a:gd name="T16" fmla="*/ 564 w 1104"/>
                <a:gd name="T17" fmla="*/ 0 h 1310"/>
                <a:gd name="T18" fmla="*/ 762 w 1104"/>
                <a:gd name="T19" fmla="*/ 31 h 1310"/>
                <a:gd name="T20" fmla="*/ 260 w 1104"/>
                <a:gd name="T21" fmla="*/ 1089 h 1310"/>
                <a:gd name="T22" fmla="*/ 511 w 1104"/>
                <a:gd name="T23" fmla="*/ 1089 h 1310"/>
                <a:gd name="T24" fmla="*/ 784 w 1104"/>
                <a:gd name="T25" fmla="*/ 896 h 1310"/>
                <a:gd name="T26" fmla="*/ 829 w 1104"/>
                <a:gd name="T27" fmla="*/ 645 h 1310"/>
                <a:gd name="T28" fmla="*/ 770 w 1104"/>
                <a:gd name="T29" fmla="*/ 335 h 1310"/>
                <a:gd name="T30" fmla="*/ 519 w 1104"/>
                <a:gd name="T31" fmla="*/ 232 h 1310"/>
                <a:gd name="T32" fmla="*/ 260 w 1104"/>
                <a:gd name="T33" fmla="*/ 232 h 1310"/>
                <a:gd name="T34" fmla="*/ 260 w 1104"/>
                <a:gd name="T35" fmla="*/ 1089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4" h="1310">
                  <a:moveTo>
                    <a:pt x="762" y="31"/>
                  </a:moveTo>
                  <a:cubicBezTo>
                    <a:pt x="851" y="62"/>
                    <a:pt x="924" y="120"/>
                    <a:pt x="985" y="193"/>
                  </a:cubicBezTo>
                  <a:cubicBezTo>
                    <a:pt x="1027" y="260"/>
                    <a:pt x="1058" y="327"/>
                    <a:pt x="1080" y="408"/>
                  </a:cubicBezTo>
                  <a:cubicBezTo>
                    <a:pt x="1094" y="483"/>
                    <a:pt x="1103" y="556"/>
                    <a:pt x="1103" y="623"/>
                  </a:cubicBezTo>
                  <a:cubicBezTo>
                    <a:pt x="1103" y="799"/>
                    <a:pt x="1066" y="941"/>
                    <a:pt x="999" y="1066"/>
                  </a:cubicBezTo>
                  <a:cubicBezTo>
                    <a:pt x="902" y="1228"/>
                    <a:pt x="754" y="1309"/>
                    <a:pt x="564" y="1309"/>
                  </a:cubicBezTo>
                  <a:lnTo>
                    <a:pt x="0" y="1309"/>
                  </a:lnTo>
                  <a:lnTo>
                    <a:pt x="0" y="0"/>
                  </a:lnTo>
                  <a:lnTo>
                    <a:pt x="564" y="0"/>
                  </a:lnTo>
                  <a:cubicBezTo>
                    <a:pt x="637" y="0"/>
                    <a:pt x="712" y="9"/>
                    <a:pt x="762" y="31"/>
                  </a:cubicBezTo>
                  <a:close/>
                  <a:moveTo>
                    <a:pt x="260" y="1089"/>
                  </a:moveTo>
                  <a:lnTo>
                    <a:pt x="511" y="1089"/>
                  </a:lnTo>
                  <a:cubicBezTo>
                    <a:pt x="637" y="1089"/>
                    <a:pt x="731" y="1022"/>
                    <a:pt x="784" y="896"/>
                  </a:cubicBezTo>
                  <a:cubicBezTo>
                    <a:pt x="815" y="829"/>
                    <a:pt x="829" y="740"/>
                    <a:pt x="829" y="645"/>
                  </a:cubicBezTo>
                  <a:cubicBezTo>
                    <a:pt x="829" y="511"/>
                    <a:pt x="807" y="408"/>
                    <a:pt x="770" y="335"/>
                  </a:cubicBezTo>
                  <a:cubicBezTo>
                    <a:pt x="726" y="260"/>
                    <a:pt x="645" y="232"/>
                    <a:pt x="519" y="232"/>
                  </a:cubicBezTo>
                  <a:lnTo>
                    <a:pt x="260" y="232"/>
                  </a:lnTo>
                  <a:lnTo>
                    <a:pt x="260" y="1089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0" name="Freeform 9"/>
            <p:cNvSpPr>
              <a:spLocks noChangeArrowheads="1"/>
            </p:cNvSpPr>
            <p:nvPr/>
          </p:nvSpPr>
          <p:spPr bwMode="auto">
            <a:xfrm>
              <a:off x="4686300" y="3162300"/>
              <a:ext cx="328613" cy="368300"/>
            </a:xfrm>
            <a:custGeom>
              <a:avLst/>
              <a:gdLst>
                <a:gd name="T0" fmla="*/ 452 w 911"/>
                <a:gd name="T1" fmla="*/ 400 h 1023"/>
                <a:gd name="T2" fmla="*/ 555 w 911"/>
                <a:gd name="T3" fmla="*/ 377 h 1023"/>
                <a:gd name="T4" fmla="*/ 605 w 911"/>
                <a:gd name="T5" fmla="*/ 305 h 1023"/>
                <a:gd name="T6" fmla="*/ 564 w 911"/>
                <a:gd name="T7" fmla="*/ 224 h 1023"/>
                <a:gd name="T8" fmla="*/ 435 w 911"/>
                <a:gd name="T9" fmla="*/ 201 h 1023"/>
                <a:gd name="T10" fmla="*/ 310 w 911"/>
                <a:gd name="T11" fmla="*/ 246 h 1023"/>
                <a:gd name="T12" fmla="*/ 273 w 911"/>
                <a:gd name="T13" fmla="*/ 333 h 1023"/>
                <a:gd name="T14" fmla="*/ 30 w 911"/>
                <a:gd name="T15" fmla="*/ 333 h 1023"/>
                <a:gd name="T16" fmla="*/ 103 w 911"/>
                <a:gd name="T17" fmla="*/ 126 h 1023"/>
                <a:gd name="T18" fmla="*/ 452 w 911"/>
                <a:gd name="T19" fmla="*/ 0 h 1023"/>
                <a:gd name="T20" fmla="*/ 731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3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6 w 911"/>
                <a:gd name="T35" fmla="*/ 991 h 1023"/>
                <a:gd name="T36" fmla="*/ 622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89 w 911"/>
                <a:gd name="T45" fmla="*/ 947 h 1023"/>
                <a:gd name="T46" fmla="*/ 0 w 911"/>
                <a:gd name="T47" fmla="*/ 732 h 1023"/>
                <a:gd name="T48" fmla="*/ 142 w 911"/>
                <a:gd name="T49" fmla="*/ 475 h 1023"/>
                <a:gd name="T50" fmla="*/ 363 w 911"/>
                <a:gd name="T51" fmla="*/ 416 h 1023"/>
                <a:gd name="T52" fmla="*/ 452 w 911"/>
                <a:gd name="T53" fmla="*/ 400 h 1023"/>
                <a:gd name="T54" fmla="*/ 605 w 911"/>
                <a:gd name="T55" fmla="*/ 520 h 1023"/>
                <a:gd name="T56" fmla="*/ 555 w 911"/>
                <a:gd name="T57" fmla="*/ 542 h 1023"/>
                <a:gd name="T58" fmla="*/ 488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1 w 911"/>
                <a:gd name="T65" fmla="*/ 709 h 1023"/>
                <a:gd name="T66" fmla="*/ 290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5 w 911"/>
                <a:gd name="T73" fmla="*/ 614 h 1023"/>
                <a:gd name="T74" fmla="*/ 605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2" y="400"/>
                  </a:moveTo>
                  <a:cubicBezTo>
                    <a:pt x="497" y="394"/>
                    <a:pt x="533" y="386"/>
                    <a:pt x="555" y="377"/>
                  </a:cubicBezTo>
                  <a:cubicBezTo>
                    <a:pt x="591" y="363"/>
                    <a:pt x="605" y="341"/>
                    <a:pt x="605" y="305"/>
                  </a:cubicBezTo>
                  <a:cubicBezTo>
                    <a:pt x="605" y="268"/>
                    <a:pt x="591" y="238"/>
                    <a:pt x="564" y="224"/>
                  </a:cubicBezTo>
                  <a:cubicBezTo>
                    <a:pt x="533" y="207"/>
                    <a:pt x="495" y="201"/>
                    <a:pt x="435" y="201"/>
                  </a:cubicBezTo>
                  <a:cubicBezTo>
                    <a:pt x="375" y="201"/>
                    <a:pt x="332" y="215"/>
                    <a:pt x="310" y="246"/>
                  </a:cubicBezTo>
                  <a:cubicBezTo>
                    <a:pt x="296" y="268"/>
                    <a:pt x="282" y="296"/>
                    <a:pt x="273" y="333"/>
                  </a:cubicBezTo>
                  <a:lnTo>
                    <a:pt x="30" y="333"/>
                  </a:lnTo>
                  <a:cubicBezTo>
                    <a:pt x="39" y="252"/>
                    <a:pt x="58" y="179"/>
                    <a:pt x="103" y="126"/>
                  </a:cubicBezTo>
                  <a:cubicBezTo>
                    <a:pt x="170" y="40"/>
                    <a:pt x="290" y="0"/>
                    <a:pt x="452" y="0"/>
                  </a:cubicBezTo>
                  <a:cubicBezTo>
                    <a:pt x="555" y="0"/>
                    <a:pt x="650" y="23"/>
                    <a:pt x="731" y="67"/>
                  </a:cubicBezTo>
                  <a:cubicBezTo>
                    <a:pt x="815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5" y="919"/>
                    <a:pt x="873" y="924"/>
                  </a:cubicBezTo>
                  <a:cubicBezTo>
                    <a:pt x="879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6" y="991"/>
                  </a:lnTo>
                  <a:cubicBezTo>
                    <a:pt x="628" y="969"/>
                    <a:pt x="622" y="956"/>
                    <a:pt x="622" y="941"/>
                  </a:cubicBezTo>
                  <a:cubicBezTo>
                    <a:pt x="622" y="926"/>
                    <a:pt x="614" y="902"/>
                    <a:pt x="614" y="880"/>
                  </a:cubicBezTo>
                  <a:cubicBezTo>
                    <a:pt x="577" y="919"/>
                    <a:pt x="541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3" y="1022"/>
                    <a:pt x="148" y="998"/>
                    <a:pt x="89" y="947"/>
                  </a:cubicBezTo>
                  <a:cubicBezTo>
                    <a:pt x="30" y="895"/>
                    <a:pt x="0" y="829"/>
                    <a:pt x="0" y="732"/>
                  </a:cubicBezTo>
                  <a:cubicBezTo>
                    <a:pt x="0" y="614"/>
                    <a:pt x="44" y="525"/>
                    <a:pt x="142" y="475"/>
                  </a:cubicBezTo>
                  <a:cubicBezTo>
                    <a:pt x="192" y="444"/>
                    <a:pt x="268" y="422"/>
                    <a:pt x="363" y="416"/>
                  </a:cubicBezTo>
                  <a:lnTo>
                    <a:pt x="452" y="400"/>
                  </a:lnTo>
                  <a:close/>
                  <a:moveTo>
                    <a:pt x="605" y="520"/>
                  </a:moveTo>
                  <a:cubicBezTo>
                    <a:pt x="591" y="525"/>
                    <a:pt x="577" y="534"/>
                    <a:pt x="555" y="542"/>
                  </a:cubicBezTo>
                  <a:cubicBezTo>
                    <a:pt x="541" y="547"/>
                    <a:pt x="519" y="556"/>
                    <a:pt x="488" y="556"/>
                  </a:cubicBezTo>
                  <a:lnTo>
                    <a:pt x="430" y="564"/>
                  </a:lnTo>
                  <a:cubicBezTo>
                    <a:pt x="377" y="570"/>
                    <a:pt x="332" y="584"/>
                    <a:pt x="310" y="601"/>
                  </a:cubicBezTo>
                  <a:cubicBezTo>
                    <a:pt x="273" y="623"/>
                    <a:pt x="251" y="659"/>
                    <a:pt x="251" y="709"/>
                  </a:cubicBezTo>
                  <a:cubicBezTo>
                    <a:pt x="251" y="754"/>
                    <a:pt x="269" y="785"/>
                    <a:pt x="290" y="807"/>
                  </a:cubicBezTo>
                  <a:cubicBezTo>
                    <a:pt x="311" y="829"/>
                    <a:pt x="340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7" y="762"/>
                    <a:pt x="605" y="704"/>
                    <a:pt x="605" y="614"/>
                  </a:cubicBezTo>
                  <a:lnTo>
                    <a:pt x="605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7" name="Freeform 10"/>
            <p:cNvSpPr>
              <a:spLocks noChangeArrowheads="1"/>
            </p:cNvSpPr>
            <p:nvPr/>
          </p:nvSpPr>
          <p:spPr bwMode="auto">
            <a:xfrm>
              <a:off x="5037138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8 w 539"/>
                <a:gd name="T23" fmla="*/ 1049 h 1257"/>
                <a:gd name="T24" fmla="*/ 510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70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3" y="1049"/>
                    <a:pt x="488" y="1049"/>
                  </a:cubicBezTo>
                  <a:cubicBezTo>
                    <a:pt x="494" y="1049"/>
                    <a:pt x="503" y="1049"/>
                    <a:pt x="510" y="1049"/>
                  </a:cubicBezTo>
                  <a:cubicBezTo>
                    <a:pt x="517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5" y="1256"/>
                    <a:pt x="214" y="1234"/>
                    <a:pt x="170" y="1189"/>
                  </a:cubicBezTo>
                  <a:cubicBezTo>
                    <a:pt x="139" y="1158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8" name="Freeform 11"/>
            <p:cNvSpPr>
              <a:spLocks noChangeArrowheads="1"/>
            </p:cNvSpPr>
            <p:nvPr/>
          </p:nvSpPr>
          <p:spPr bwMode="auto">
            <a:xfrm>
              <a:off x="5268913" y="3162300"/>
              <a:ext cx="328612" cy="368300"/>
            </a:xfrm>
            <a:custGeom>
              <a:avLst/>
              <a:gdLst>
                <a:gd name="T0" fmla="*/ 453 w 911"/>
                <a:gd name="T1" fmla="*/ 400 h 1023"/>
                <a:gd name="T2" fmla="*/ 556 w 911"/>
                <a:gd name="T3" fmla="*/ 377 h 1023"/>
                <a:gd name="T4" fmla="*/ 606 w 911"/>
                <a:gd name="T5" fmla="*/ 305 h 1023"/>
                <a:gd name="T6" fmla="*/ 561 w 911"/>
                <a:gd name="T7" fmla="*/ 224 h 1023"/>
                <a:gd name="T8" fmla="*/ 436 w 911"/>
                <a:gd name="T9" fmla="*/ 201 h 1023"/>
                <a:gd name="T10" fmla="*/ 310 w 911"/>
                <a:gd name="T11" fmla="*/ 246 h 1023"/>
                <a:gd name="T12" fmla="*/ 274 w 911"/>
                <a:gd name="T13" fmla="*/ 333 h 1023"/>
                <a:gd name="T14" fmla="*/ 31 w 911"/>
                <a:gd name="T15" fmla="*/ 333 h 1023"/>
                <a:gd name="T16" fmla="*/ 104 w 911"/>
                <a:gd name="T17" fmla="*/ 126 h 1023"/>
                <a:gd name="T18" fmla="*/ 453 w 911"/>
                <a:gd name="T19" fmla="*/ 0 h 1023"/>
                <a:gd name="T20" fmla="*/ 732 w 911"/>
                <a:gd name="T21" fmla="*/ 67 h 1023"/>
                <a:gd name="T22" fmla="*/ 857 w 911"/>
                <a:gd name="T23" fmla="*/ 305 h 1023"/>
                <a:gd name="T24" fmla="*/ 857 w 911"/>
                <a:gd name="T25" fmla="*/ 748 h 1023"/>
                <a:gd name="T26" fmla="*/ 857 w 911"/>
                <a:gd name="T27" fmla="*/ 857 h 1023"/>
                <a:gd name="T28" fmla="*/ 874 w 911"/>
                <a:gd name="T29" fmla="*/ 924 h 1023"/>
                <a:gd name="T30" fmla="*/ 910 w 911"/>
                <a:gd name="T31" fmla="*/ 955 h 1023"/>
                <a:gd name="T32" fmla="*/ 910 w 911"/>
                <a:gd name="T33" fmla="*/ 991 h 1023"/>
                <a:gd name="T34" fmla="*/ 637 w 911"/>
                <a:gd name="T35" fmla="*/ 991 h 1023"/>
                <a:gd name="T36" fmla="*/ 623 w 911"/>
                <a:gd name="T37" fmla="*/ 941 h 1023"/>
                <a:gd name="T38" fmla="*/ 614 w 911"/>
                <a:gd name="T39" fmla="*/ 880 h 1023"/>
                <a:gd name="T40" fmla="*/ 497 w 911"/>
                <a:gd name="T41" fmla="*/ 977 h 1023"/>
                <a:gd name="T42" fmla="*/ 310 w 911"/>
                <a:gd name="T43" fmla="*/ 1022 h 1023"/>
                <a:gd name="T44" fmla="*/ 90 w 911"/>
                <a:gd name="T45" fmla="*/ 947 h 1023"/>
                <a:gd name="T46" fmla="*/ 0 w 911"/>
                <a:gd name="T47" fmla="*/ 732 h 1023"/>
                <a:gd name="T48" fmla="*/ 140 w 911"/>
                <a:gd name="T49" fmla="*/ 475 h 1023"/>
                <a:gd name="T50" fmla="*/ 363 w 911"/>
                <a:gd name="T51" fmla="*/ 416 h 1023"/>
                <a:gd name="T52" fmla="*/ 453 w 911"/>
                <a:gd name="T53" fmla="*/ 400 h 1023"/>
                <a:gd name="T54" fmla="*/ 606 w 911"/>
                <a:gd name="T55" fmla="*/ 520 h 1023"/>
                <a:gd name="T56" fmla="*/ 556 w 911"/>
                <a:gd name="T57" fmla="*/ 542 h 1023"/>
                <a:gd name="T58" fmla="*/ 489 w 911"/>
                <a:gd name="T59" fmla="*/ 556 h 1023"/>
                <a:gd name="T60" fmla="*/ 430 w 911"/>
                <a:gd name="T61" fmla="*/ 564 h 1023"/>
                <a:gd name="T62" fmla="*/ 310 w 911"/>
                <a:gd name="T63" fmla="*/ 601 h 1023"/>
                <a:gd name="T64" fmla="*/ 252 w 911"/>
                <a:gd name="T65" fmla="*/ 709 h 1023"/>
                <a:gd name="T66" fmla="*/ 288 w 911"/>
                <a:gd name="T67" fmla="*/ 807 h 1023"/>
                <a:gd name="T68" fmla="*/ 377 w 911"/>
                <a:gd name="T69" fmla="*/ 838 h 1023"/>
                <a:gd name="T70" fmla="*/ 533 w 911"/>
                <a:gd name="T71" fmla="*/ 793 h 1023"/>
                <a:gd name="T72" fmla="*/ 606 w 911"/>
                <a:gd name="T73" fmla="*/ 614 h 1023"/>
                <a:gd name="T74" fmla="*/ 606 w 911"/>
                <a:gd name="T75" fmla="*/ 520 h 1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11" h="1023">
                  <a:moveTo>
                    <a:pt x="453" y="400"/>
                  </a:moveTo>
                  <a:cubicBezTo>
                    <a:pt x="497" y="394"/>
                    <a:pt x="533" y="386"/>
                    <a:pt x="556" y="377"/>
                  </a:cubicBezTo>
                  <a:cubicBezTo>
                    <a:pt x="592" y="363"/>
                    <a:pt x="606" y="341"/>
                    <a:pt x="606" y="305"/>
                  </a:cubicBezTo>
                  <a:cubicBezTo>
                    <a:pt x="606" y="268"/>
                    <a:pt x="592" y="238"/>
                    <a:pt x="561" y="224"/>
                  </a:cubicBezTo>
                  <a:cubicBezTo>
                    <a:pt x="533" y="207"/>
                    <a:pt x="496" y="201"/>
                    <a:pt x="436" y="201"/>
                  </a:cubicBezTo>
                  <a:cubicBezTo>
                    <a:pt x="376" y="201"/>
                    <a:pt x="333" y="215"/>
                    <a:pt x="310" y="246"/>
                  </a:cubicBezTo>
                  <a:cubicBezTo>
                    <a:pt x="296" y="268"/>
                    <a:pt x="282" y="296"/>
                    <a:pt x="274" y="333"/>
                  </a:cubicBezTo>
                  <a:lnTo>
                    <a:pt x="31" y="333"/>
                  </a:lnTo>
                  <a:cubicBezTo>
                    <a:pt x="37" y="252"/>
                    <a:pt x="59" y="179"/>
                    <a:pt x="104" y="126"/>
                  </a:cubicBezTo>
                  <a:cubicBezTo>
                    <a:pt x="171" y="40"/>
                    <a:pt x="288" y="0"/>
                    <a:pt x="453" y="0"/>
                  </a:cubicBezTo>
                  <a:cubicBezTo>
                    <a:pt x="556" y="0"/>
                    <a:pt x="651" y="23"/>
                    <a:pt x="732" y="67"/>
                  </a:cubicBezTo>
                  <a:cubicBezTo>
                    <a:pt x="813" y="112"/>
                    <a:pt x="857" y="185"/>
                    <a:pt x="857" y="305"/>
                  </a:cubicBezTo>
                  <a:lnTo>
                    <a:pt x="857" y="748"/>
                  </a:lnTo>
                  <a:cubicBezTo>
                    <a:pt x="857" y="776"/>
                    <a:pt x="857" y="815"/>
                    <a:pt x="857" y="857"/>
                  </a:cubicBezTo>
                  <a:cubicBezTo>
                    <a:pt x="857" y="888"/>
                    <a:pt x="866" y="919"/>
                    <a:pt x="874" y="924"/>
                  </a:cubicBezTo>
                  <a:cubicBezTo>
                    <a:pt x="880" y="941"/>
                    <a:pt x="896" y="947"/>
                    <a:pt x="910" y="955"/>
                  </a:cubicBezTo>
                  <a:lnTo>
                    <a:pt x="910" y="991"/>
                  </a:lnTo>
                  <a:lnTo>
                    <a:pt x="637" y="991"/>
                  </a:lnTo>
                  <a:cubicBezTo>
                    <a:pt x="628" y="969"/>
                    <a:pt x="623" y="956"/>
                    <a:pt x="623" y="941"/>
                  </a:cubicBezTo>
                  <a:cubicBezTo>
                    <a:pt x="623" y="926"/>
                    <a:pt x="614" y="902"/>
                    <a:pt x="614" y="880"/>
                  </a:cubicBezTo>
                  <a:cubicBezTo>
                    <a:pt x="578" y="919"/>
                    <a:pt x="539" y="947"/>
                    <a:pt x="497" y="977"/>
                  </a:cubicBezTo>
                  <a:cubicBezTo>
                    <a:pt x="444" y="1005"/>
                    <a:pt x="377" y="1022"/>
                    <a:pt x="310" y="1022"/>
                  </a:cubicBezTo>
                  <a:cubicBezTo>
                    <a:pt x="224" y="1022"/>
                    <a:pt x="148" y="998"/>
                    <a:pt x="90" y="947"/>
                  </a:cubicBezTo>
                  <a:cubicBezTo>
                    <a:pt x="31" y="895"/>
                    <a:pt x="0" y="829"/>
                    <a:pt x="0" y="732"/>
                  </a:cubicBezTo>
                  <a:cubicBezTo>
                    <a:pt x="0" y="614"/>
                    <a:pt x="45" y="525"/>
                    <a:pt x="140" y="475"/>
                  </a:cubicBezTo>
                  <a:cubicBezTo>
                    <a:pt x="193" y="444"/>
                    <a:pt x="266" y="422"/>
                    <a:pt x="363" y="416"/>
                  </a:cubicBezTo>
                  <a:lnTo>
                    <a:pt x="453" y="400"/>
                  </a:lnTo>
                  <a:close/>
                  <a:moveTo>
                    <a:pt x="606" y="520"/>
                  </a:moveTo>
                  <a:cubicBezTo>
                    <a:pt x="592" y="525"/>
                    <a:pt x="578" y="534"/>
                    <a:pt x="556" y="542"/>
                  </a:cubicBezTo>
                  <a:cubicBezTo>
                    <a:pt x="539" y="547"/>
                    <a:pt x="520" y="556"/>
                    <a:pt x="489" y="556"/>
                  </a:cubicBezTo>
                  <a:lnTo>
                    <a:pt x="430" y="564"/>
                  </a:lnTo>
                  <a:cubicBezTo>
                    <a:pt x="377" y="570"/>
                    <a:pt x="333" y="584"/>
                    <a:pt x="310" y="601"/>
                  </a:cubicBezTo>
                  <a:cubicBezTo>
                    <a:pt x="274" y="623"/>
                    <a:pt x="252" y="659"/>
                    <a:pt x="252" y="709"/>
                  </a:cubicBezTo>
                  <a:cubicBezTo>
                    <a:pt x="252" y="754"/>
                    <a:pt x="266" y="785"/>
                    <a:pt x="288" y="807"/>
                  </a:cubicBezTo>
                  <a:cubicBezTo>
                    <a:pt x="310" y="829"/>
                    <a:pt x="341" y="838"/>
                    <a:pt x="377" y="838"/>
                  </a:cubicBezTo>
                  <a:cubicBezTo>
                    <a:pt x="430" y="838"/>
                    <a:pt x="480" y="821"/>
                    <a:pt x="533" y="793"/>
                  </a:cubicBezTo>
                  <a:cubicBezTo>
                    <a:pt x="578" y="762"/>
                    <a:pt x="606" y="704"/>
                    <a:pt x="606" y="614"/>
                  </a:cubicBezTo>
                  <a:lnTo>
                    <a:pt x="606" y="52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19" name="Freeform 12"/>
            <p:cNvSpPr>
              <a:spLocks noChangeArrowheads="1"/>
            </p:cNvSpPr>
            <p:nvPr/>
          </p:nvSpPr>
          <p:spPr bwMode="auto">
            <a:xfrm>
              <a:off x="5826125" y="3028950"/>
              <a:ext cx="390525" cy="495300"/>
            </a:xfrm>
            <a:custGeom>
              <a:avLst/>
              <a:gdLst>
                <a:gd name="T0" fmla="*/ 251 w 1086"/>
                <a:gd name="T1" fmla="*/ 952 h 1374"/>
                <a:gd name="T2" fmla="*/ 301 w 1086"/>
                <a:gd name="T3" fmla="*/ 1086 h 1374"/>
                <a:gd name="T4" fmla="*/ 538 w 1086"/>
                <a:gd name="T5" fmla="*/ 1167 h 1374"/>
                <a:gd name="T6" fmla="*/ 700 w 1086"/>
                <a:gd name="T7" fmla="*/ 1144 h 1374"/>
                <a:gd name="T8" fmla="*/ 820 w 1086"/>
                <a:gd name="T9" fmla="*/ 991 h 1374"/>
                <a:gd name="T10" fmla="*/ 759 w 1086"/>
                <a:gd name="T11" fmla="*/ 888 h 1374"/>
                <a:gd name="T12" fmla="*/ 574 w 1086"/>
                <a:gd name="T13" fmla="*/ 826 h 1374"/>
                <a:gd name="T14" fmla="*/ 435 w 1086"/>
                <a:gd name="T15" fmla="*/ 798 h 1374"/>
                <a:gd name="T16" fmla="*/ 147 w 1086"/>
                <a:gd name="T17" fmla="*/ 695 h 1374"/>
                <a:gd name="T18" fmla="*/ 13 w 1086"/>
                <a:gd name="T19" fmla="*/ 413 h 1374"/>
                <a:gd name="T20" fmla="*/ 147 w 1086"/>
                <a:gd name="T21" fmla="*/ 117 h 1374"/>
                <a:gd name="T22" fmla="*/ 524 w 1086"/>
                <a:gd name="T23" fmla="*/ 0 h 1374"/>
                <a:gd name="T24" fmla="*/ 879 w 1086"/>
                <a:gd name="T25" fmla="*/ 112 h 1374"/>
                <a:gd name="T26" fmla="*/ 1032 w 1086"/>
                <a:gd name="T27" fmla="*/ 427 h 1374"/>
                <a:gd name="T28" fmla="*/ 767 w 1086"/>
                <a:gd name="T29" fmla="*/ 427 h 1374"/>
                <a:gd name="T30" fmla="*/ 664 w 1086"/>
                <a:gd name="T31" fmla="*/ 260 h 1374"/>
                <a:gd name="T32" fmla="*/ 502 w 1086"/>
                <a:gd name="T33" fmla="*/ 229 h 1374"/>
                <a:gd name="T34" fmla="*/ 332 w 1086"/>
                <a:gd name="T35" fmla="*/ 274 h 1374"/>
                <a:gd name="T36" fmla="*/ 265 w 1086"/>
                <a:gd name="T37" fmla="*/ 391 h 1374"/>
                <a:gd name="T38" fmla="*/ 332 w 1086"/>
                <a:gd name="T39" fmla="*/ 494 h 1374"/>
                <a:gd name="T40" fmla="*/ 507 w 1086"/>
                <a:gd name="T41" fmla="*/ 547 h 1374"/>
                <a:gd name="T42" fmla="*/ 736 w 1086"/>
                <a:gd name="T43" fmla="*/ 597 h 1374"/>
                <a:gd name="T44" fmla="*/ 965 w 1086"/>
                <a:gd name="T45" fmla="*/ 695 h 1374"/>
                <a:gd name="T46" fmla="*/ 1085 w 1086"/>
                <a:gd name="T47" fmla="*/ 960 h 1374"/>
                <a:gd name="T48" fmla="*/ 946 w 1086"/>
                <a:gd name="T49" fmla="*/ 1256 h 1374"/>
                <a:gd name="T50" fmla="*/ 552 w 1086"/>
                <a:gd name="T51" fmla="*/ 1373 h 1374"/>
                <a:gd name="T52" fmla="*/ 147 w 1086"/>
                <a:gd name="T53" fmla="*/ 1256 h 1374"/>
                <a:gd name="T54" fmla="*/ 0 w 1086"/>
                <a:gd name="T55" fmla="*/ 938 h 1374"/>
                <a:gd name="T56" fmla="*/ 251 w 1086"/>
                <a:gd name="T57" fmla="*/ 938 h 1374"/>
                <a:gd name="T58" fmla="*/ 251 w 1086"/>
                <a:gd name="T59" fmla="*/ 952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6" h="1374">
                  <a:moveTo>
                    <a:pt x="251" y="952"/>
                  </a:moveTo>
                  <a:cubicBezTo>
                    <a:pt x="256" y="1013"/>
                    <a:pt x="273" y="1058"/>
                    <a:pt x="301" y="1086"/>
                  </a:cubicBezTo>
                  <a:cubicBezTo>
                    <a:pt x="346" y="1139"/>
                    <a:pt x="426" y="1167"/>
                    <a:pt x="538" y="1167"/>
                  </a:cubicBezTo>
                  <a:cubicBezTo>
                    <a:pt x="605" y="1167"/>
                    <a:pt x="655" y="1161"/>
                    <a:pt x="700" y="1144"/>
                  </a:cubicBezTo>
                  <a:cubicBezTo>
                    <a:pt x="781" y="1116"/>
                    <a:pt x="820" y="1063"/>
                    <a:pt x="820" y="991"/>
                  </a:cubicBezTo>
                  <a:cubicBezTo>
                    <a:pt x="820" y="946"/>
                    <a:pt x="798" y="915"/>
                    <a:pt x="759" y="888"/>
                  </a:cubicBezTo>
                  <a:cubicBezTo>
                    <a:pt x="722" y="865"/>
                    <a:pt x="664" y="843"/>
                    <a:pt x="574" y="826"/>
                  </a:cubicBezTo>
                  <a:lnTo>
                    <a:pt x="435" y="798"/>
                  </a:lnTo>
                  <a:cubicBezTo>
                    <a:pt x="295" y="768"/>
                    <a:pt x="198" y="731"/>
                    <a:pt x="147" y="695"/>
                  </a:cubicBezTo>
                  <a:cubicBezTo>
                    <a:pt x="58" y="636"/>
                    <a:pt x="13" y="539"/>
                    <a:pt x="13" y="413"/>
                  </a:cubicBezTo>
                  <a:cubicBezTo>
                    <a:pt x="13" y="296"/>
                    <a:pt x="58" y="198"/>
                    <a:pt x="147" y="117"/>
                  </a:cubicBezTo>
                  <a:cubicBezTo>
                    <a:pt x="234" y="45"/>
                    <a:pt x="360" y="0"/>
                    <a:pt x="524" y="0"/>
                  </a:cubicBezTo>
                  <a:cubicBezTo>
                    <a:pt x="664" y="0"/>
                    <a:pt x="782" y="38"/>
                    <a:pt x="879" y="112"/>
                  </a:cubicBezTo>
                  <a:cubicBezTo>
                    <a:pt x="975" y="186"/>
                    <a:pt x="1026" y="288"/>
                    <a:pt x="1032" y="427"/>
                  </a:cubicBezTo>
                  <a:lnTo>
                    <a:pt x="767" y="427"/>
                  </a:lnTo>
                  <a:cubicBezTo>
                    <a:pt x="759" y="346"/>
                    <a:pt x="731" y="296"/>
                    <a:pt x="664" y="260"/>
                  </a:cubicBezTo>
                  <a:cubicBezTo>
                    <a:pt x="619" y="237"/>
                    <a:pt x="566" y="229"/>
                    <a:pt x="502" y="229"/>
                  </a:cubicBezTo>
                  <a:cubicBezTo>
                    <a:pt x="426" y="229"/>
                    <a:pt x="368" y="243"/>
                    <a:pt x="332" y="274"/>
                  </a:cubicBezTo>
                  <a:cubicBezTo>
                    <a:pt x="287" y="302"/>
                    <a:pt x="265" y="341"/>
                    <a:pt x="265" y="391"/>
                  </a:cubicBezTo>
                  <a:cubicBezTo>
                    <a:pt x="265" y="435"/>
                    <a:pt x="287" y="472"/>
                    <a:pt x="332" y="494"/>
                  </a:cubicBezTo>
                  <a:cubicBezTo>
                    <a:pt x="360" y="511"/>
                    <a:pt x="421" y="533"/>
                    <a:pt x="507" y="547"/>
                  </a:cubicBezTo>
                  <a:lnTo>
                    <a:pt x="736" y="597"/>
                  </a:lnTo>
                  <a:cubicBezTo>
                    <a:pt x="840" y="620"/>
                    <a:pt x="915" y="650"/>
                    <a:pt x="965" y="695"/>
                  </a:cubicBezTo>
                  <a:cubicBezTo>
                    <a:pt x="1049" y="754"/>
                    <a:pt x="1085" y="843"/>
                    <a:pt x="1085" y="960"/>
                  </a:cubicBezTo>
                  <a:cubicBezTo>
                    <a:pt x="1085" y="1077"/>
                    <a:pt x="1040" y="1183"/>
                    <a:pt x="946" y="1256"/>
                  </a:cubicBezTo>
                  <a:cubicBezTo>
                    <a:pt x="848" y="1337"/>
                    <a:pt x="722" y="1373"/>
                    <a:pt x="552" y="1373"/>
                  </a:cubicBezTo>
                  <a:cubicBezTo>
                    <a:pt x="382" y="1373"/>
                    <a:pt x="244" y="1337"/>
                    <a:pt x="147" y="1256"/>
                  </a:cubicBezTo>
                  <a:cubicBezTo>
                    <a:pt x="51" y="1175"/>
                    <a:pt x="0" y="1072"/>
                    <a:pt x="0" y="938"/>
                  </a:cubicBezTo>
                  <a:lnTo>
                    <a:pt x="251" y="938"/>
                  </a:lnTo>
                  <a:lnTo>
                    <a:pt x="251" y="95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0" name="Freeform 13"/>
            <p:cNvSpPr>
              <a:spLocks noChangeArrowheads="1"/>
            </p:cNvSpPr>
            <p:nvPr/>
          </p:nvSpPr>
          <p:spPr bwMode="auto">
            <a:xfrm>
              <a:off x="6240463" y="3168650"/>
              <a:ext cx="346075" cy="488950"/>
            </a:xfrm>
            <a:custGeom>
              <a:avLst/>
              <a:gdLst>
                <a:gd name="T0" fmla="*/ 162 w 961"/>
                <a:gd name="T1" fmla="*/ 1158 h 1360"/>
                <a:gd name="T2" fmla="*/ 235 w 961"/>
                <a:gd name="T3" fmla="*/ 1158 h 1360"/>
                <a:gd name="T4" fmla="*/ 296 w 961"/>
                <a:gd name="T5" fmla="*/ 1136 h 1360"/>
                <a:gd name="T6" fmla="*/ 338 w 961"/>
                <a:gd name="T7" fmla="*/ 1072 h 1360"/>
                <a:gd name="T8" fmla="*/ 355 w 961"/>
                <a:gd name="T9" fmla="*/ 1010 h 1360"/>
                <a:gd name="T10" fmla="*/ 0 w 961"/>
                <a:gd name="T11" fmla="*/ 0 h 1360"/>
                <a:gd name="T12" fmla="*/ 279 w 961"/>
                <a:gd name="T13" fmla="*/ 0 h 1360"/>
                <a:gd name="T14" fmla="*/ 494 w 961"/>
                <a:gd name="T15" fmla="*/ 715 h 1360"/>
                <a:gd name="T16" fmla="*/ 695 w 961"/>
                <a:gd name="T17" fmla="*/ 0 h 1360"/>
                <a:gd name="T18" fmla="*/ 960 w 961"/>
                <a:gd name="T19" fmla="*/ 0 h 1360"/>
                <a:gd name="T20" fmla="*/ 628 w 961"/>
                <a:gd name="T21" fmla="*/ 952 h 1360"/>
                <a:gd name="T22" fmla="*/ 472 w 961"/>
                <a:gd name="T23" fmla="*/ 1292 h 1360"/>
                <a:gd name="T24" fmla="*/ 251 w 961"/>
                <a:gd name="T25" fmla="*/ 1359 h 1360"/>
                <a:gd name="T26" fmla="*/ 198 w 961"/>
                <a:gd name="T27" fmla="*/ 1359 h 1360"/>
                <a:gd name="T28" fmla="*/ 140 w 961"/>
                <a:gd name="T29" fmla="*/ 1359 h 1360"/>
                <a:gd name="T30" fmla="*/ 140 w 961"/>
                <a:gd name="T31" fmla="*/ 1158 h 1360"/>
                <a:gd name="T32" fmla="*/ 162 w 961"/>
                <a:gd name="T33" fmla="*/ 1158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1" h="1360">
                  <a:moveTo>
                    <a:pt x="162" y="1158"/>
                  </a:moveTo>
                  <a:lnTo>
                    <a:pt x="235" y="1158"/>
                  </a:lnTo>
                  <a:cubicBezTo>
                    <a:pt x="257" y="1158"/>
                    <a:pt x="279" y="1153"/>
                    <a:pt x="296" y="1136"/>
                  </a:cubicBezTo>
                  <a:cubicBezTo>
                    <a:pt x="310" y="1131"/>
                    <a:pt x="324" y="1108"/>
                    <a:pt x="338" y="1072"/>
                  </a:cubicBezTo>
                  <a:cubicBezTo>
                    <a:pt x="355" y="1041"/>
                    <a:pt x="355" y="1019"/>
                    <a:pt x="355" y="1010"/>
                  </a:cubicBezTo>
                  <a:lnTo>
                    <a:pt x="0" y="0"/>
                  </a:lnTo>
                  <a:lnTo>
                    <a:pt x="279" y="0"/>
                  </a:lnTo>
                  <a:lnTo>
                    <a:pt x="494" y="715"/>
                  </a:lnTo>
                  <a:lnTo>
                    <a:pt x="695" y="0"/>
                  </a:lnTo>
                  <a:lnTo>
                    <a:pt x="960" y="0"/>
                  </a:lnTo>
                  <a:lnTo>
                    <a:pt x="628" y="952"/>
                  </a:lnTo>
                  <a:cubicBezTo>
                    <a:pt x="561" y="1136"/>
                    <a:pt x="508" y="1248"/>
                    <a:pt x="472" y="1292"/>
                  </a:cubicBezTo>
                  <a:cubicBezTo>
                    <a:pt x="435" y="1337"/>
                    <a:pt x="360" y="1359"/>
                    <a:pt x="251" y="1359"/>
                  </a:cubicBezTo>
                  <a:lnTo>
                    <a:pt x="198" y="1359"/>
                  </a:lnTo>
                  <a:lnTo>
                    <a:pt x="140" y="1359"/>
                  </a:lnTo>
                  <a:lnTo>
                    <a:pt x="140" y="1158"/>
                  </a:lnTo>
                  <a:lnTo>
                    <a:pt x="162" y="11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1" name="Freeform 14"/>
            <p:cNvSpPr>
              <a:spLocks noChangeArrowheads="1"/>
            </p:cNvSpPr>
            <p:nvPr/>
          </p:nvSpPr>
          <p:spPr bwMode="auto">
            <a:xfrm>
              <a:off x="6615113" y="3160713"/>
              <a:ext cx="322262" cy="371475"/>
            </a:xfrm>
            <a:custGeom>
              <a:avLst/>
              <a:gdLst>
                <a:gd name="T0" fmla="*/ 260 w 894"/>
                <a:gd name="T1" fmla="*/ 686 h 1033"/>
                <a:gd name="T2" fmla="*/ 296 w 894"/>
                <a:gd name="T3" fmla="*/ 781 h 1033"/>
                <a:gd name="T4" fmla="*/ 474 w 894"/>
                <a:gd name="T5" fmla="*/ 834 h 1033"/>
                <a:gd name="T6" fmla="*/ 592 w 894"/>
                <a:gd name="T7" fmla="*/ 812 h 1033"/>
                <a:gd name="T8" fmla="*/ 636 w 894"/>
                <a:gd name="T9" fmla="*/ 745 h 1033"/>
                <a:gd name="T10" fmla="*/ 600 w 894"/>
                <a:gd name="T11" fmla="*/ 678 h 1033"/>
                <a:gd name="T12" fmla="*/ 332 w 894"/>
                <a:gd name="T13" fmla="*/ 606 h 1033"/>
                <a:gd name="T14" fmla="*/ 103 w 894"/>
                <a:gd name="T15" fmla="*/ 502 h 1033"/>
                <a:gd name="T16" fmla="*/ 36 w 894"/>
                <a:gd name="T17" fmla="*/ 324 h 1033"/>
                <a:gd name="T18" fmla="*/ 140 w 894"/>
                <a:gd name="T19" fmla="*/ 95 h 1033"/>
                <a:gd name="T20" fmla="*/ 435 w 894"/>
                <a:gd name="T21" fmla="*/ 0 h 1033"/>
                <a:gd name="T22" fmla="*/ 731 w 894"/>
                <a:gd name="T23" fmla="*/ 72 h 1033"/>
                <a:gd name="T24" fmla="*/ 865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7 w 894"/>
                <a:gd name="T33" fmla="*/ 220 h 1033"/>
                <a:gd name="T34" fmla="*/ 287 w 894"/>
                <a:gd name="T35" fmla="*/ 279 h 1033"/>
                <a:gd name="T36" fmla="*/ 327 w 894"/>
                <a:gd name="T37" fmla="*/ 346 h 1033"/>
                <a:gd name="T38" fmla="*/ 592 w 894"/>
                <a:gd name="T39" fmla="*/ 413 h 1033"/>
                <a:gd name="T40" fmla="*/ 821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52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0 w 894"/>
                <a:gd name="T53" fmla="*/ 695 h 1033"/>
                <a:gd name="T54" fmla="*/ 260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0" y="686"/>
                  </a:moveTo>
                  <a:cubicBezTo>
                    <a:pt x="265" y="731"/>
                    <a:pt x="274" y="759"/>
                    <a:pt x="296" y="781"/>
                  </a:cubicBezTo>
                  <a:cubicBezTo>
                    <a:pt x="327" y="820"/>
                    <a:pt x="385" y="834"/>
                    <a:pt x="474" y="834"/>
                  </a:cubicBezTo>
                  <a:cubicBezTo>
                    <a:pt x="525" y="834"/>
                    <a:pt x="561" y="826"/>
                    <a:pt x="592" y="812"/>
                  </a:cubicBezTo>
                  <a:cubicBezTo>
                    <a:pt x="620" y="798"/>
                    <a:pt x="636" y="776"/>
                    <a:pt x="636" y="745"/>
                  </a:cubicBezTo>
                  <a:cubicBezTo>
                    <a:pt x="636" y="714"/>
                    <a:pt x="621" y="693"/>
                    <a:pt x="600" y="678"/>
                  </a:cubicBezTo>
                  <a:cubicBezTo>
                    <a:pt x="579" y="663"/>
                    <a:pt x="488" y="642"/>
                    <a:pt x="332" y="606"/>
                  </a:cubicBezTo>
                  <a:cubicBezTo>
                    <a:pt x="220" y="575"/>
                    <a:pt x="148" y="547"/>
                    <a:pt x="103" y="502"/>
                  </a:cubicBezTo>
                  <a:cubicBezTo>
                    <a:pt x="59" y="463"/>
                    <a:pt x="36" y="405"/>
                    <a:pt x="36" y="324"/>
                  </a:cubicBezTo>
                  <a:cubicBezTo>
                    <a:pt x="36" y="234"/>
                    <a:pt x="75" y="162"/>
                    <a:pt x="140" y="95"/>
                  </a:cubicBezTo>
                  <a:cubicBezTo>
                    <a:pt x="215" y="28"/>
                    <a:pt x="310" y="0"/>
                    <a:pt x="435" y="0"/>
                  </a:cubicBezTo>
                  <a:cubicBezTo>
                    <a:pt x="555" y="0"/>
                    <a:pt x="657" y="21"/>
                    <a:pt x="731" y="72"/>
                  </a:cubicBezTo>
                  <a:cubicBezTo>
                    <a:pt x="805" y="124"/>
                    <a:pt x="851" y="206"/>
                    <a:pt x="865" y="324"/>
                  </a:cubicBezTo>
                  <a:lnTo>
                    <a:pt x="614" y="324"/>
                  </a:lnTo>
                  <a:cubicBezTo>
                    <a:pt x="614" y="296"/>
                    <a:pt x="600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7" y="206"/>
                    <a:pt x="327" y="220"/>
                  </a:cubicBezTo>
                  <a:cubicBezTo>
                    <a:pt x="306" y="234"/>
                    <a:pt x="287" y="257"/>
                    <a:pt x="287" y="279"/>
                  </a:cubicBezTo>
                  <a:cubicBezTo>
                    <a:pt x="287" y="310"/>
                    <a:pt x="306" y="332"/>
                    <a:pt x="327" y="346"/>
                  </a:cubicBezTo>
                  <a:cubicBezTo>
                    <a:pt x="347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1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600" y="1032"/>
                    <a:pt x="452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0" y="695"/>
                  </a:lnTo>
                  <a:lnTo>
                    <a:pt x="260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2" name="Freeform 15"/>
            <p:cNvSpPr>
              <a:spLocks noChangeArrowheads="1"/>
            </p:cNvSpPr>
            <p:nvPr/>
          </p:nvSpPr>
          <p:spPr bwMode="auto">
            <a:xfrm>
              <a:off x="6965950" y="3078163"/>
              <a:ext cx="193675" cy="452437"/>
            </a:xfrm>
            <a:custGeom>
              <a:avLst/>
              <a:gdLst>
                <a:gd name="T0" fmla="*/ 0 w 539"/>
                <a:gd name="T1" fmla="*/ 449 h 1257"/>
                <a:gd name="T2" fmla="*/ 0 w 539"/>
                <a:gd name="T3" fmla="*/ 274 h 1257"/>
                <a:gd name="T4" fmla="*/ 131 w 539"/>
                <a:gd name="T5" fmla="*/ 274 h 1257"/>
                <a:gd name="T6" fmla="*/ 131 w 539"/>
                <a:gd name="T7" fmla="*/ 0 h 1257"/>
                <a:gd name="T8" fmla="*/ 382 w 539"/>
                <a:gd name="T9" fmla="*/ 0 h 1257"/>
                <a:gd name="T10" fmla="*/ 382 w 539"/>
                <a:gd name="T11" fmla="*/ 274 h 1257"/>
                <a:gd name="T12" fmla="*/ 538 w 539"/>
                <a:gd name="T13" fmla="*/ 274 h 1257"/>
                <a:gd name="T14" fmla="*/ 538 w 539"/>
                <a:gd name="T15" fmla="*/ 449 h 1257"/>
                <a:gd name="T16" fmla="*/ 382 w 539"/>
                <a:gd name="T17" fmla="*/ 449 h 1257"/>
                <a:gd name="T18" fmla="*/ 382 w 539"/>
                <a:gd name="T19" fmla="*/ 960 h 1257"/>
                <a:gd name="T20" fmla="*/ 399 w 539"/>
                <a:gd name="T21" fmla="*/ 1033 h 1257"/>
                <a:gd name="T22" fmla="*/ 485 w 539"/>
                <a:gd name="T23" fmla="*/ 1049 h 1257"/>
                <a:gd name="T24" fmla="*/ 508 w 539"/>
                <a:gd name="T25" fmla="*/ 1049 h 1257"/>
                <a:gd name="T26" fmla="*/ 530 w 539"/>
                <a:gd name="T27" fmla="*/ 1049 h 1257"/>
                <a:gd name="T28" fmla="*/ 530 w 539"/>
                <a:gd name="T29" fmla="*/ 1239 h 1257"/>
                <a:gd name="T30" fmla="*/ 413 w 539"/>
                <a:gd name="T31" fmla="*/ 1248 h 1257"/>
                <a:gd name="T32" fmla="*/ 167 w 539"/>
                <a:gd name="T33" fmla="*/ 1189 h 1257"/>
                <a:gd name="T34" fmla="*/ 125 w 539"/>
                <a:gd name="T35" fmla="*/ 1055 h 1257"/>
                <a:gd name="T36" fmla="*/ 125 w 539"/>
                <a:gd name="T37" fmla="*/ 458 h 1257"/>
                <a:gd name="T38" fmla="*/ 0 w 539"/>
                <a:gd name="T39" fmla="*/ 458 h 1257"/>
                <a:gd name="T40" fmla="*/ 0 w 539"/>
                <a:gd name="T41" fmla="*/ 449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9" h="1257">
                  <a:moveTo>
                    <a:pt x="0" y="449"/>
                  </a:moveTo>
                  <a:lnTo>
                    <a:pt x="0" y="274"/>
                  </a:lnTo>
                  <a:lnTo>
                    <a:pt x="131" y="274"/>
                  </a:lnTo>
                  <a:lnTo>
                    <a:pt x="131" y="0"/>
                  </a:lnTo>
                  <a:lnTo>
                    <a:pt x="382" y="0"/>
                  </a:lnTo>
                  <a:lnTo>
                    <a:pt x="382" y="274"/>
                  </a:lnTo>
                  <a:lnTo>
                    <a:pt x="538" y="274"/>
                  </a:lnTo>
                  <a:lnTo>
                    <a:pt x="538" y="449"/>
                  </a:lnTo>
                  <a:lnTo>
                    <a:pt x="382" y="449"/>
                  </a:lnTo>
                  <a:lnTo>
                    <a:pt x="382" y="960"/>
                  </a:lnTo>
                  <a:cubicBezTo>
                    <a:pt x="382" y="996"/>
                    <a:pt x="390" y="1027"/>
                    <a:pt x="399" y="1033"/>
                  </a:cubicBezTo>
                  <a:cubicBezTo>
                    <a:pt x="404" y="1041"/>
                    <a:pt x="441" y="1049"/>
                    <a:pt x="485" y="1049"/>
                  </a:cubicBezTo>
                  <a:cubicBezTo>
                    <a:pt x="494" y="1049"/>
                    <a:pt x="501" y="1049"/>
                    <a:pt x="508" y="1049"/>
                  </a:cubicBezTo>
                  <a:cubicBezTo>
                    <a:pt x="515" y="1049"/>
                    <a:pt x="524" y="1049"/>
                    <a:pt x="530" y="1049"/>
                  </a:cubicBezTo>
                  <a:lnTo>
                    <a:pt x="530" y="1239"/>
                  </a:lnTo>
                  <a:lnTo>
                    <a:pt x="413" y="1248"/>
                  </a:lnTo>
                  <a:cubicBezTo>
                    <a:pt x="293" y="1256"/>
                    <a:pt x="211" y="1234"/>
                    <a:pt x="167" y="1189"/>
                  </a:cubicBezTo>
                  <a:cubicBezTo>
                    <a:pt x="138" y="1159"/>
                    <a:pt x="125" y="1114"/>
                    <a:pt x="125" y="1055"/>
                  </a:cubicBezTo>
                  <a:lnTo>
                    <a:pt x="125" y="458"/>
                  </a:lnTo>
                  <a:lnTo>
                    <a:pt x="0" y="458"/>
                  </a:lnTo>
                  <a:lnTo>
                    <a:pt x="0" y="44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3" name="Freeform 16"/>
            <p:cNvSpPr>
              <a:spLocks noChangeArrowheads="1"/>
            </p:cNvSpPr>
            <p:nvPr/>
          </p:nvSpPr>
          <p:spPr bwMode="auto">
            <a:xfrm>
              <a:off x="7194550" y="3162300"/>
              <a:ext cx="344488" cy="369888"/>
            </a:xfrm>
            <a:custGeom>
              <a:avLst/>
              <a:gdLst>
                <a:gd name="T0" fmla="*/ 704 w 956"/>
                <a:gd name="T1" fmla="*/ 45 h 1028"/>
                <a:gd name="T2" fmla="*/ 874 w 956"/>
                <a:gd name="T3" fmla="*/ 185 h 1028"/>
                <a:gd name="T4" fmla="*/ 946 w 956"/>
                <a:gd name="T5" fmla="*/ 386 h 1028"/>
                <a:gd name="T6" fmla="*/ 955 w 956"/>
                <a:gd name="T7" fmla="*/ 578 h 1028"/>
                <a:gd name="T8" fmla="*/ 251 w 956"/>
                <a:gd name="T9" fmla="*/ 578 h 1028"/>
                <a:gd name="T10" fmla="*/ 355 w 956"/>
                <a:gd name="T11" fmla="*/ 785 h 1028"/>
                <a:gd name="T12" fmla="*/ 497 w 956"/>
                <a:gd name="T13" fmla="*/ 821 h 1028"/>
                <a:gd name="T14" fmla="*/ 637 w 956"/>
                <a:gd name="T15" fmla="*/ 776 h 1028"/>
                <a:gd name="T16" fmla="*/ 690 w 956"/>
                <a:gd name="T17" fmla="*/ 709 h 1028"/>
                <a:gd name="T18" fmla="*/ 946 w 956"/>
                <a:gd name="T19" fmla="*/ 709 h 1028"/>
                <a:gd name="T20" fmla="*/ 851 w 956"/>
                <a:gd name="T21" fmla="*/ 888 h 1028"/>
                <a:gd name="T22" fmla="*/ 489 w 956"/>
                <a:gd name="T23" fmla="*/ 1027 h 1028"/>
                <a:gd name="T24" fmla="*/ 148 w 956"/>
                <a:gd name="T25" fmla="*/ 910 h 1028"/>
                <a:gd name="T26" fmla="*/ 0 w 956"/>
                <a:gd name="T27" fmla="*/ 525 h 1028"/>
                <a:gd name="T28" fmla="*/ 134 w 956"/>
                <a:gd name="T29" fmla="*/ 143 h 1028"/>
                <a:gd name="T30" fmla="*/ 480 w 956"/>
                <a:gd name="T31" fmla="*/ 9 h 1028"/>
                <a:gd name="T32" fmla="*/ 704 w 956"/>
                <a:gd name="T33" fmla="*/ 45 h 1028"/>
                <a:gd name="T34" fmla="*/ 327 w 956"/>
                <a:gd name="T35" fmla="*/ 260 h 1028"/>
                <a:gd name="T36" fmla="*/ 260 w 956"/>
                <a:gd name="T37" fmla="*/ 408 h 1028"/>
                <a:gd name="T38" fmla="*/ 695 w 956"/>
                <a:gd name="T39" fmla="*/ 408 h 1028"/>
                <a:gd name="T40" fmla="*/ 628 w 956"/>
                <a:gd name="T41" fmla="*/ 252 h 1028"/>
                <a:gd name="T42" fmla="*/ 480 w 956"/>
                <a:gd name="T43" fmla="*/ 201 h 1028"/>
                <a:gd name="T44" fmla="*/ 327 w 956"/>
                <a:gd name="T45" fmla="*/ 260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6" h="1028">
                  <a:moveTo>
                    <a:pt x="704" y="45"/>
                  </a:moveTo>
                  <a:cubicBezTo>
                    <a:pt x="771" y="76"/>
                    <a:pt x="829" y="126"/>
                    <a:pt x="874" y="185"/>
                  </a:cubicBezTo>
                  <a:cubicBezTo>
                    <a:pt x="910" y="246"/>
                    <a:pt x="941" y="310"/>
                    <a:pt x="946" y="386"/>
                  </a:cubicBezTo>
                  <a:cubicBezTo>
                    <a:pt x="955" y="430"/>
                    <a:pt x="955" y="497"/>
                    <a:pt x="955" y="578"/>
                  </a:cubicBezTo>
                  <a:lnTo>
                    <a:pt x="251" y="578"/>
                  </a:lnTo>
                  <a:cubicBezTo>
                    <a:pt x="260" y="673"/>
                    <a:pt x="291" y="740"/>
                    <a:pt x="355" y="785"/>
                  </a:cubicBezTo>
                  <a:cubicBezTo>
                    <a:pt x="394" y="807"/>
                    <a:pt x="444" y="821"/>
                    <a:pt x="497" y="821"/>
                  </a:cubicBezTo>
                  <a:cubicBezTo>
                    <a:pt x="556" y="821"/>
                    <a:pt x="600" y="807"/>
                    <a:pt x="637" y="776"/>
                  </a:cubicBezTo>
                  <a:cubicBezTo>
                    <a:pt x="659" y="762"/>
                    <a:pt x="673" y="740"/>
                    <a:pt x="690" y="709"/>
                  </a:cubicBezTo>
                  <a:lnTo>
                    <a:pt x="946" y="709"/>
                  </a:lnTo>
                  <a:cubicBezTo>
                    <a:pt x="941" y="771"/>
                    <a:pt x="910" y="829"/>
                    <a:pt x="851" y="888"/>
                  </a:cubicBezTo>
                  <a:cubicBezTo>
                    <a:pt x="762" y="983"/>
                    <a:pt x="645" y="1027"/>
                    <a:pt x="489" y="1027"/>
                  </a:cubicBezTo>
                  <a:cubicBezTo>
                    <a:pt x="363" y="1027"/>
                    <a:pt x="244" y="991"/>
                    <a:pt x="148" y="910"/>
                  </a:cubicBezTo>
                  <a:cubicBezTo>
                    <a:pt x="52" y="829"/>
                    <a:pt x="0" y="704"/>
                    <a:pt x="0" y="525"/>
                  </a:cubicBezTo>
                  <a:cubicBezTo>
                    <a:pt x="0" y="355"/>
                    <a:pt x="45" y="231"/>
                    <a:pt x="134" y="143"/>
                  </a:cubicBezTo>
                  <a:cubicBezTo>
                    <a:pt x="224" y="55"/>
                    <a:pt x="341" y="9"/>
                    <a:pt x="480" y="9"/>
                  </a:cubicBezTo>
                  <a:cubicBezTo>
                    <a:pt x="564" y="0"/>
                    <a:pt x="637" y="17"/>
                    <a:pt x="704" y="45"/>
                  </a:cubicBezTo>
                  <a:close/>
                  <a:moveTo>
                    <a:pt x="327" y="260"/>
                  </a:moveTo>
                  <a:cubicBezTo>
                    <a:pt x="291" y="296"/>
                    <a:pt x="268" y="349"/>
                    <a:pt x="260" y="408"/>
                  </a:cubicBezTo>
                  <a:lnTo>
                    <a:pt x="695" y="408"/>
                  </a:lnTo>
                  <a:cubicBezTo>
                    <a:pt x="690" y="341"/>
                    <a:pt x="666" y="289"/>
                    <a:pt x="628" y="252"/>
                  </a:cubicBezTo>
                  <a:cubicBezTo>
                    <a:pt x="591" y="214"/>
                    <a:pt x="542" y="201"/>
                    <a:pt x="480" y="201"/>
                  </a:cubicBezTo>
                  <a:cubicBezTo>
                    <a:pt x="408" y="207"/>
                    <a:pt x="363" y="224"/>
                    <a:pt x="327" y="26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4" name="Freeform 17"/>
            <p:cNvSpPr>
              <a:spLocks noChangeArrowheads="1"/>
            </p:cNvSpPr>
            <p:nvPr/>
          </p:nvSpPr>
          <p:spPr bwMode="auto">
            <a:xfrm>
              <a:off x="7580313" y="3162300"/>
              <a:ext cx="500062" cy="360363"/>
            </a:xfrm>
            <a:custGeom>
              <a:avLst/>
              <a:gdLst>
                <a:gd name="T0" fmla="*/ 1219 w 1391"/>
                <a:gd name="T1" fmla="*/ 23 h 1001"/>
                <a:gd name="T2" fmla="*/ 1331 w 1391"/>
                <a:gd name="T3" fmla="*/ 112 h 1001"/>
                <a:gd name="T4" fmla="*/ 1381 w 1391"/>
                <a:gd name="T5" fmla="*/ 238 h 1001"/>
                <a:gd name="T6" fmla="*/ 1390 w 1391"/>
                <a:gd name="T7" fmla="*/ 377 h 1001"/>
                <a:gd name="T8" fmla="*/ 1390 w 1391"/>
                <a:gd name="T9" fmla="*/ 991 h 1001"/>
                <a:gd name="T10" fmla="*/ 1130 w 1391"/>
                <a:gd name="T11" fmla="*/ 991 h 1001"/>
                <a:gd name="T12" fmla="*/ 1130 w 1391"/>
                <a:gd name="T13" fmla="*/ 377 h 1001"/>
                <a:gd name="T14" fmla="*/ 1116 w 1391"/>
                <a:gd name="T15" fmla="*/ 291 h 1001"/>
                <a:gd name="T16" fmla="*/ 991 w 1391"/>
                <a:gd name="T17" fmla="*/ 224 h 1001"/>
                <a:gd name="T18" fmla="*/ 843 w 1391"/>
                <a:gd name="T19" fmla="*/ 313 h 1001"/>
                <a:gd name="T20" fmla="*/ 820 w 1391"/>
                <a:gd name="T21" fmla="*/ 422 h 1001"/>
                <a:gd name="T22" fmla="*/ 820 w 1391"/>
                <a:gd name="T23" fmla="*/ 1000 h 1001"/>
                <a:gd name="T24" fmla="*/ 569 w 1391"/>
                <a:gd name="T25" fmla="*/ 1000 h 1001"/>
                <a:gd name="T26" fmla="*/ 569 w 1391"/>
                <a:gd name="T27" fmla="*/ 422 h 1001"/>
                <a:gd name="T28" fmla="*/ 555 w 1391"/>
                <a:gd name="T29" fmla="*/ 296 h 1001"/>
                <a:gd name="T30" fmla="*/ 430 w 1391"/>
                <a:gd name="T31" fmla="*/ 229 h 1001"/>
                <a:gd name="T32" fmla="*/ 282 w 1391"/>
                <a:gd name="T33" fmla="*/ 296 h 1001"/>
                <a:gd name="T34" fmla="*/ 259 w 1391"/>
                <a:gd name="T35" fmla="*/ 416 h 1001"/>
                <a:gd name="T36" fmla="*/ 259 w 1391"/>
                <a:gd name="T37" fmla="*/ 1000 h 1001"/>
                <a:gd name="T38" fmla="*/ 0 w 1391"/>
                <a:gd name="T39" fmla="*/ 1000 h 1001"/>
                <a:gd name="T40" fmla="*/ 0 w 1391"/>
                <a:gd name="T41" fmla="*/ 31 h 1001"/>
                <a:gd name="T42" fmla="*/ 246 w 1391"/>
                <a:gd name="T43" fmla="*/ 31 h 1001"/>
                <a:gd name="T44" fmla="*/ 246 w 1391"/>
                <a:gd name="T45" fmla="*/ 171 h 1001"/>
                <a:gd name="T46" fmla="*/ 332 w 1391"/>
                <a:gd name="T47" fmla="*/ 59 h 1001"/>
                <a:gd name="T48" fmla="*/ 525 w 1391"/>
                <a:gd name="T49" fmla="*/ 0 h 1001"/>
                <a:gd name="T50" fmla="*/ 703 w 1391"/>
                <a:gd name="T51" fmla="*/ 54 h 1001"/>
                <a:gd name="T52" fmla="*/ 784 w 1391"/>
                <a:gd name="T53" fmla="*/ 171 h 1001"/>
                <a:gd name="T54" fmla="*/ 910 w 1391"/>
                <a:gd name="T55" fmla="*/ 45 h 1001"/>
                <a:gd name="T56" fmla="*/ 1086 w 1391"/>
                <a:gd name="T57" fmla="*/ 9 h 1001"/>
                <a:gd name="T58" fmla="*/ 1219 w 1391"/>
                <a:gd name="T59" fmla="*/ 23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91" h="1001">
                  <a:moveTo>
                    <a:pt x="1219" y="23"/>
                  </a:moveTo>
                  <a:cubicBezTo>
                    <a:pt x="1264" y="40"/>
                    <a:pt x="1300" y="67"/>
                    <a:pt x="1331" y="112"/>
                  </a:cubicBezTo>
                  <a:cubicBezTo>
                    <a:pt x="1359" y="148"/>
                    <a:pt x="1376" y="185"/>
                    <a:pt x="1381" y="238"/>
                  </a:cubicBezTo>
                  <a:cubicBezTo>
                    <a:pt x="1390" y="268"/>
                    <a:pt x="1390" y="319"/>
                    <a:pt x="1390" y="377"/>
                  </a:cubicBezTo>
                  <a:lnTo>
                    <a:pt x="1390" y="991"/>
                  </a:lnTo>
                  <a:lnTo>
                    <a:pt x="1130" y="991"/>
                  </a:lnTo>
                  <a:lnTo>
                    <a:pt x="1130" y="377"/>
                  </a:lnTo>
                  <a:cubicBezTo>
                    <a:pt x="1130" y="341"/>
                    <a:pt x="1125" y="313"/>
                    <a:pt x="1116" y="291"/>
                  </a:cubicBezTo>
                  <a:cubicBezTo>
                    <a:pt x="1094" y="246"/>
                    <a:pt x="1049" y="224"/>
                    <a:pt x="991" y="224"/>
                  </a:cubicBezTo>
                  <a:cubicBezTo>
                    <a:pt x="924" y="224"/>
                    <a:pt x="873" y="252"/>
                    <a:pt x="843" y="313"/>
                  </a:cubicBezTo>
                  <a:cubicBezTo>
                    <a:pt x="829" y="341"/>
                    <a:pt x="820" y="377"/>
                    <a:pt x="820" y="422"/>
                  </a:cubicBezTo>
                  <a:lnTo>
                    <a:pt x="820" y="1000"/>
                  </a:lnTo>
                  <a:lnTo>
                    <a:pt x="569" y="1000"/>
                  </a:lnTo>
                  <a:lnTo>
                    <a:pt x="569" y="422"/>
                  </a:lnTo>
                  <a:cubicBezTo>
                    <a:pt x="569" y="363"/>
                    <a:pt x="561" y="327"/>
                    <a:pt x="555" y="296"/>
                  </a:cubicBezTo>
                  <a:cubicBezTo>
                    <a:pt x="533" y="252"/>
                    <a:pt x="488" y="229"/>
                    <a:pt x="430" y="229"/>
                  </a:cubicBezTo>
                  <a:cubicBezTo>
                    <a:pt x="354" y="229"/>
                    <a:pt x="310" y="252"/>
                    <a:pt x="282" y="296"/>
                  </a:cubicBezTo>
                  <a:cubicBezTo>
                    <a:pt x="268" y="327"/>
                    <a:pt x="259" y="363"/>
                    <a:pt x="259" y="416"/>
                  </a:cubicBezTo>
                  <a:lnTo>
                    <a:pt x="259" y="1000"/>
                  </a:lnTo>
                  <a:lnTo>
                    <a:pt x="0" y="1000"/>
                  </a:lnTo>
                  <a:lnTo>
                    <a:pt x="0" y="31"/>
                  </a:lnTo>
                  <a:lnTo>
                    <a:pt x="246" y="31"/>
                  </a:lnTo>
                  <a:lnTo>
                    <a:pt x="246" y="171"/>
                  </a:lnTo>
                  <a:cubicBezTo>
                    <a:pt x="273" y="120"/>
                    <a:pt x="304" y="81"/>
                    <a:pt x="332" y="59"/>
                  </a:cubicBezTo>
                  <a:cubicBezTo>
                    <a:pt x="385" y="23"/>
                    <a:pt x="444" y="0"/>
                    <a:pt x="525" y="0"/>
                  </a:cubicBezTo>
                  <a:cubicBezTo>
                    <a:pt x="600" y="0"/>
                    <a:pt x="659" y="17"/>
                    <a:pt x="703" y="54"/>
                  </a:cubicBezTo>
                  <a:cubicBezTo>
                    <a:pt x="739" y="81"/>
                    <a:pt x="770" y="120"/>
                    <a:pt x="784" y="171"/>
                  </a:cubicBezTo>
                  <a:cubicBezTo>
                    <a:pt x="815" y="112"/>
                    <a:pt x="858" y="74"/>
                    <a:pt x="910" y="45"/>
                  </a:cubicBezTo>
                  <a:cubicBezTo>
                    <a:pt x="961" y="16"/>
                    <a:pt x="1021" y="9"/>
                    <a:pt x="1086" y="9"/>
                  </a:cubicBezTo>
                  <a:cubicBezTo>
                    <a:pt x="1130" y="0"/>
                    <a:pt x="1175" y="9"/>
                    <a:pt x="1219" y="2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5" name="Freeform 18"/>
            <p:cNvSpPr>
              <a:spLocks noChangeArrowheads="1"/>
            </p:cNvSpPr>
            <p:nvPr/>
          </p:nvSpPr>
          <p:spPr bwMode="auto">
            <a:xfrm>
              <a:off x="8142288" y="3160713"/>
              <a:ext cx="322262" cy="371475"/>
            </a:xfrm>
            <a:custGeom>
              <a:avLst/>
              <a:gdLst>
                <a:gd name="T0" fmla="*/ 265 w 894"/>
                <a:gd name="T1" fmla="*/ 686 h 1033"/>
                <a:gd name="T2" fmla="*/ 304 w 894"/>
                <a:gd name="T3" fmla="*/ 781 h 1033"/>
                <a:gd name="T4" fmla="*/ 480 w 894"/>
                <a:gd name="T5" fmla="*/ 834 h 1033"/>
                <a:gd name="T6" fmla="*/ 597 w 894"/>
                <a:gd name="T7" fmla="*/ 812 h 1033"/>
                <a:gd name="T8" fmla="*/ 642 w 894"/>
                <a:gd name="T9" fmla="*/ 745 h 1033"/>
                <a:gd name="T10" fmla="*/ 606 w 894"/>
                <a:gd name="T11" fmla="*/ 678 h 1033"/>
                <a:gd name="T12" fmla="*/ 340 w 894"/>
                <a:gd name="T13" fmla="*/ 606 h 1033"/>
                <a:gd name="T14" fmla="*/ 112 w 894"/>
                <a:gd name="T15" fmla="*/ 502 h 1033"/>
                <a:gd name="T16" fmla="*/ 45 w 894"/>
                <a:gd name="T17" fmla="*/ 324 h 1033"/>
                <a:gd name="T18" fmla="*/ 148 w 894"/>
                <a:gd name="T19" fmla="*/ 95 h 1033"/>
                <a:gd name="T20" fmla="*/ 444 w 894"/>
                <a:gd name="T21" fmla="*/ 0 h 1033"/>
                <a:gd name="T22" fmla="*/ 740 w 894"/>
                <a:gd name="T23" fmla="*/ 72 h 1033"/>
                <a:gd name="T24" fmla="*/ 871 w 894"/>
                <a:gd name="T25" fmla="*/ 324 h 1033"/>
                <a:gd name="T26" fmla="*/ 614 w 894"/>
                <a:gd name="T27" fmla="*/ 324 h 1033"/>
                <a:gd name="T28" fmla="*/ 583 w 894"/>
                <a:gd name="T29" fmla="*/ 251 h 1033"/>
                <a:gd name="T30" fmla="*/ 444 w 894"/>
                <a:gd name="T31" fmla="*/ 198 h 1033"/>
                <a:gd name="T32" fmla="*/ 324 w 894"/>
                <a:gd name="T33" fmla="*/ 220 h 1033"/>
                <a:gd name="T34" fmla="*/ 287 w 894"/>
                <a:gd name="T35" fmla="*/ 279 h 1033"/>
                <a:gd name="T36" fmla="*/ 324 w 894"/>
                <a:gd name="T37" fmla="*/ 346 h 1033"/>
                <a:gd name="T38" fmla="*/ 592 w 894"/>
                <a:gd name="T39" fmla="*/ 413 h 1033"/>
                <a:gd name="T40" fmla="*/ 820 w 894"/>
                <a:gd name="T41" fmla="*/ 525 h 1033"/>
                <a:gd name="T42" fmla="*/ 893 w 894"/>
                <a:gd name="T43" fmla="*/ 709 h 1033"/>
                <a:gd name="T44" fmla="*/ 784 w 894"/>
                <a:gd name="T45" fmla="*/ 946 h 1033"/>
                <a:gd name="T46" fmla="*/ 449 w 894"/>
                <a:gd name="T47" fmla="*/ 1032 h 1033"/>
                <a:gd name="T48" fmla="*/ 112 w 894"/>
                <a:gd name="T49" fmla="*/ 938 h 1033"/>
                <a:gd name="T50" fmla="*/ 0 w 894"/>
                <a:gd name="T51" fmla="*/ 695 h 1033"/>
                <a:gd name="T52" fmla="*/ 265 w 894"/>
                <a:gd name="T53" fmla="*/ 695 h 1033"/>
                <a:gd name="T54" fmla="*/ 265 w 894"/>
                <a:gd name="T55" fmla="*/ 686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4" h="1033">
                  <a:moveTo>
                    <a:pt x="265" y="686"/>
                  </a:moveTo>
                  <a:cubicBezTo>
                    <a:pt x="273" y="731"/>
                    <a:pt x="282" y="759"/>
                    <a:pt x="304" y="781"/>
                  </a:cubicBezTo>
                  <a:cubicBezTo>
                    <a:pt x="332" y="820"/>
                    <a:pt x="391" y="834"/>
                    <a:pt x="480" y="834"/>
                  </a:cubicBezTo>
                  <a:cubicBezTo>
                    <a:pt x="533" y="834"/>
                    <a:pt x="569" y="826"/>
                    <a:pt x="597" y="812"/>
                  </a:cubicBezTo>
                  <a:cubicBezTo>
                    <a:pt x="628" y="798"/>
                    <a:pt x="642" y="776"/>
                    <a:pt x="642" y="745"/>
                  </a:cubicBezTo>
                  <a:cubicBezTo>
                    <a:pt x="642" y="714"/>
                    <a:pt x="628" y="693"/>
                    <a:pt x="606" y="678"/>
                  </a:cubicBezTo>
                  <a:cubicBezTo>
                    <a:pt x="583" y="663"/>
                    <a:pt x="494" y="642"/>
                    <a:pt x="340" y="606"/>
                  </a:cubicBezTo>
                  <a:cubicBezTo>
                    <a:pt x="229" y="575"/>
                    <a:pt x="156" y="547"/>
                    <a:pt x="112" y="502"/>
                  </a:cubicBezTo>
                  <a:cubicBezTo>
                    <a:pt x="67" y="463"/>
                    <a:pt x="45" y="405"/>
                    <a:pt x="45" y="324"/>
                  </a:cubicBezTo>
                  <a:cubicBezTo>
                    <a:pt x="45" y="234"/>
                    <a:pt x="81" y="162"/>
                    <a:pt x="148" y="95"/>
                  </a:cubicBezTo>
                  <a:cubicBezTo>
                    <a:pt x="220" y="28"/>
                    <a:pt x="318" y="0"/>
                    <a:pt x="444" y="0"/>
                  </a:cubicBezTo>
                  <a:cubicBezTo>
                    <a:pt x="561" y="0"/>
                    <a:pt x="666" y="21"/>
                    <a:pt x="740" y="72"/>
                  </a:cubicBezTo>
                  <a:cubicBezTo>
                    <a:pt x="813" y="124"/>
                    <a:pt x="857" y="206"/>
                    <a:pt x="871" y="324"/>
                  </a:cubicBezTo>
                  <a:lnTo>
                    <a:pt x="614" y="324"/>
                  </a:lnTo>
                  <a:cubicBezTo>
                    <a:pt x="614" y="296"/>
                    <a:pt x="597" y="265"/>
                    <a:pt x="583" y="251"/>
                  </a:cubicBezTo>
                  <a:cubicBezTo>
                    <a:pt x="555" y="212"/>
                    <a:pt x="511" y="198"/>
                    <a:pt x="444" y="198"/>
                  </a:cubicBezTo>
                  <a:cubicBezTo>
                    <a:pt x="391" y="198"/>
                    <a:pt x="345" y="206"/>
                    <a:pt x="324" y="220"/>
                  </a:cubicBezTo>
                  <a:cubicBezTo>
                    <a:pt x="303" y="234"/>
                    <a:pt x="287" y="257"/>
                    <a:pt x="287" y="279"/>
                  </a:cubicBezTo>
                  <a:cubicBezTo>
                    <a:pt x="287" y="310"/>
                    <a:pt x="303" y="332"/>
                    <a:pt x="324" y="346"/>
                  </a:cubicBezTo>
                  <a:cubicBezTo>
                    <a:pt x="345" y="360"/>
                    <a:pt x="435" y="382"/>
                    <a:pt x="592" y="413"/>
                  </a:cubicBezTo>
                  <a:cubicBezTo>
                    <a:pt x="695" y="435"/>
                    <a:pt x="767" y="472"/>
                    <a:pt x="820" y="525"/>
                  </a:cubicBezTo>
                  <a:cubicBezTo>
                    <a:pt x="871" y="575"/>
                    <a:pt x="893" y="633"/>
                    <a:pt x="893" y="709"/>
                  </a:cubicBezTo>
                  <a:cubicBezTo>
                    <a:pt x="893" y="804"/>
                    <a:pt x="858" y="886"/>
                    <a:pt x="784" y="946"/>
                  </a:cubicBezTo>
                  <a:cubicBezTo>
                    <a:pt x="710" y="1006"/>
                    <a:pt x="597" y="1032"/>
                    <a:pt x="449" y="1032"/>
                  </a:cubicBezTo>
                  <a:cubicBezTo>
                    <a:pt x="296" y="1032"/>
                    <a:pt x="184" y="1005"/>
                    <a:pt x="112" y="938"/>
                  </a:cubicBezTo>
                  <a:cubicBezTo>
                    <a:pt x="36" y="871"/>
                    <a:pt x="0" y="790"/>
                    <a:pt x="0" y="695"/>
                  </a:cubicBezTo>
                  <a:lnTo>
                    <a:pt x="265" y="695"/>
                  </a:lnTo>
                  <a:lnTo>
                    <a:pt x="265" y="68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  <p:sp>
          <p:nvSpPr>
            <p:cNvPr id="126" name="Freeform 19"/>
            <p:cNvSpPr>
              <a:spLocks noChangeArrowheads="1"/>
            </p:cNvSpPr>
            <p:nvPr/>
          </p:nvSpPr>
          <p:spPr bwMode="auto">
            <a:xfrm>
              <a:off x="1096963" y="2925763"/>
              <a:ext cx="719137" cy="719137"/>
            </a:xfrm>
            <a:custGeom>
              <a:avLst/>
              <a:gdLst>
                <a:gd name="T0" fmla="*/ 1189 w 1997"/>
                <a:gd name="T1" fmla="*/ 198 h 1996"/>
                <a:gd name="T2" fmla="*/ 1797 w 1997"/>
                <a:gd name="T3" fmla="*/ 803 h 1996"/>
                <a:gd name="T4" fmla="*/ 1996 w 1997"/>
                <a:gd name="T5" fmla="*/ 996 h 1996"/>
                <a:gd name="T6" fmla="*/ 1996 w 1997"/>
                <a:gd name="T7" fmla="*/ 996 h 1996"/>
                <a:gd name="T8" fmla="*/ 1797 w 1997"/>
                <a:gd name="T9" fmla="*/ 1189 h 1996"/>
                <a:gd name="T10" fmla="*/ 1797 w 1997"/>
                <a:gd name="T11" fmla="*/ 1189 h 1996"/>
                <a:gd name="T12" fmla="*/ 1189 w 1997"/>
                <a:gd name="T13" fmla="*/ 1794 h 1996"/>
                <a:gd name="T14" fmla="*/ 999 w 1997"/>
                <a:gd name="T15" fmla="*/ 1995 h 1996"/>
                <a:gd name="T16" fmla="*/ 999 w 1997"/>
                <a:gd name="T17" fmla="*/ 1995 h 1996"/>
                <a:gd name="T18" fmla="*/ 807 w 1997"/>
                <a:gd name="T19" fmla="*/ 1794 h 1996"/>
                <a:gd name="T20" fmla="*/ 201 w 1997"/>
                <a:gd name="T21" fmla="*/ 1189 h 1996"/>
                <a:gd name="T22" fmla="*/ 0 w 1997"/>
                <a:gd name="T23" fmla="*/ 996 h 1996"/>
                <a:gd name="T24" fmla="*/ 0 w 1997"/>
                <a:gd name="T25" fmla="*/ 996 h 1996"/>
                <a:gd name="T26" fmla="*/ 201 w 1997"/>
                <a:gd name="T27" fmla="*/ 803 h 1996"/>
                <a:gd name="T28" fmla="*/ 807 w 1997"/>
                <a:gd name="T29" fmla="*/ 198 h 1996"/>
                <a:gd name="T30" fmla="*/ 999 w 1997"/>
                <a:gd name="T31" fmla="*/ 0 h 1996"/>
                <a:gd name="T32" fmla="*/ 999 w 1997"/>
                <a:gd name="T33" fmla="*/ 0 h 1996"/>
                <a:gd name="T34" fmla="*/ 1189 w 1997"/>
                <a:gd name="T35" fmla="*/ 198 h 1996"/>
                <a:gd name="T36" fmla="*/ 999 w 1997"/>
                <a:gd name="T37" fmla="*/ 1322 h 1996"/>
                <a:gd name="T38" fmla="*/ 1323 w 1997"/>
                <a:gd name="T39" fmla="*/ 996 h 1996"/>
                <a:gd name="T40" fmla="*/ 999 w 1997"/>
                <a:gd name="T41" fmla="*/ 672 h 1996"/>
                <a:gd name="T42" fmla="*/ 673 w 1997"/>
                <a:gd name="T43" fmla="*/ 996 h 1996"/>
                <a:gd name="T44" fmla="*/ 999 w 1997"/>
                <a:gd name="T45" fmla="*/ 1322 h 1996"/>
                <a:gd name="T46" fmla="*/ 570 w 1997"/>
                <a:gd name="T47" fmla="*/ 502 h 1996"/>
                <a:gd name="T48" fmla="*/ 924 w 1997"/>
                <a:gd name="T49" fmla="*/ 502 h 1996"/>
                <a:gd name="T50" fmla="*/ 924 w 1997"/>
                <a:gd name="T51" fmla="*/ 346 h 1996"/>
                <a:gd name="T52" fmla="*/ 570 w 1997"/>
                <a:gd name="T53" fmla="*/ 502 h 1996"/>
                <a:gd name="T54" fmla="*/ 1086 w 1997"/>
                <a:gd name="T55" fmla="*/ 502 h 1996"/>
                <a:gd name="T56" fmla="*/ 1443 w 1997"/>
                <a:gd name="T57" fmla="*/ 502 h 1996"/>
                <a:gd name="T58" fmla="*/ 1086 w 1997"/>
                <a:gd name="T59" fmla="*/ 346 h 1996"/>
                <a:gd name="T60" fmla="*/ 1086 w 1997"/>
                <a:gd name="T61" fmla="*/ 502 h 1996"/>
                <a:gd name="T62" fmla="*/ 999 w 1997"/>
                <a:gd name="T63" fmla="*/ 1646 h 1996"/>
                <a:gd name="T64" fmla="*/ 1435 w 1997"/>
                <a:gd name="T65" fmla="*/ 1484 h 1996"/>
                <a:gd name="T66" fmla="*/ 570 w 1997"/>
                <a:gd name="T67" fmla="*/ 1484 h 1996"/>
                <a:gd name="T68" fmla="*/ 999 w 1997"/>
                <a:gd name="T69" fmla="*/ 1646 h 1996"/>
                <a:gd name="T70" fmla="*/ 999 w 1997"/>
                <a:gd name="T71" fmla="*/ 1158 h 1996"/>
                <a:gd name="T72" fmla="*/ 1161 w 1997"/>
                <a:gd name="T73" fmla="*/ 996 h 1996"/>
                <a:gd name="T74" fmla="*/ 999 w 1997"/>
                <a:gd name="T75" fmla="*/ 834 h 1996"/>
                <a:gd name="T76" fmla="*/ 835 w 1997"/>
                <a:gd name="T77" fmla="*/ 996 h 1996"/>
                <a:gd name="T78" fmla="*/ 999 w 1997"/>
                <a:gd name="T79" fmla="*/ 1158 h 1996"/>
                <a:gd name="T80" fmla="*/ 637 w 1997"/>
                <a:gd name="T81" fmla="*/ 1322 h 1996"/>
                <a:gd name="T82" fmla="*/ 511 w 1997"/>
                <a:gd name="T83" fmla="*/ 996 h 1996"/>
                <a:gd name="T84" fmla="*/ 637 w 1997"/>
                <a:gd name="T85" fmla="*/ 672 h 1996"/>
                <a:gd name="T86" fmla="*/ 436 w 1997"/>
                <a:gd name="T87" fmla="*/ 672 h 1996"/>
                <a:gd name="T88" fmla="*/ 349 w 1997"/>
                <a:gd name="T89" fmla="*/ 996 h 1996"/>
                <a:gd name="T90" fmla="*/ 436 w 1997"/>
                <a:gd name="T91" fmla="*/ 1322 h 1996"/>
                <a:gd name="T92" fmla="*/ 637 w 1997"/>
                <a:gd name="T93" fmla="*/ 1322 h 1996"/>
                <a:gd name="T94" fmla="*/ 1569 w 1997"/>
                <a:gd name="T95" fmla="*/ 1322 h 1996"/>
                <a:gd name="T96" fmla="*/ 1655 w 1997"/>
                <a:gd name="T97" fmla="*/ 996 h 1996"/>
                <a:gd name="T98" fmla="*/ 1569 w 1997"/>
                <a:gd name="T99" fmla="*/ 672 h 1996"/>
                <a:gd name="T100" fmla="*/ 1368 w 1997"/>
                <a:gd name="T101" fmla="*/ 672 h 1996"/>
                <a:gd name="T102" fmla="*/ 1493 w 1997"/>
                <a:gd name="T103" fmla="*/ 996 h 1996"/>
                <a:gd name="T104" fmla="*/ 1368 w 1997"/>
                <a:gd name="T105" fmla="*/ 1322 h 1996"/>
                <a:gd name="T106" fmla="*/ 1569 w 1997"/>
                <a:gd name="T107" fmla="*/ 1322 h 19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97" h="1996">
                  <a:moveTo>
                    <a:pt x="1189" y="198"/>
                  </a:moveTo>
                  <a:cubicBezTo>
                    <a:pt x="1493" y="273"/>
                    <a:pt x="1730" y="508"/>
                    <a:pt x="1797" y="803"/>
                  </a:cubicBezTo>
                  <a:cubicBezTo>
                    <a:pt x="1820" y="907"/>
                    <a:pt x="1892" y="982"/>
                    <a:pt x="1996" y="996"/>
                  </a:cubicBezTo>
                  <a:lnTo>
                    <a:pt x="1996" y="996"/>
                  </a:lnTo>
                  <a:cubicBezTo>
                    <a:pt x="1892" y="1004"/>
                    <a:pt x="1820" y="1085"/>
                    <a:pt x="1797" y="1189"/>
                  </a:cubicBezTo>
                  <a:lnTo>
                    <a:pt x="1797" y="1189"/>
                  </a:lnTo>
                  <a:cubicBezTo>
                    <a:pt x="1722" y="1493"/>
                    <a:pt x="1485" y="1727"/>
                    <a:pt x="1189" y="1794"/>
                  </a:cubicBezTo>
                  <a:cubicBezTo>
                    <a:pt x="1086" y="1816"/>
                    <a:pt x="1013" y="1892"/>
                    <a:pt x="999" y="1995"/>
                  </a:cubicBezTo>
                  <a:lnTo>
                    <a:pt x="999" y="1995"/>
                  </a:lnTo>
                  <a:cubicBezTo>
                    <a:pt x="991" y="1883"/>
                    <a:pt x="910" y="1816"/>
                    <a:pt x="807" y="1794"/>
                  </a:cubicBezTo>
                  <a:cubicBezTo>
                    <a:pt x="503" y="1722"/>
                    <a:pt x="265" y="1484"/>
                    <a:pt x="201" y="1189"/>
                  </a:cubicBezTo>
                  <a:cubicBezTo>
                    <a:pt x="179" y="1085"/>
                    <a:pt x="103" y="1010"/>
                    <a:pt x="0" y="996"/>
                  </a:cubicBezTo>
                  <a:lnTo>
                    <a:pt x="0" y="996"/>
                  </a:lnTo>
                  <a:cubicBezTo>
                    <a:pt x="112" y="988"/>
                    <a:pt x="179" y="907"/>
                    <a:pt x="201" y="803"/>
                  </a:cubicBezTo>
                  <a:cubicBezTo>
                    <a:pt x="274" y="502"/>
                    <a:pt x="511" y="265"/>
                    <a:pt x="807" y="198"/>
                  </a:cubicBezTo>
                  <a:cubicBezTo>
                    <a:pt x="910" y="175"/>
                    <a:pt x="983" y="103"/>
                    <a:pt x="999" y="0"/>
                  </a:cubicBezTo>
                  <a:lnTo>
                    <a:pt x="999" y="0"/>
                  </a:lnTo>
                  <a:cubicBezTo>
                    <a:pt x="1013" y="103"/>
                    <a:pt x="1086" y="175"/>
                    <a:pt x="1189" y="198"/>
                  </a:cubicBezTo>
                  <a:close/>
                  <a:moveTo>
                    <a:pt x="999" y="1322"/>
                  </a:moveTo>
                  <a:cubicBezTo>
                    <a:pt x="1184" y="1322"/>
                    <a:pt x="1323" y="1175"/>
                    <a:pt x="1323" y="996"/>
                  </a:cubicBezTo>
                  <a:cubicBezTo>
                    <a:pt x="1323" y="812"/>
                    <a:pt x="1177" y="672"/>
                    <a:pt x="999" y="672"/>
                  </a:cubicBezTo>
                  <a:cubicBezTo>
                    <a:pt x="822" y="672"/>
                    <a:pt x="673" y="819"/>
                    <a:pt x="673" y="996"/>
                  </a:cubicBezTo>
                  <a:cubicBezTo>
                    <a:pt x="673" y="1173"/>
                    <a:pt x="821" y="1322"/>
                    <a:pt x="999" y="1322"/>
                  </a:cubicBezTo>
                  <a:close/>
                  <a:moveTo>
                    <a:pt x="570" y="502"/>
                  </a:moveTo>
                  <a:lnTo>
                    <a:pt x="924" y="502"/>
                  </a:lnTo>
                  <a:lnTo>
                    <a:pt x="924" y="346"/>
                  </a:lnTo>
                  <a:cubicBezTo>
                    <a:pt x="784" y="360"/>
                    <a:pt x="664" y="413"/>
                    <a:pt x="570" y="502"/>
                  </a:cubicBezTo>
                  <a:close/>
                  <a:moveTo>
                    <a:pt x="1086" y="502"/>
                  </a:moveTo>
                  <a:lnTo>
                    <a:pt x="1443" y="502"/>
                  </a:lnTo>
                  <a:cubicBezTo>
                    <a:pt x="1345" y="413"/>
                    <a:pt x="1220" y="360"/>
                    <a:pt x="1086" y="346"/>
                  </a:cubicBezTo>
                  <a:lnTo>
                    <a:pt x="1086" y="502"/>
                  </a:lnTo>
                  <a:close/>
                  <a:moveTo>
                    <a:pt x="999" y="1646"/>
                  </a:moveTo>
                  <a:cubicBezTo>
                    <a:pt x="1197" y="1646"/>
                    <a:pt x="1317" y="1588"/>
                    <a:pt x="1435" y="1484"/>
                  </a:cubicBezTo>
                  <a:lnTo>
                    <a:pt x="570" y="1484"/>
                  </a:lnTo>
                  <a:cubicBezTo>
                    <a:pt x="687" y="1588"/>
                    <a:pt x="835" y="1646"/>
                    <a:pt x="999" y="1646"/>
                  </a:cubicBezTo>
                  <a:close/>
                  <a:moveTo>
                    <a:pt x="999" y="1158"/>
                  </a:moveTo>
                  <a:cubicBezTo>
                    <a:pt x="1086" y="1158"/>
                    <a:pt x="1161" y="1085"/>
                    <a:pt x="1161" y="996"/>
                  </a:cubicBezTo>
                  <a:cubicBezTo>
                    <a:pt x="1161" y="907"/>
                    <a:pt x="1087" y="834"/>
                    <a:pt x="999" y="834"/>
                  </a:cubicBezTo>
                  <a:cubicBezTo>
                    <a:pt x="911" y="834"/>
                    <a:pt x="835" y="907"/>
                    <a:pt x="835" y="996"/>
                  </a:cubicBezTo>
                  <a:cubicBezTo>
                    <a:pt x="835" y="1085"/>
                    <a:pt x="910" y="1158"/>
                    <a:pt x="999" y="1158"/>
                  </a:cubicBezTo>
                  <a:close/>
                  <a:moveTo>
                    <a:pt x="637" y="1322"/>
                  </a:moveTo>
                  <a:cubicBezTo>
                    <a:pt x="556" y="1233"/>
                    <a:pt x="511" y="1122"/>
                    <a:pt x="511" y="996"/>
                  </a:cubicBezTo>
                  <a:cubicBezTo>
                    <a:pt x="511" y="870"/>
                    <a:pt x="556" y="753"/>
                    <a:pt x="637" y="672"/>
                  </a:cubicBezTo>
                  <a:lnTo>
                    <a:pt x="436" y="672"/>
                  </a:lnTo>
                  <a:cubicBezTo>
                    <a:pt x="377" y="767"/>
                    <a:pt x="349" y="879"/>
                    <a:pt x="349" y="996"/>
                  </a:cubicBezTo>
                  <a:cubicBezTo>
                    <a:pt x="349" y="1113"/>
                    <a:pt x="377" y="1225"/>
                    <a:pt x="436" y="1322"/>
                  </a:cubicBezTo>
                  <a:lnTo>
                    <a:pt x="637" y="1322"/>
                  </a:lnTo>
                  <a:close/>
                  <a:moveTo>
                    <a:pt x="1569" y="1322"/>
                  </a:moveTo>
                  <a:cubicBezTo>
                    <a:pt x="1619" y="1225"/>
                    <a:pt x="1655" y="1113"/>
                    <a:pt x="1655" y="996"/>
                  </a:cubicBezTo>
                  <a:cubicBezTo>
                    <a:pt x="1655" y="879"/>
                    <a:pt x="1627" y="767"/>
                    <a:pt x="1569" y="672"/>
                  </a:cubicBezTo>
                  <a:lnTo>
                    <a:pt x="1368" y="672"/>
                  </a:lnTo>
                  <a:cubicBezTo>
                    <a:pt x="1443" y="759"/>
                    <a:pt x="1493" y="870"/>
                    <a:pt x="1493" y="996"/>
                  </a:cubicBezTo>
                  <a:cubicBezTo>
                    <a:pt x="1493" y="1122"/>
                    <a:pt x="1443" y="1239"/>
                    <a:pt x="1368" y="1322"/>
                  </a:cubicBezTo>
                  <a:lnTo>
                    <a:pt x="1569" y="13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414141"/>
                </a:solidFill>
                <a:latin typeface="Arial"/>
                <a:cs typeface="SimSun" charset="0"/>
              </a:endParaRPr>
            </a:p>
          </p:txBody>
        </p:sp>
      </p:grpSp>
      <p:sp>
        <p:nvSpPr>
          <p:cNvPr id="128" name="Title 1"/>
          <p:cNvSpPr>
            <a:spLocks noGrp="1"/>
          </p:cNvSpPr>
          <p:nvPr>
            <p:ph type="ctrTitle" hasCustomPrompt="1"/>
          </p:nvPr>
        </p:nvSpPr>
        <p:spPr>
          <a:xfrm>
            <a:off x="1187863" y="2356529"/>
            <a:ext cx="7653702" cy="392669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800" b="1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2" name="正方形/長方形 11"/>
          <p:cNvSpPr>
            <a:spLocks noChangeArrowheads="1"/>
          </p:cNvSpPr>
          <p:nvPr userDrawn="1"/>
        </p:nvSpPr>
        <p:spPr bwMode="gray">
          <a:xfrm>
            <a:off x="-7472" y="2057426"/>
            <a:ext cx="9153144" cy="974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ja-JP" altLang="en-US">
              <a:solidFill>
                <a:prstClr val="whit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50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pic>
        <p:nvPicPr>
          <p:cNvPr id="3" name="図 2" descr="ea60_010_030_dmac [更新済み].wmf"/>
          <p:cNvPicPr preferRelativeResize="0"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gray">
          <a:xfrm>
            <a:off x="3226003" y="2167156"/>
            <a:ext cx="2691994" cy="7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2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0"/>
            <a:ext cx="9136469" cy="5153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0" name="AutoShape 42"/>
          <p:cNvSpPr>
            <a:spLocks noChangeAspect="1" noChangeArrowheads="1" noTextEdit="1"/>
          </p:cNvSpPr>
          <p:nvPr/>
        </p:nvSpPr>
        <p:spPr bwMode="auto">
          <a:xfrm>
            <a:off x="-2081054" y="-12701"/>
            <a:ext cx="11241148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3" name="Text Placeholder 53"/>
          <p:cNvSpPr>
            <a:spLocks noGrp="1"/>
          </p:cNvSpPr>
          <p:nvPr>
            <p:ph type="body" idx="1"/>
          </p:nvPr>
        </p:nvSpPr>
        <p:spPr>
          <a:xfrm>
            <a:off x="264160" y="967575"/>
            <a:ext cx="8584006" cy="196130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111200" y="4911221"/>
            <a:ext cx="29931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kern="1200" dirty="0">
                <a:solidFill>
                  <a:schemeClr val="bg2">
                    <a:lumMod val="75000"/>
                    <a:alpha val="50000"/>
                  </a:schemeClr>
                </a:solidFill>
                <a:latin typeface="+mn-lt"/>
                <a:ea typeface="+mn-ea"/>
                <a:cs typeface="+mn-cs"/>
              </a:rPr>
              <a:t>© Hitachi Data Systems Corporation 2016. All rights reserved.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64160" y="53113"/>
            <a:ext cx="7051040" cy="732441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611" y="491545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111F478C-84AE-4601-9BE4-60468A3A6C06}" type="slidenum">
              <a:rPr lang="en-US" sz="800" smtClean="0">
                <a:solidFill>
                  <a:schemeClr val="tx1">
                    <a:alpha val="50000"/>
                  </a:schemeClr>
                </a:solidFill>
                <a:latin typeface="+mj-lt"/>
              </a:rPr>
              <a:pPr algn="l"/>
              <a:t>‹#›</a:t>
            </a:fld>
            <a:endParaRPr lang="en-US" sz="800" dirty="0">
              <a:solidFill>
                <a:schemeClr val="tx1">
                  <a:alpha val="50000"/>
                </a:schemeClr>
              </a:solidFill>
              <a:latin typeface="+mj-lt"/>
            </a:endParaRPr>
          </a:p>
        </p:txBody>
      </p:sp>
      <p:grpSp>
        <p:nvGrpSpPr>
          <p:cNvPr id="43" name="グループ化 59"/>
          <p:cNvGrpSpPr/>
          <p:nvPr/>
        </p:nvGrpSpPr>
        <p:grpSpPr>
          <a:xfrm>
            <a:off x="-4" y="818837"/>
            <a:ext cx="9145616" cy="57656"/>
            <a:chOff x="-4" y="739775"/>
            <a:chExt cx="9145616" cy="76874"/>
          </a:xfrm>
        </p:grpSpPr>
        <p:sp>
          <p:nvSpPr>
            <p:cNvPr id="44" name="正方形/長方形 11"/>
            <p:cNvSpPr>
              <a:spLocks noChangeArrowheads="1"/>
            </p:cNvSpPr>
            <p:nvPr/>
          </p:nvSpPr>
          <p:spPr bwMode="auto">
            <a:xfrm>
              <a:off x="1481331" y="739775"/>
              <a:ext cx="7664281" cy="76874"/>
            </a:xfrm>
            <a:prstGeom prst="rect">
              <a:avLst/>
            </a:prstGeom>
            <a:solidFill>
              <a:srgbClr val="73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ja-JP" altLang="en-US"/>
            </a:p>
          </p:txBody>
        </p:sp>
        <p:grpSp>
          <p:nvGrpSpPr>
            <p:cNvPr id="60" name="グループ化 62"/>
            <p:cNvGrpSpPr/>
            <p:nvPr userDrawn="1"/>
          </p:nvGrpSpPr>
          <p:grpSpPr>
            <a:xfrm>
              <a:off x="-4" y="740968"/>
              <a:ext cx="1481335" cy="74492"/>
              <a:chOff x="312738" y="2749710"/>
              <a:chExt cx="1970086" cy="109547"/>
            </a:xfrm>
          </p:grpSpPr>
          <p:sp>
            <p:nvSpPr>
              <p:cNvPr id="61" name="正方形/長方形 62"/>
              <p:cNvSpPr/>
              <p:nvPr/>
            </p:nvSpPr>
            <p:spPr bwMode="auto">
              <a:xfrm>
                <a:off x="1298574" y="2749710"/>
                <a:ext cx="984250" cy="109537"/>
              </a:xfrm>
              <a:prstGeom prst="rect">
                <a:avLst/>
              </a:prstGeom>
              <a:solidFill>
                <a:srgbClr val="CC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2" name="正方形/長方形 63"/>
              <p:cNvSpPr/>
              <p:nvPr/>
            </p:nvSpPr>
            <p:spPr bwMode="auto">
              <a:xfrm>
                <a:off x="312738" y="2749720"/>
                <a:ext cx="985838" cy="109537"/>
              </a:xfrm>
              <a:prstGeom prst="rect">
                <a:avLst/>
              </a:prstGeom>
              <a:solidFill>
                <a:srgbClr val="B3B3B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ja-JP" altLang="en-US" sz="1800" kern="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83" name="Group 82"/>
          <p:cNvGrpSpPr/>
          <p:nvPr/>
        </p:nvGrpSpPr>
        <p:grpSpPr>
          <a:xfrm>
            <a:off x="7684913" y="225822"/>
            <a:ext cx="1247904" cy="356665"/>
            <a:chOff x="2751138" y="3262313"/>
            <a:chExt cx="4665662" cy="1333500"/>
          </a:xfrm>
          <a:solidFill>
            <a:schemeClr val="tx1"/>
          </a:solidFill>
        </p:grpSpPr>
        <p:sp>
          <p:nvSpPr>
            <p:cNvPr id="84" name="Freeform 1"/>
            <p:cNvSpPr>
              <a:spLocks noChangeArrowheads="1"/>
            </p:cNvSpPr>
            <p:nvPr/>
          </p:nvSpPr>
          <p:spPr bwMode="auto">
            <a:xfrm>
              <a:off x="618013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4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2"/>
            <p:cNvSpPr>
              <a:spLocks noChangeArrowheads="1"/>
            </p:cNvSpPr>
            <p:nvPr/>
          </p:nvSpPr>
          <p:spPr bwMode="auto">
            <a:xfrm>
              <a:off x="4083050" y="3275013"/>
              <a:ext cx="677863" cy="631825"/>
            </a:xfrm>
            <a:custGeom>
              <a:avLst/>
              <a:gdLst>
                <a:gd name="T0" fmla="*/ 1883 w 1884"/>
                <a:gd name="T1" fmla="*/ 0 h 1755"/>
                <a:gd name="T2" fmla="*/ 1883 w 1884"/>
                <a:gd name="T3" fmla="*/ 298 h 1755"/>
                <a:gd name="T4" fmla="*/ 1174 w 1884"/>
                <a:gd name="T5" fmla="*/ 298 h 1755"/>
                <a:gd name="T6" fmla="*/ 1174 w 1884"/>
                <a:gd name="T7" fmla="*/ 1754 h 1755"/>
                <a:gd name="T8" fmla="*/ 709 w 1884"/>
                <a:gd name="T9" fmla="*/ 1754 h 1755"/>
                <a:gd name="T10" fmla="*/ 709 w 1884"/>
                <a:gd name="T11" fmla="*/ 298 h 1755"/>
                <a:gd name="T12" fmla="*/ 0 w 1884"/>
                <a:gd name="T13" fmla="*/ 298 h 1755"/>
                <a:gd name="T14" fmla="*/ 0 w 1884"/>
                <a:gd name="T15" fmla="*/ 0 h 1755"/>
                <a:gd name="T16" fmla="*/ 1883 w 1884"/>
                <a:gd name="T17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4" h="1755">
                  <a:moveTo>
                    <a:pt x="1883" y="0"/>
                  </a:moveTo>
                  <a:cubicBezTo>
                    <a:pt x="1883" y="4"/>
                    <a:pt x="1883" y="298"/>
                    <a:pt x="1883" y="298"/>
                  </a:cubicBezTo>
                  <a:lnTo>
                    <a:pt x="1174" y="298"/>
                  </a:lnTo>
                  <a:lnTo>
                    <a:pt x="1174" y="1754"/>
                  </a:lnTo>
                  <a:lnTo>
                    <a:pt x="709" y="1754"/>
                  </a:lnTo>
                  <a:lnTo>
                    <a:pt x="709" y="298"/>
                  </a:lnTo>
                  <a:lnTo>
                    <a:pt x="0" y="298"/>
                  </a:lnTo>
                  <a:lnTo>
                    <a:pt x="0" y="0"/>
                  </a:lnTo>
                  <a:lnTo>
                    <a:pt x="188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3"/>
            <p:cNvSpPr>
              <a:spLocks noChangeArrowheads="1"/>
            </p:cNvSpPr>
            <p:nvPr/>
          </p:nvSpPr>
          <p:spPr bwMode="auto">
            <a:xfrm>
              <a:off x="4614863" y="3275013"/>
              <a:ext cx="796925" cy="631825"/>
            </a:xfrm>
            <a:custGeom>
              <a:avLst/>
              <a:gdLst>
                <a:gd name="T0" fmla="*/ 2214 w 2215"/>
                <a:gd name="T1" fmla="*/ 1754 h 1755"/>
                <a:gd name="T2" fmla="*/ 1695 w 2215"/>
                <a:gd name="T3" fmla="*/ 1754 h 1755"/>
                <a:gd name="T4" fmla="*/ 1542 w 2215"/>
                <a:gd name="T5" fmla="*/ 1377 h 1755"/>
                <a:gd name="T6" fmla="*/ 672 w 2215"/>
                <a:gd name="T7" fmla="*/ 1377 h 1755"/>
                <a:gd name="T8" fmla="*/ 518 w 2215"/>
                <a:gd name="T9" fmla="*/ 1754 h 1755"/>
                <a:gd name="T10" fmla="*/ 0 w 2215"/>
                <a:gd name="T11" fmla="*/ 1754 h 1755"/>
                <a:gd name="T12" fmla="*/ 825 w 2215"/>
                <a:gd name="T13" fmla="*/ 0 h 1755"/>
                <a:gd name="T14" fmla="*/ 1392 w 2215"/>
                <a:gd name="T15" fmla="*/ 0 h 1755"/>
                <a:gd name="T16" fmla="*/ 2214 w 2215"/>
                <a:gd name="T17" fmla="*/ 1754 h 1755"/>
                <a:gd name="T18" fmla="*/ 788 w 2215"/>
                <a:gd name="T19" fmla="*/ 1095 h 1755"/>
                <a:gd name="T20" fmla="*/ 1434 w 2215"/>
                <a:gd name="T21" fmla="*/ 1095 h 1755"/>
                <a:gd name="T22" fmla="*/ 1107 w 2215"/>
                <a:gd name="T23" fmla="*/ 298 h 1755"/>
                <a:gd name="T24" fmla="*/ 788 w 2215"/>
                <a:gd name="T25" fmla="*/ 1095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15" h="1755">
                  <a:moveTo>
                    <a:pt x="2214" y="1754"/>
                  </a:moveTo>
                  <a:cubicBezTo>
                    <a:pt x="2214" y="1754"/>
                    <a:pt x="1691" y="1754"/>
                    <a:pt x="1695" y="1754"/>
                  </a:cubicBezTo>
                  <a:lnTo>
                    <a:pt x="1542" y="1377"/>
                  </a:lnTo>
                  <a:lnTo>
                    <a:pt x="672" y="1377"/>
                  </a:lnTo>
                  <a:cubicBezTo>
                    <a:pt x="672" y="1377"/>
                    <a:pt x="522" y="1754"/>
                    <a:pt x="518" y="1754"/>
                  </a:cubicBezTo>
                  <a:lnTo>
                    <a:pt x="0" y="1754"/>
                  </a:lnTo>
                  <a:lnTo>
                    <a:pt x="825" y="0"/>
                  </a:lnTo>
                  <a:lnTo>
                    <a:pt x="1392" y="0"/>
                  </a:lnTo>
                  <a:lnTo>
                    <a:pt x="2214" y="1754"/>
                  </a:lnTo>
                  <a:close/>
                  <a:moveTo>
                    <a:pt x="788" y="1095"/>
                  </a:moveTo>
                  <a:lnTo>
                    <a:pt x="1434" y="1095"/>
                  </a:lnTo>
                  <a:lnTo>
                    <a:pt x="1107" y="298"/>
                  </a:lnTo>
                  <a:lnTo>
                    <a:pt x="788" y="109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4"/>
            <p:cNvSpPr>
              <a:spLocks noChangeArrowheads="1"/>
            </p:cNvSpPr>
            <p:nvPr/>
          </p:nvSpPr>
          <p:spPr bwMode="auto">
            <a:xfrm>
              <a:off x="6985000" y="3275013"/>
              <a:ext cx="166688" cy="631825"/>
            </a:xfrm>
            <a:custGeom>
              <a:avLst/>
              <a:gdLst>
                <a:gd name="T0" fmla="*/ 232 w 465"/>
                <a:gd name="T1" fmla="*/ 1754 h 1755"/>
                <a:gd name="T2" fmla="*/ 0 w 465"/>
                <a:gd name="T3" fmla="*/ 1754 h 1755"/>
                <a:gd name="T4" fmla="*/ 0 w 465"/>
                <a:gd name="T5" fmla="*/ 0 h 1755"/>
                <a:gd name="T6" fmla="*/ 464 w 465"/>
                <a:gd name="T7" fmla="*/ 0 h 1755"/>
                <a:gd name="T8" fmla="*/ 464 w 465"/>
                <a:gd name="T9" fmla="*/ 1754 h 1755"/>
                <a:gd name="T10" fmla="*/ 232 w 465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5" h="1755">
                  <a:moveTo>
                    <a:pt x="232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1754"/>
                  </a:lnTo>
                  <a:lnTo>
                    <a:pt x="232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5"/>
            <p:cNvSpPr>
              <a:spLocks noChangeArrowheads="1"/>
            </p:cNvSpPr>
            <p:nvPr/>
          </p:nvSpPr>
          <p:spPr bwMode="auto">
            <a:xfrm>
              <a:off x="3049588" y="3275013"/>
              <a:ext cx="673100" cy="631825"/>
            </a:xfrm>
            <a:custGeom>
              <a:avLst/>
              <a:gdLst>
                <a:gd name="T0" fmla="*/ 465 w 1868"/>
                <a:gd name="T1" fmla="*/ 0 h 1755"/>
                <a:gd name="T2" fmla="*/ 465 w 1868"/>
                <a:gd name="T3" fmla="*/ 700 h 1755"/>
                <a:gd name="T4" fmla="*/ 1402 w 1868"/>
                <a:gd name="T5" fmla="*/ 700 h 1755"/>
                <a:gd name="T6" fmla="*/ 1402 w 1868"/>
                <a:gd name="T7" fmla="*/ 0 h 1755"/>
                <a:gd name="T8" fmla="*/ 1867 w 1868"/>
                <a:gd name="T9" fmla="*/ 0 h 1755"/>
                <a:gd name="T10" fmla="*/ 1867 w 1868"/>
                <a:gd name="T11" fmla="*/ 1754 h 1755"/>
                <a:gd name="T12" fmla="*/ 1402 w 1868"/>
                <a:gd name="T13" fmla="*/ 1754 h 1755"/>
                <a:gd name="T14" fmla="*/ 1402 w 1868"/>
                <a:gd name="T15" fmla="*/ 983 h 1755"/>
                <a:gd name="T16" fmla="*/ 465 w 1868"/>
                <a:gd name="T17" fmla="*/ 983 h 1755"/>
                <a:gd name="T18" fmla="*/ 465 w 1868"/>
                <a:gd name="T19" fmla="*/ 1754 h 1755"/>
                <a:gd name="T20" fmla="*/ 0 w 1868"/>
                <a:gd name="T21" fmla="*/ 1754 h 1755"/>
                <a:gd name="T22" fmla="*/ 0 w 1868"/>
                <a:gd name="T23" fmla="*/ 0 h 1755"/>
                <a:gd name="T24" fmla="*/ 465 w 1868"/>
                <a:gd name="T25" fmla="*/ 0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68" h="1755">
                  <a:moveTo>
                    <a:pt x="465" y="0"/>
                  </a:moveTo>
                  <a:cubicBezTo>
                    <a:pt x="465" y="0"/>
                    <a:pt x="465" y="705"/>
                    <a:pt x="465" y="700"/>
                  </a:cubicBezTo>
                  <a:lnTo>
                    <a:pt x="1402" y="700"/>
                  </a:lnTo>
                  <a:cubicBezTo>
                    <a:pt x="1402" y="705"/>
                    <a:pt x="1402" y="0"/>
                    <a:pt x="1402" y="0"/>
                  </a:cubicBezTo>
                  <a:cubicBezTo>
                    <a:pt x="1402" y="0"/>
                    <a:pt x="1863" y="0"/>
                    <a:pt x="1867" y="0"/>
                  </a:cubicBezTo>
                  <a:cubicBezTo>
                    <a:pt x="1867" y="0"/>
                    <a:pt x="1867" y="1750"/>
                    <a:pt x="1867" y="1754"/>
                  </a:cubicBezTo>
                  <a:lnTo>
                    <a:pt x="1402" y="1754"/>
                  </a:lnTo>
                  <a:cubicBezTo>
                    <a:pt x="1402" y="1754"/>
                    <a:pt x="1402" y="987"/>
                    <a:pt x="1402" y="983"/>
                  </a:cubicBezTo>
                  <a:cubicBezTo>
                    <a:pt x="1402" y="987"/>
                    <a:pt x="465" y="983"/>
                    <a:pt x="465" y="983"/>
                  </a:cubicBezTo>
                  <a:cubicBezTo>
                    <a:pt x="465" y="987"/>
                    <a:pt x="465" y="1754"/>
                    <a:pt x="465" y="1754"/>
                  </a:cubicBezTo>
                  <a:lnTo>
                    <a:pt x="0" y="1754"/>
                  </a:lnTo>
                  <a:cubicBezTo>
                    <a:pt x="0" y="1754"/>
                    <a:pt x="5" y="0"/>
                    <a:pt x="0" y="0"/>
                  </a:cubicBezTo>
                  <a:lnTo>
                    <a:pt x="46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Freeform 6"/>
            <p:cNvSpPr>
              <a:spLocks noChangeArrowheads="1"/>
            </p:cNvSpPr>
            <p:nvPr/>
          </p:nvSpPr>
          <p:spPr bwMode="auto">
            <a:xfrm>
              <a:off x="3854450" y="3275013"/>
              <a:ext cx="168275" cy="631825"/>
            </a:xfrm>
            <a:custGeom>
              <a:avLst/>
              <a:gdLst>
                <a:gd name="T0" fmla="*/ 233 w 466"/>
                <a:gd name="T1" fmla="*/ 1754 h 1755"/>
                <a:gd name="T2" fmla="*/ 0 w 466"/>
                <a:gd name="T3" fmla="*/ 1754 h 1755"/>
                <a:gd name="T4" fmla="*/ 0 w 466"/>
                <a:gd name="T5" fmla="*/ 0 h 1755"/>
                <a:gd name="T6" fmla="*/ 465 w 466"/>
                <a:gd name="T7" fmla="*/ 0 h 1755"/>
                <a:gd name="T8" fmla="*/ 465 w 466"/>
                <a:gd name="T9" fmla="*/ 1754 h 1755"/>
                <a:gd name="T10" fmla="*/ 233 w 466"/>
                <a:gd name="T11" fmla="*/ 1754 h 1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1755">
                  <a:moveTo>
                    <a:pt x="233" y="1754"/>
                  </a:moveTo>
                  <a:lnTo>
                    <a:pt x="0" y="1754"/>
                  </a:lnTo>
                  <a:lnTo>
                    <a:pt x="0" y="0"/>
                  </a:lnTo>
                  <a:lnTo>
                    <a:pt x="465" y="0"/>
                  </a:lnTo>
                  <a:lnTo>
                    <a:pt x="465" y="1754"/>
                  </a:lnTo>
                  <a:lnTo>
                    <a:pt x="233" y="175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Freeform 7"/>
            <p:cNvSpPr>
              <a:spLocks noChangeArrowheads="1"/>
            </p:cNvSpPr>
            <p:nvPr/>
          </p:nvSpPr>
          <p:spPr bwMode="auto">
            <a:xfrm>
              <a:off x="5383213" y="3262313"/>
              <a:ext cx="715962" cy="663575"/>
            </a:xfrm>
            <a:custGeom>
              <a:avLst/>
              <a:gdLst>
                <a:gd name="T0" fmla="*/ 62 w 1988"/>
                <a:gd name="T1" fmla="*/ 1307 h 1842"/>
                <a:gd name="T2" fmla="*/ 0 w 1988"/>
                <a:gd name="T3" fmla="*/ 933 h 1842"/>
                <a:gd name="T4" fmla="*/ 120 w 1988"/>
                <a:gd name="T5" fmla="*/ 423 h 1842"/>
                <a:gd name="T6" fmla="*/ 518 w 1988"/>
                <a:gd name="T7" fmla="*/ 91 h 1842"/>
                <a:gd name="T8" fmla="*/ 1033 w 1988"/>
                <a:gd name="T9" fmla="*/ 0 h 1842"/>
                <a:gd name="T10" fmla="*/ 1618 w 1988"/>
                <a:gd name="T11" fmla="*/ 125 h 1842"/>
                <a:gd name="T12" fmla="*/ 1950 w 1988"/>
                <a:gd name="T13" fmla="*/ 531 h 1842"/>
                <a:gd name="T14" fmla="*/ 1966 w 1988"/>
                <a:gd name="T15" fmla="*/ 643 h 1842"/>
                <a:gd name="T16" fmla="*/ 1481 w 1988"/>
                <a:gd name="T17" fmla="*/ 643 h 1842"/>
                <a:gd name="T18" fmla="*/ 1456 w 1988"/>
                <a:gd name="T19" fmla="*/ 506 h 1842"/>
                <a:gd name="T20" fmla="*/ 1240 w 1988"/>
                <a:gd name="T21" fmla="*/ 303 h 1842"/>
                <a:gd name="T22" fmla="*/ 1037 w 1988"/>
                <a:gd name="T23" fmla="*/ 274 h 1842"/>
                <a:gd name="T24" fmla="*/ 809 w 1988"/>
                <a:gd name="T25" fmla="*/ 315 h 1842"/>
                <a:gd name="T26" fmla="*/ 556 w 1988"/>
                <a:gd name="T27" fmla="*/ 573 h 1842"/>
                <a:gd name="T28" fmla="*/ 494 w 1988"/>
                <a:gd name="T29" fmla="*/ 942 h 1842"/>
                <a:gd name="T30" fmla="*/ 539 w 1988"/>
                <a:gd name="T31" fmla="*/ 1249 h 1842"/>
                <a:gd name="T32" fmla="*/ 792 w 1988"/>
                <a:gd name="T33" fmla="*/ 1527 h 1842"/>
                <a:gd name="T34" fmla="*/ 1041 w 1988"/>
                <a:gd name="T35" fmla="*/ 1572 h 1842"/>
                <a:gd name="T36" fmla="*/ 1257 w 1988"/>
                <a:gd name="T37" fmla="*/ 1539 h 1842"/>
                <a:gd name="T38" fmla="*/ 1460 w 1988"/>
                <a:gd name="T39" fmla="*/ 1356 h 1842"/>
                <a:gd name="T40" fmla="*/ 1497 w 1988"/>
                <a:gd name="T41" fmla="*/ 1170 h 1842"/>
                <a:gd name="T42" fmla="*/ 1987 w 1988"/>
                <a:gd name="T43" fmla="*/ 1170 h 1842"/>
                <a:gd name="T44" fmla="*/ 1962 w 1988"/>
                <a:gd name="T45" fmla="*/ 1336 h 1842"/>
                <a:gd name="T46" fmla="*/ 1638 w 1988"/>
                <a:gd name="T47" fmla="*/ 1721 h 1842"/>
                <a:gd name="T48" fmla="*/ 1041 w 1988"/>
                <a:gd name="T49" fmla="*/ 1841 h 1842"/>
                <a:gd name="T50" fmla="*/ 568 w 1988"/>
                <a:gd name="T51" fmla="*/ 1771 h 1842"/>
                <a:gd name="T52" fmla="*/ 62 w 1988"/>
                <a:gd name="T53" fmla="*/ 1307 h 1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88" h="1842">
                  <a:moveTo>
                    <a:pt x="62" y="1307"/>
                  </a:moveTo>
                  <a:cubicBezTo>
                    <a:pt x="21" y="1191"/>
                    <a:pt x="0" y="1066"/>
                    <a:pt x="0" y="933"/>
                  </a:cubicBezTo>
                  <a:cubicBezTo>
                    <a:pt x="0" y="751"/>
                    <a:pt x="33" y="573"/>
                    <a:pt x="120" y="423"/>
                  </a:cubicBezTo>
                  <a:cubicBezTo>
                    <a:pt x="211" y="270"/>
                    <a:pt x="348" y="154"/>
                    <a:pt x="518" y="91"/>
                  </a:cubicBezTo>
                  <a:cubicBezTo>
                    <a:pt x="680" y="33"/>
                    <a:pt x="850" y="0"/>
                    <a:pt x="1033" y="0"/>
                  </a:cubicBezTo>
                  <a:cubicBezTo>
                    <a:pt x="1240" y="0"/>
                    <a:pt x="1439" y="46"/>
                    <a:pt x="1618" y="125"/>
                  </a:cubicBezTo>
                  <a:cubicBezTo>
                    <a:pt x="1784" y="195"/>
                    <a:pt x="1912" y="349"/>
                    <a:pt x="1950" y="531"/>
                  </a:cubicBezTo>
                  <a:cubicBezTo>
                    <a:pt x="1958" y="568"/>
                    <a:pt x="1962" y="606"/>
                    <a:pt x="1966" y="643"/>
                  </a:cubicBezTo>
                  <a:lnTo>
                    <a:pt x="1481" y="643"/>
                  </a:lnTo>
                  <a:cubicBezTo>
                    <a:pt x="1481" y="597"/>
                    <a:pt x="1472" y="552"/>
                    <a:pt x="1456" y="506"/>
                  </a:cubicBezTo>
                  <a:cubicBezTo>
                    <a:pt x="1419" y="411"/>
                    <a:pt x="1340" y="332"/>
                    <a:pt x="1240" y="303"/>
                  </a:cubicBezTo>
                  <a:cubicBezTo>
                    <a:pt x="1174" y="282"/>
                    <a:pt x="1107" y="274"/>
                    <a:pt x="1037" y="274"/>
                  </a:cubicBezTo>
                  <a:cubicBezTo>
                    <a:pt x="958" y="274"/>
                    <a:pt x="879" y="286"/>
                    <a:pt x="809" y="315"/>
                  </a:cubicBezTo>
                  <a:cubicBezTo>
                    <a:pt x="688" y="357"/>
                    <a:pt x="597" y="452"/>
                    <a:pt x="556" y="573"/>
                  </a:cubicBezTo>
                  <a:cubicBezTo>
                    <a:pt x="514" y="689"/>
                    <a:pt x="494" y="813"/>
                    <a:pt x="494" y="942"/>
                  </a:cubicBezTo>
                  <a:cubicBezTo>
                    <a:pt x="494" y="1050"/>
                    <a:pt x="510" y="1153"/>
                    <a:pt x="539" y="1249"/>
                  </a:cubicBezTo>
                  <a:cubicBezTo>
                    <a:pt x="572" y="1377"/>
                    <a:pt x="672" y="1481"/>
                    <a:pt x="792" y="1527"/>
                  </a:cubicBezTo>
                  <a:cubicBezTo>
                    <a:pt x="871" y="1556"/>
                    <a:pt x="954" y="1572"/>
                    <a:pt x="1041" y="1572"/>
                  </a:cubicBezTo>
                  <a:cubicBezTo>
                    <a:pt x="1116" y="1572"/>
                    <a:pt x="1186" y="1560"/>
                    <a:pt x="1257" y="1539"/>
                  </a:cubicBezTo>
                  <a:cubicBezTo>
                    <a:pt x="1348" y="1510"/>
                    <a:pt x="1423" y="1444"/>
                    <a:pt x="1460" y="1356"/>
                  </a:cubicBezTo>
                  <a:cubicBezTo>
                    <a:pt x="1485" y="1298"/>
                    <a:pt x="1497" y="1236"/>
                    <a:pt x="1497" y="1170"/>
                  </a:cubicBezTo>
                  <a:lnTo>
                    <a:pt x="1987" y="1170"/>
                  </a:lnTo>
                  <a:cubicBezTo>
                    <a:pt x="1983" y="1228"/>
                    <a:pt x="1974" y="1282"/>
                    <a:pt x="1962" y="1336"/>
                  </a:cubicBezTo>
                  <a:cubicBezTo>
                    <a:pt x="1920" y="1510"/>
                    <a:pt x="1800" y="1655"/>
                    <a:pt x="1638" y="1721"/>
                  </a:cubicBezTo>
                  <a:cubicBezTo>
                    <a:pt x="1456" y="1800"/>
                    <a:pt x="1253" y="1841"/>
                    <a:pt x="1041" y="1841"/>
                  </a:cubicBezTo>
                  <a:cubicBezTo>
                    <a:pt x="875" y="1841"/>
                    <a:pt x="718" y="1817"/>
                    <a:pt x="568" y="1771"/>
                  </a:cubicBezTo>
                  <a:cubicBezTo>
                    <a:pt x="336" y="1692"/>
                    <a:pt x="137" y="1527"/>
                    <a:pt x="62" y="130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Freeform 8"/>
            <p:cNvSpPr>
              <a:spLocks noChangeArrowheads="1"/>
            </p:cNvSpPr>
            <p:nvPr/>
          </p:nvSpPr>
          <p:spPr bwMode="auto">
            <a:xfrm>
              <a:off x="2751138" y="4083050"/>
              <a:ext cx="153987" cy="398463"/>
            </a:xfrm>
            <a:custGeom>
              <a:avLst/>
              <a:gdLst>
                <a:gd name="T0" fmla="*/ 415 w 428"/>
                <a:gd name="T1" fmla="*/ 0 h 1109"/>
                <a:gd name="T2" fmla="*/ 0 w 428"/>
                <a:gd name="T3" fmla="*/ 38 h 1109"/>
                <a:gd name="T4" fmla="*/ 0 w 428"/>
                <a:gd name="T5" fmla="*/ 100 h 1109"/>
                <a:gd name="T6" fmla="*/ 12 w 428"/>
                <a:gd name="T7" fmla="*/ 100 h 1109"/>
                <a:gd name="T8" fmla="*/ 178 w 428"/>
                <a:gd name="T9" fmla="*/ 241 h 1109"/>
                <a:gd name="T10" fmla="*/ 178 w 428"/>
                <a:gd name="T11" fmla="*/ 1108 h 1109"/>
                <a:gd name="T12" fmla="*/ 427 w 428"/>
                <a:gd name="T13" fmla="*/ 1108 h 1109"/>
                <a:gd name="T14" fmla="*/ 427 w 428"/>
                <a:gd name="T15" fmla="*/ 0 h 1109"/>
                <a:gd name="T16" fmla="*/ 415 w 428"/>
                <a:gd name="T17" fmla="*/ 0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8" h="1109">
                  <a:moveTo>
                    <a:pt x="415" y="0"/>
                  </a:moveTo>
                  <a:lnTo>
                    <a:pt x="0" y="38"/>
                  </a:lnTo>
                  <a:lnTo>
                    <a:pt x="0" y="100"/>
                  </a:lnTo>
                  <a:lnTo>
                    <a:pt x="12" y="100"/>
                  </a:lnTo>
                  <a:cubicBezTo>
                    <a:pt x="178" y="121"/>
                    <a:pt x="178" y="121"/>
                    <a:pt x="178" y="241"/>
                  </a:cubicBezTo>
                  <a:lnTo>
                    <a:pt x="178" y="1108"/>
                  </a:lnTo>
                  <a:lnTo>
                    <a:pt x="427" y="1108"/>
                  </a:lnTo>
                  <a:lnTo>
                    <a:pt x="427" y="0"/>
                  </a:lnTo>
                  <a:lnTo>
                    <a:pt x="41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Freeform 9"/>
            <p:cNvSpPr>
              <a:spLocks noChangeArrowheads="1"/>
            </p:cNvSpPr>
            <p:nvPr/>
          </p:nvSpPr>
          <p:spPr bwMode="auto">
            <a:xfrm>
              <a:off x="2986088" y="4198938"/>
              <a:ext cx="315912" cy="282575"/>
            </a:xfrm>
            <a:custGeom>
              <a:avLst/>
              <a:gdLst>
                <a:gd name="T0" fmla="*/ 643 w 876"/>
                <a:gd name="T1" fmla="*/ 4 h 785"/>
                <a:gd name="T2" fmla="*/ 353 w 876"/>
                <a:gd name="T3" fmla="*/ 170 h 785"/>
                <a:gd name="T4" fmla="*/ 353 w 876"/>
                <a:gd name="T5" fmla="*/ 0 h 785"/>
                <a:gd name="T6" fmla="*/ 336 w 876"/>
                <a:gd name="T7" fmla="*/ 4 h 785"/>
                <a:gd name="T8" fmla="*/ 0 w 876"/>
                <a:gd name="T9" fmla="*/ 58 h 785"/>
                <a:gd name="T10" fmla="*/ 0 w 876"/>
                <a:gd name="T11" fmla="*/ 116 h 785"/>
                <a:gd name="T12" fmla="*/ 17 w 876"/>
                <a:gd name="T13" fmla="*/ 116 h 785"/>
                <a:gd name="T14" fmla="*/ 145 w 876"/>
                <a:gd name="T15" fmla="*/ 240 h 785"/>
                <a:gd name="T16" fmla="*/ 145 w 876"/>
                <a:gd name="T17" fmla="*/ 784 h 785"/>
                <a:gd name="T18" fmla="*/ 353 w 876"/>
                <a:gd name="T19" fmla="*/ 784 h 785"/>
                <a:gd name="T20" fmla="*/ 353 w 876"/>
                <a:gd name="T21" fmla="*/ 386 h 785"/>
                <a:gd name="T22" fmla="*/ 560 w 876"/>
                <a:gd name="T23" fmla="*/ 141 h 785"/>
                <a:gd name="T24" fmla="*/ 664 w 876"/>
                <a:gd name="T25" fmla="*/ 361 h 785"/>
                <a:gd name="T26" fmla="*/ 664 w 876"/>
                <a:gd name="T27" fmla="*/ 784 h 785"/>
                <a:gd name="T28" fmla="*/ 871 w 876"/>
                <a:gd name="T29" fmla="*/ 784 h 785"/>
                <a:gd name="T30" fmla="*/ 871 w 876"/>
                <a:gd name="T31" fmla="*/ 240 h 785"/>
                <a:gd name="T32" fmla="*/ 643 w 876"/>
                <a:gd name="T33" fmla="*/ 4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6" h="785">
                  <a:moveTo>
                    <a:pt x="643" y="4"/>
                  </a:moveTo>
                  <a:cubicBezTo>
                    <a:pt x="490" y="4"/>
                    <a:pt x="398" y="108"/>
                    <a:pt x="353" y="170"/>
                  </a:cubicBezTo>
                  <a:cubicBezTo>
                    <a:pt x="353" y="112"/>
                    <a:pt x="353" y="0"/>
                    <a:pt x="353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7" y="116"/>
                  </a:lnTo>
                  <a:cubicBezTo>
                    <a:pt x="124" y="120"/>
                    <a:pt x="145" y="141"/>
                    <a:pt x="145" y="240"/>
                  </a:cubicBezTo>
                  <a:lnTo>
                    <a:pt x="145" y="784"/>
                  </a:lnTo>
                  <a:lnTo>
                    <a:pt x="353" y="784"/>
                  </a:lnTo>
                  <a:lnTo>
                    <a:pt x="353" y="386"/>
                  </a:lnTo>
                  <a:cubicBezTo>
                    <a:pt x="353" y="278"/>
                    <a:pt x="452" y="141"/>
                    <a:pt x="560" y="141"/>
                  </a:cubicBezTo>
                  <a:cubicBezTo>
                    <a:pt x="660" y="141"/>
                    <a:pt x="664" y="224"/>
                    <a:pt x="664" y="361"/>
                  </a:cubicBezTo>
                  <a:lnTo>
                    <a:pt x="664" y="784"/>
                  </a:lnTo>
                  <a:lnTo>
                    <a:pt x="871" y="784"/>
                  </a:lnTo>
                  <a:lnTo>
                    <a:pt x="871" y="240"/>
                  </a:lnTo>
                  <a:cubicBezTo>
                    <a:pt x="875" y="87"/>
                    <a:pt x="792" y="4"/>
                    <a:pt x="643" y="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Freeform 10"/>
            <p:cNvSpPr>
              <a:spLocks noChangeArrowheads="1"/>
            </p:cNvSpPr>
            <p:nvPr/>
          </p:nvSpPr>
          <p:spPr bwMode="auto">
            <a:xfrm>
              <a:off x="3386138" y="4200525"/>
              <a:ext cx="212725" cy="288925"/>
            </a:xfrm>
            <a:custGeom>
              <a:avLst/>
              <a:gdLst>
                <a:gd name="T0" fmla="*/ 348 w 590"/>
                <a:gd name="T1" fmla="*/ 303 h 802"/>
                <a:gd name="T2" fmla="*/ 195 w 590"/>
                <a:gd name="T3" fmla="*/ 170 h 802"/>
                <a:gd name="T4" fmla="*/ 307 w 590"/>
                <a:gd name="T5" fmla="*/ 100 h 802"/>
                <a:gd name="T6" fmla="*/ 502 w 590"/>
                <a:gd name="T7" fmla="*/ 166 h 802"/>
                <a:gd name="T8" fmla="*/ 535 w 590"/>
                <a:gd name="T9" fmla="*/ 187 h 802"/>
                <a:gd name="T10" fmla="*/ 535 w 590"/>
                <a:gd name="T11" fmla="*/ 162 h 802"/>
                <a:gd name="T12" fmla="*/ 535 w 590"/>
                <a:gd name="T13" fmla="*/ 33 h 802"/>
                <a:gd name="T14" fmla="*/ 506 w 590"/>
                <a:gd name="T15" fmla="*/ 25 h 802"/>
                <a:gd name="T16" fmla="*/ 315 w 590"/>
                <a:gd name="T17" fmla="*/ 0 h 802"/>
                <a:gd name="T18" fmla="*/ 0 w 590"/>
                <a:gd name="T19" fmla="*/ 224 h 802"/>
                <a:gd name="T20" fmla="*/ 228 w 590"/>
                <a:gd name="T21" fmla="*/ 465 h 802"/>
                <a:gd name="T22" fmla="*/ 390 w 590"/>
                <a:gd name="T23" fmla="*/ 606 h 802"/>
                <a:gd name="T24" fmla="*/ 249 w 590"/>
                <a:gd name="T25" fmla="*/ 697 h 802"/>
                <a:gd name="T26" fmla="*/ 20 w 590"/>
                <a:gd name="T27" fmla="*/ 618 h 802"/>
                <a:gd name="T28" fmla="*/ 0 w 590"/>
                <a:gd name="T29" fmla="*/ 606 h 802"/>
                <a:gd name="T30" fmla="*/ 0 w 590"/>
                <a:gd name="T31" fmla="*/ 767 h 802"/>
                <a:gd name="T32" fmla="*/ 16 w 590"/>
                <a:gd name="T33" fmla="*/ 771 h 802"/>
                <a:gd name="T34" fmla="*/ 244 w 590"/>
                <a:gd name="T35" fmla="*/ 801 h 802"/>
                <a:gd name="T36" fmla="*/ 580 w 590"/>
                <a:gd name="T37" fmla="*/ 568 h 802"/>
                <a:gd name="T38" fmla="*/ 348 w 590"/>
                <a:gd name="T39" fmla="*/ 303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0" h="802">
                  <a:moveTo>
                    <a:pt x="348" y="303"/>
                  </a:moveTo>
                  <a:cubicBezTo>
                    <a:pt x="265" y="261"/>
                    <a:pt x="195" y="228"/>
                    <a:pt x="195" y="170"/>
                  </a:cubicBezTo>
                  <a:cubicBezTo>
                    <a:pt x="195" y="104"/>
                    <a:pt x="274" y="100"/>
                    <a:pt x="307" y="100"/>
                  </a:cubicBezTo>
                  <a:cubicBezTo>
                    <a:pt x="394" y="100"/>
                    <a:pt x="468" y="145"/>
                    <a:pt x="502" y="166"/>
                  </a:cubicBezTo>
                  <a:lnTo>
                    <a:pt x="535" y="187"/>
                  </a:lnTo>
                  <a:lnTo>
                    <a:pt x="535" y="162"/>
                  </a:lnTo>
                  <a:lnTo>
                    <a:pt x="535" y="33"/>
                  </a:lnTo>
                  <a:lnTo>
                    <a:pt x="506" y="25"/>
                  </a:lnTo>
                  <a:cubicBezTo>
                    <a:pt x="468" y="17"/>
                    <a:pt x="398" y="0"/>
                    <a:pt x="315" y="0"/>
                  </a:cubicBezTo>
                  <a:cubicBezTo>
                    <a:pt x="120" y="0"/>
                    <a:pt x="0" y="83"/>
                    <a:pt x="0" y="224"/>
                  </a:cubicBezTo>
                  <a:cubicBezTo>
                    <a:pt x="0" y="353"/>
                    <a:pt x="124" y="411"/>
                    <a:pt x="228" y="465"/>
                  </a:cubicBezTo>
                  <a:cubicBezTo>
                    <a:pt x="311" y="506"/>
                    <a:pt x="390" y="543"/>
                    <a:pt x="390" y="606"/>
                  </a:cubicBezTo>
                  <a:cubicBezTo>
                    <a:pt x="390" y="664"/>
                    <a:pt x="340" y="697"/>
                    <a:pt x="249" y="697"/>
                  </a:cubicBezTo>
                  <a:cubicBezTo>
                    <a:pt x="149" y="697"/>
                    <a:pt x="70" y="647"/>
                    <a:pt x="20" y="618"/>
                  </a:cubicBezTo>
                  <a:lnTo>
                    <a:pt x="0" y="606"/>
                  </a:lnTo>
                  <a:lnTo>
                    <a:pt x="0" y="767"/>
                  </a:lnTo>
                  <a:lnTo>
                    <a:pt x="16" y="771"/>
                  </a:lnTo>
                  <a:cubicBezTo>
                    <a:pt x="58" y="780"/>
                    <a:pt x="137" y="801"/>
                    <a:pt x="244" y="801"/>
                  </a:cubicBezTo>
                  <a:cubicBezTo>
                    <a:pt x="456" y="801"/>
                    <a:pt x="580" y="713"/>
                    <a:pt x="580" y="568"/>
                  </a:cubicBezTo>
                  <a:cubicBezTo>
                    <a:pt x="589" y="419"/>
                    <a:pt x="460" y="357"/>
                    <a:pt x="348" y="30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Freeform 11"/>
            <p:cNvSpPr>
              <a:spLocks noChangeArrowheads="1"/>
            </p:cNvSpPr>
            <p:nvPr/>
          </p:nvSpPr>
          <p:spPr bwMode="auto">
            <a:xfrm>
              <a:off x="3635375" y="4198938"/>
              <a:ext cx="325438" cy="396875"/>
            </a:xfrm>
            <a:custGeom>
              <a:avLst/>
              <a:gdLst>
                <a:gd name="T0" fmla="*/ 577 w 906"/>
                <a:gd name="T1" fmla="*/ 4 h 1104"/>
                <a:gd name="T2" fmla="*/ 357 w 906"/>
                <a:gd name="T3" fmla="*/ 112 h 1104"/>
                <a:gd name="T4" fmla="*/ 357 w 906"/>
                <a:gd name="T5" fmla="*/ 0 h 1104"/>
                <a:gd name="T6" fmla="*/ 336 w 906"/>
                <a:gd name="T7" fmla="*/ 4 h 1104"/>
                <a:gd name="T8" fmla="*/ 0 w 906"/>
                <a:gd name="T9" fmla="*/ 58 h 1104"/>
                <a:gd name="T10" fmla="*/ 0 w 906"/>
                <a:gd name="T11" fmla="*/ 116 h 1104"/>
                <a:gd name="T12" fmla="*/ 13 w 906"/>
                <a:gd name="T13" fmla="*/ 116 h 1104"/>
                <a:gd name="T14" fmla="*/ 137 w 906"/>
                <a:gd name="T15" fmla="*/ 240 h 1104"/>
                <a:gd name="T16" fmla="*/ 137 w 906"/>
                <a:gd name="T17" fmla="*/ 1103 h 1104"/>
                <a:gd name="T18" fmla="*/ 345 w 906"/>
                <a:gd name="T19" fmla="*/ 1103 h 1104"/>
                <a:gd name="T20" fmla="*/ 345 w 906"/>
                <a:gd name="T21" fmla="*/ 709 h 1104"/>
                <a:gd name="T22" fmla="*/ 560 w 906"/>
                <a:gd name="T23" fmla="*/ 800 h 1104"/>
                <a:gd name="T24" fmla="*/ 896 w 906"/>
                <a:gd name="T25" fmla="*/ 390 h 1104"/>
                <a:gd name="T26" fmla="*/ 577 w 906"/>
                <a:gd name="T27" fmla="*/ 4 h 1104"/>
                <a:gd name="T28" fmla="*/ 515 w 906"/>
                <a:gd name="T29" fmla="*/ 120 h 1104"/>
                <a:gd name="T30" fmla="*/ 672 w 906"/>
                <a:gd name="T31" fmla="*/ 394 h 1104"/>
                <a:gd name="T32" fmla="*/ 515 w 906"/>
                <a:gd name="T33" fmla="*/ 688 h 1104"/>
                <a:gd name="T34" fmla="*/ 349 w 906"/>
                <a:gd name="T35" fmla="*/ 456 h 1104"/>
                <a:gd name="T36" fmla="*/ 349 w 906"/>
                <a:gd name="T37" fmla="*/ 390 h 1104"/>
                <a:gd name="T38" fmla="*/ 515 w 906"/>
                <a:gd name="T39" fmla="*/ 120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06" h="1104">
                  <a:moveTo>
                    <a:pt x="577" y="4"/>
                  </a:moveTo>
                  <a:cubicBezTo>
                    <a:pt x="498" y="4"/>
                    <a:pt x="424" y="41"/>
                    <a:pt x="357" y="112"/>
                  </a:cubicBezTo>
                  <a:cubicBezTo>
                    <a:pt x="357" y="75"/>
                    <a:pt x="357" y="0"/>
                    <a:pt x="357" y="0"/>
                  </a:cubicBezTo>
                  <a:lnTo>
                    <a:pt x="336" y="4"/>
                  </a:lnTo>
                  <a:lnTo>
                    <a:pt x="0" y="58"/>
                  </a:lnTo>
                  <a:lnTo>
                    <a:pt x="0" y="116"/>
                  </a:lnTo>
                  <a:lnTo>
                    <a:pt x="13" y="116"/>
                  </a:lnTo>
                  <a:cubicBezTo>
                    <a:pt x="117" y="120"/>
                    <a:pt x="137" y="141"/>
                    <a:pt x="137" y="240"/>
                  </a:cubicBezTo>
                  <a:lnTo>
                    <a:pt x="137" y="1103"/>
                  </a:lnTo>
                  <a:lnTo>
                    <a:pt x="345" y="1103"/>
                  </a:lnTo>
                  <a:cubicBezTo>
                    <a:pt x="345" y="1103"/>
                    <a:pt x="345" y="775"/>
                    <a:pt x="345" y="709"/>
                  </a:cubicBezTo>
                  <a:cubicBezTo>
                    <a:pt x="382" y="755"/>
                    <a:pt x="444" y="800"/>
                    <a:pt x="560" y="800"/>
                  </a:cubicBezTo>
                  <a:cubicBezTo>
                    <a:pt x="780" y="800"/>
                    <a:pt x="896" y="659"/>
                    <a:pt x="896" y="390"/>
                  </a:cubicBezTo>
                  <a:cubicBezTo>
                    <a:pt x="905" y="145"/>
                    <a:pt x="784" y="4"/>
                    <a:pt x="577" y="4"/>
                  </a:cubicBezTo>
                  <a:close/>
                  <a:moveTo>
                    <a:pt x="515" y="120"/>
                  </a:moveTo>
                  <a:cubicBezTo>
                    <a:pt x="656" y="120"/>
                    <a:pt x="672" y="274"/>
                    <a:pt x="672" y="394"/>
                  </a:cubicBezTo>
                  <a:cubicBezTo>
                    <a:pt x="672" y="593"/>
                    <a:pt x="623" y="688"/>
                    <a:pt x="515" y="688"/>
                  </a:cubicBezTo>
                  <a:cubicBezTo>
                    <a:pt x="378" y="688"/>
                    <a:pt x="349" y="560"/>
                    <a:pt x="349" y="456"/>
                  </a:cubicBezTo>
                  <a:lnTo>
                    <a:pt x="349" y="390"/>
                  </a:lnTo>
                  <a:cubicBezTo>
                    <a:pt x="353" y="307"/>
                    <a:pt x="370" y="120"/>
                    <a:pt x="515" y="12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12"/>
            <p:cNvSpPr>
              <a:spLocks noChangeArrowheads="1"/>
            </p:cNvSpPr>
            <p:nvPr/>
          </p:nvSpPr>
          <p:spPr bwMode="auto">
            <a:xfrm>
              <a:off x="4013200" y="4198938"/>
              <a:ext cx="123825" cy="282575"/>
            </a:xfrm>
            <a:custGeom>
              <a:avLst/>
              <a:gdLst>
                <a:gd name="T0" fmla="*/ 0 w 345"/>
                <a:gd name="T1" fmla="*/ 58 h 785"/>
                <a:gd name="T2" fmla="*/ 0 w 345"/>
                <a:gd name="T3" fmla="*/ 116 h 785"/>
                <a:gd name="T4" fmla="*/ 12 w 345"/>
                <a:gd name="T5" fmla="*/ 116 h 785"/>
                <a:gd name="T6" fmla="*/ 137 w 345"/>
                <a:gd name="T7" fmla="*/ 240 h 785"/>
                <a:gd name="T8" fmla="*/ 137 w 345"/>
                <a:gd name="T9" fmla="*/ 784 h 785"/>
                <a:gd name="T10" fmla="*/ 344 w 345"/>
                <a:gd name="T11" fmla="*/ 784 h 785"/>
                <a:gd name="T12" fmla="*/ 344 w 345"/>
                <a:gd name="T13" fmla="*/ 0 h 785"/>
                <a:gd name="T14" fmla="*/ 328 w 345"/>
                <a:gd name="T15" fmla="*/ 4 h 785"/>
                <a:gd name="T16" fmla="*/ 0 w 345"/>
                <a:gd name="T17" fmla="*/ 5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5" h="785">
                  <a:moveTo>
                    <a:pt x="0" y="58"/>
                  </a:moveTo>
                  <a:lnTo>
                    <a:pt x="0" y="116"/>
                  </a:lnTo>
                  <a:lnTo>
                    <a:pt x="12" y="116"/>
                  </a:lnTo>
                  <a:cubicBezTo>
                    <a:pt x="116" y="120"/>
                    <a:pt x="137" y="141"/>
                    <a:pt x="137" y="240"/>
                  </a:cubicBezTo>
                  <a:lnTo>
                    <a:pt x="137" y="784"/>
                  </a:lnTo>
                  <a:lnTo>
                    <a:pt x="344" y="784"/>
                  </a:lnTo>
                  <a:lnTo>
                    <a:pt x="344" y="0"/>
                  </a:lnTo>
                  <a:lnTo>
                    <a:pt x="328" y="4"/>
                  </a:lnTo>
                  <a:lnTo>
                    <a:pt x="0" y="5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Freeform 13"/>
            <p:cNvSpPr>
              <a:spLocks noChangeArrowheads="1"/>
            </p:cNvSpPr>
            <p:nvPr/>
          </p:nvSpPr>
          <p:spPr bwMode="auto">
            <a:xfrm>
              <a:off x="4056063" y="4084638"/>
              <a:ext cx="93662" cy="82550"/>
            </a:xfrm>
            <a:custGeom>
              <a:avLst/>
              <a:gdLst>
                <a:gd name="T0" fmla="*/ 129 w 262"/>
                <a:gd name="T1" fmla="*/ 228 h 229"/>
                <a:gd name="T2" fmla="*/ 261 w 262"/>
                <a:gd name="T3" fmla="*/ 112 h 229"/>
                <a:gd name="T4" fmla="*/ 133 w 262"/>
                <a:gd name="T5" fmla="*/ 0 h 229"/>
                <a:gd name="T6" fmla="*/ 4 w 262"/>
                <a:gd name="T7" fmla="*/ 112 h 229"/>
                <a:gd name="T8" fmla="*/ 129 w 262"/>
                <a:gd name="T9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29">
                  <a:moveTo>
                    <a:pt x="129" y="228"/>
                  </a:moveTo>
                  <a:cubicBezTo>
                    <a:pt x="199" y="228"/>
                    <a:pt x="261" y="178"/>
                    <a:pt x="261" y="112"/>
                  </a:cubicBezTo>
                  <a:cubicBezTo>
                    <a:pt x="261" y="49"/>
                    <a:pt x="203" y="0"/>
                    <a:pt x="133" y="0"/>
                  </a:cubicBezTo>
                  <a:cubicBezTo>
                    <a:pt x="62" y="0"/>
                    <a:pt x="4" y="49"/>
                    <a:pt x="4" y="112"/>
                  </a:cubicBezTo>
                  <a:cubicBezTo>
                    <a:pt x="0" y="178"/>
                    <a:pt x="58" y="228"/>
                    <a:pt x="129" y="22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Freeform 14"/>
            <p:cNvSpPr>
              <a:spLocks noChangeArrowheads="1"/>
            </p:cNvSpPr>
            <p:nvPr/>
          </p:nvSpPr>
          <p:spPr bwMode="auto">
            <a:xfrm>
              <a:off x="4211638" y="4200525"/>
              <a:ext cx="244475" cy="280988"/>
            </a:xfrm>
            <a:custGeom>
              <a:avLst/>
              <a:gdLst>
                <a:gd name="T0" fmla="*/ 676 w 677"/>
                <a:gd name="T1" fmla="*/ 174 h 781"/>
                <a:gd name="T2" fmla="*/ 676 w 677"/>
                <a:gd name="T3" fmla="*/ 12 h 781"/>
                <a:gd name="T4" fmla="*/ 663 w 677"/>
                <a:gd name="T5" fmla="*/ 12 h 781"/>
                <a:gd name="T6" fmla="*/ 564 w 677"/>
                <a:gd name="T7" fmla="*/ 4 h 781"/>
                <a:gd name="T8" fmla="*/ 348 w 677"/>
                <a:gd name="T9" fmla="*/ 158 h 781"/>
                <a:gd name="T10" fmla="*/ 348 w 677"/>
                <a:gd name="T11" fmla="*/ 0 h 781"/>
                <a:gd name="T12" fmla="*/ 331 w 677"/>
                <a:gd name="T13" fmla="*/ 0 h 781"/>
                <a:gd name="T14" fmla="*/ 0 w 677"/>
                <a:gd name="T15" fmla="*/ 54 h 781"/>
                <a:gd name="T16" fmla="*/ 0 w 677"/>
                <a:gd name="T17" fmla="*/ 112 h 781"/>
                <a:gd name="T18" fmla="*/ 12 w 677"/>
                <a:gd name="T19" fmla="*/ 112 h 781"/>
                <a:gd name="T20" fmla="*/ 141 w 677"/>
                <a:gd name="T21" fmla="*/ 236 h 781"/>
                <a:gd name="T22" fmla="*/ 141 w 677"/>
                <a:gd name="T23" fmla="*/ 780 h 781"/>
                <a:gd name="T24" fmla="*/ 348 w 677"/>
                <a:gd name="T25" fmla="*/ 780 h 781"/>
                <a:gd name="T26" fmla="*/ 348 w 677"/>
                <a:gd name="T27" fmla="*/ 390 h 781"/>
                <a:gd name="T28" fmla="*/ 568 w 677"/>
                <a:gd name="T29" fmla="*/ 170 h 781"/>
                <a:gd name="T30" fmla="*/ 643 w 677"/>
                <a:gd name="T31" fmla="*/ 183 h 781"/>
                <a:gd name="T32" fmla="*/ 676 w 677"/>
                <a:gd name="T33" fmla="*/ 191 h 781"/>
                <a:gd name="T34" fmla="*/ 676 w 677"/>
                <a:gd name="T35" fmla="*/ 174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7" h="781">
                  <a:moveTo>
                    <a:pt x="676" y="174"/>
                  </a:moveTo>
                  <a:lnTo>
                    <a:pt x="676" y="12"/>
                  </a:lnTo>
                  <a:lnTo>
                    <a:pt x="663" y="12"/>
                  </a:lnTo>
                  <a:cubicBezTo>
                    <a:pt x="630" y="8"/>
                    <a:pt x="593" y="4"/>
                    <a:pt x="564" y="4"/>
                  </a:cubicBezTo>
                  <a:cubicBezTo>
                    <a:pt x="443" y="4"/>
                    <a:pt x="381" y="91"/>
                    <a:pt x="348" y="158"/>
                  </a:cubicBezTo>
                  <a:cubicBezTo>
                    <a:pt x="348" y="95"/>
                    <a:pt x="348" y="0"/>
                    <a:pt x="348" y="0"/>
                  </a:cubicBezTo>
                  <a:lnTo>
                    <a:pt x="331" y="0"/>
                  </a:lnTo>
                  <a:lnTo>
                    <a:pt x="0" y="54"/>
                  </a:lnTo>
                  <a:lnTo>
                    <a:pt x="0" y="112"/>
                  </a:lnTo>
                  <a:lnTo>
                    <a:pt x="12" y="112"/>
                  </a:lnTo>
                  <a:cubicBezTo>
                    <a:pt x="116" y="116"/>
                    <a:pt x="141" y="137"/>
                    <a:pt x="141" y="236"/>
                  </a:cubicBezTo>
                  <a:lnTo>
                    <a:pt x="141" y="780"/>
                  </a:lnTo>
                  <a:lnTo>
                    <a:pt x="348" y="780"/>
                  </a:lnTo>
                  <a:lnTo>
                    <a:pt x="348" y="390"/>
                  </a:lnTo>
                  <a:cubicBezTo>
                    <a:pt x="348" y="324"/>
                    <a:pt x="369" y="170"/>
                    <a:pt x="568" y="170"/>
                  </a:cubicBezTo>
                  <a:cubicBezTo>
                    <a:pt x="593" y="170"/>
                    <a:pt x="618" y="178"/>
                    <a:pt x="643" y="183"/>
                  </a:cubicBezTo>
                  <a:lnTo>
                    <a:pt x="676" y="191"/>
                  </a:lnTo>
                  <a:lnTo>
                    <a:pt x="676" y="174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Freeform 15"/>
            <p:cNvSpPr>
              <a:spLocks noChangeArrowheads="1"/>
            </p:cNvSpPr>
            <p:nvPr/>
          </p:nvSpPr>
          <p:spPr bwMode="auto">
            <a:xfrm>
              <a:off x="4486275" y="4200525"/>
              <a:ext cx="266700" cy="287338"/>
            </a:xfrm>
            <a:custGeom>
              <a:avLst/>
              <a:gdLst>
                <a:gd name="T0" fmla="*/ 738 w 743"/>
                <a:gd name="T1" fmla="*/ 315 h 797"/>
                <a:gd name="T2" fmla="*/ 390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738 w 743"/>
                <a:gd name="T25" fmla="*/ 315 h 797"/>
                <a:gd name="T26" fmla="*/ 386 w 743"/>
                <a:gd name="T27" fmla="*/ 83 h 797"/>
                <a:gd name="T28" fmla="*/ 531 w 743"/>
                <a:gd name="T29" fmla="*/ 236 h 797"/>
                <a:gd name="T30" fmla="*/ 228 w 743"/>
                <a:gd name="T31" fmla="*/ 236 h 797"/>
                <a:gd name="T32" fmla="*/ 386 w 743"/>
                <a:gd name="T33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3" h="797">
                  <a:moveTo>
                    <a:pt x="738" y="315"/>
                  </a:moveTo>
                  <a:cubicBezTo>
                    <a:pt x="738" y="104"/>
                    <a:pt x="622" y="0"/>
                    <a:pt x="390" y="0"/>
                  </a:cubicBezTo>
                  <a:cubicBezTo>
                    <a:pt x="128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lnTo>
                    <a:pt x="738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2" y="183"/>
                    <a:pt x="269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Freeform 16"/>
            <p:cNvSpPr>
              <a:spLocks noChangeArrowheads="1"/>
            </p:cNvSpPr>
            <p:nvPr/>
          </p:nvSpPr>
          <p:spPr bwMode="auto">
            <a:xfrm>
              <a:off x="5210175" y="4071938"/>
              <a:ext cx="314325" cy="409575"/>
            </a:xfrm>
            <a:custGeom>
              <a:avLst/>
              <a:gdLst>
                <a:gd name="T0" fmla="*/ 634 w 872"/>
                <a:gd name="T1" fmla="*/ 357 h 1138"/>
                <a:gd name="T2" fmla="*/ 348 w 872"/>
                <a:gd name="T3" fmla="*/ 523 h 1138"/>
                <a:gd name="T4" fmla="*/ 348 w 872"/>
                <a:gd name="T5" fmla="*/ 0 h 1138"/>
                <a:gd name="T6" fmla="*/ 332 w 872"/>
                <a:gd name="T7" fmla="*/ 4 h 1138"/>
                <a:gd name="T8" fmla="*/ 0 w 872"/>
                <a:gd name="T9" fmla="*/ 46 h 1138"/>
                <a:gd name="T10" fmla="*/ 0 w 872"/>
                <a:gd name="T11" fmla="*/ 104 h 1138"/>
                <a:gd name="T12" fmla="*/ 16 w 872"/>
                <a:gd name="T13" fmla="*/ 104 h 1138"/>
                <a:gd name="T14" fmla="*/ 141 w 872"/>
                <a:gd name="T15" fmla="*/ 233 h 1138"/>
                <a:gd name="T16" fmla="*/ 141 w 872"/>
                <a:gd name="T17" fmla="*/ 1137 h 1138"/>
                <a:gd name="T18" fmla="*/ 348 w 872"/>
                <a:gd name="T19" fmla="*/ 1137 h 1138"/>
                <a:gd name="T20" fmla="*/ 348 w 872"/>
                <a:gd name="T21" fmla="*/ 747 h 1138"/>
                <a:gd name="T22" fmla="*/ 547 w 872"/>
                <a:gd name="T23" fmla="*/ 494 h 1138"/>
                <a:gd name="T24" fmla="*/ 663 w 872"/>
                <a:gd name="T25" fmla="*/ 660 h 1138"/>
                <a:gd name="T26" fmla="*/ 663 w 872"/>
                <a:gd name="T27" fmla="*/ 1137 h 1138"/>
                <a:gd name="T28" fmla="*/ 871 w 872"/>
                <a:gd name="T29" fmla="*/ 1137 h 1138"/>
                <a:gd name="T30" fmla="*/ 871 w 872"/>
                <a:gd name="T31" fmla="*/ 635 h 1138"/>
                <a:gd name="T32" fmla="*/ 634 w 872"/>
                <a:gd name="T33" fmla="*/ 357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2" h="1138">
                  <a:moveTo>
                    <a:pt x="634" y="357"/>
                  </a:moveTo>
                  <a:cubicBezTo>
                    <a:pt x="481" y="357"/>
                    <a:pt x="394" y="452"/>
                    <a:pt x="348" y="523"/>
                  </a:cubicBezTo>
                  <a:cubicBezTo>
                    <a:pt x="348" y="440"/>
                    <a:pt x="348" y="0"/>
                    <a:pt x="348" y="0"/>
                  </a:cubicBezTo>
                  <a:lnTo>
                    <a:pt x="332" y="4"/>
                  </a:lnTo>
                  <a:lnTo>
                    <a:pt x="0" y="46"/>
                  </a:lnTo>
                  <a:lnTo>
                    <a:pt x="0" y="104"/>
                  </a:lnTo>
                  <a:lnTo>
                    <a:pt x="16" y="104"/>
                  </a:lnTo>
                  <a:cubicBezTo>
                    <a:pt x="120" y="108"/>
                    <a:pt x="141" y="133"/>
                    <a:pt x="141" y="233"/>
                  </a:cubicBezTo>
                  <a:lnTo>
                    <a:pt x="141" y="1137"/>
                  </a:lnTo>
                  <a:lnTo>
                    <a:pt x="348" y="1137"/>
                  </a:lnTo>
                  <a:lnTo>
                    <a:pt x="348" y="747"/>
                  </a:lnTo>
                  <a:cubicBezTo>
                    <a:pt x="348" y="606"/>
                    <a:pt x="456" y="494"/>
                    <a:pt x="547" y="494"/>
                  </a:cubicBezTo>
                  <a:cubicBezTo>
                    <a:pt x="663" y="494"/>
                    <a:pt x="663" y="581"/>
                    <a:pt x="663" y="660"/>
                  </a:cubicBezTo>
                  <a:lnTo>
                    <a:pt x="663" y="1137"/>
                  </a:lnTo>
                  <a:lnTo>
                    <a:pt x="871" y="1137"/>
                  </a:lnTo>
                  <a:lnTo>
                    <a:pt x="871" y="635"/>
                  </a:lnTo>
                  <a:cubicBezTo>
                    <a:pt x="871" y="552"/>
                    <a:pt x="871" y="357"/>
                    <a:pt x="634" y="35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Freeform 17"/>
            <p:cNvSpPr>
              <a:spLocks noChangeArrowheads="1"/>
            </p:cNvSpPr>
            <p:nvPr/>
          </p:nvSpPr>
          <p:spPr bwMode="auto">
            <a:xfrm>
              <a:off x="5594350" y="4200525"/>
              <a:ext cx="266700" cy="287338"/>
            </a:xfrm>
            <a:custGeom>
              <a:avLst/>
              <a:gdLst>
                <a:gd name="T0" fmla="*/ 742 w 743"/>
                <a:gd name="T1" fmla="*/ 315 h 797"/>
                <a:gd name="T2" fmla="*/ 394 w 743"/>
                <a:gd name="T3" fmla="*/ 0 h 797"/>
                <a:gd name="T4" fmla="*/ 0 w 743"/>
                <a:gd name="T5" fmla="*/ 373 h 797"/>
                <a:gd name="T6" fmla="*/ 456 w 743"/>
                <a:gd name="T7" fmla="*/ 796 h 797"/>
                <a:gd name="T8" fmla="*/ 713 w 743"/>
                <a:gd name="T9" fmla="*/ 755 h 797"/>
                <a:gd name="T10" fmla="*/ 726 w 743"/>
                <a:gd name="T11" fmla="*/ 751 h 797"/>
                <a:gd name="T12" fmla="*/ 726 w 743"/>
                <a:gd name="T13" fmla="*/ 651 h 797"/>
                <a:gd name="T14" fmla="*/ 705 w 743"/>
                <a:gd name="T15" fmla="*/ 660 h 797"/>
                <a:gd name="T16" fmla="*/ 543 w 743"/>
                <a:gd name="T17" fmla="*/ 684 h 797"/>
                <a:gd name="T18" fmla="*/ 232 w 743"/>
                <a:gd name="T19" fmla="*/ 332 h 797"/>
                <a:gd name="T20" fmla="*/ 742 w 743"/>
                <a:gd name="T21" fmla="*/ 332 h 797"/>
                <a:gd name="T22" fmla="*/ 742 w 743"/>
                <a:gd name="T23" fmla="*/ 315 h 797"/>
                <a:gd name="T24" fmla="*/ 386 w 743"/>
                <a:gd name="T25" fmla="*/ 83 h 797"/>
                <a:gd name="T26" fmla="*/ 531 w 743"/>
                <a:gd name="T27" fmla="*/ 236 h 797"/>
                <a:gd name="T28" fmla="*/ 228 w 743"/>
                <a:gd name="T29" fmla="*/ 236 h 797"/>
                <a:gd name="T30" fmla="*/ 386 w 743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3" h="797">
                  <a:moveTo>
                    <a:pt x="742" y="315"/>
                  </a:moveTo>
                  <a:cubicBezTo>
                    <a:pt x="742" y="104"/>
                    <a:pt x="626" y="0"/>
                    <a:pt x="394" y="0"/>
                  </a:cubicBezTo>
                  <a:cubicBezTo>
                    <a:pt x="133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3"/>
                    <a:pt x="713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43" y="684"/>
                  </a:cubicBezTo>
                  <a:cubicBezTo>
                    <a:pt x="319" y="684"/>
                    <a:pt x="236" y="498"/>
                    <a:pt x="232" y="332"/>
                  </a:cubicBezTo>
                  <a:cubicBezTo>
                    <a:pt x="261" y="332"/>
                    <a:pt x="742" y="332"/>
                    <a:pt x="742" y="332"/>
                  </a:cubicBezTo>
                  <a:lnTo>
                    <a:pt x="742" y="315"/>
                  </a:lnTo>
                  <a:close/>
                  <a:moveTo>
                    <a:pt x="386" y="83"/>
                  </a:moveTo>
                  <a:cubicBezTo>
                    <a:pt x="498" y="83"/>
                    <a:pt x="527" y="166"/>
                    <a:pt x="531" y="236"/>
                  </a:cubicBezTo>
                  <a:cubicBezTo>
                    <a:pt x="506" y="236"/>
                    <a:pt x="257" y="236"/>
                    <a:pt x="228" y="236"/>
                  </a:cubicBezTo>
                  <a:cubicBezTo>
                    <a:pt x="236" y="183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Freeform 18"/>
            <p:cNvSpPr>
              <a:spLocks noChangeArrowheads="1"/>
            </p:cNvSpPr>
            <p:nvPr/>
          </p:nvSpPr>
          <p:spPr bwMode="auto">
            <a:xfrm>
              <a:off x="4964113" y="4121150"/>
              <a:ext cx="212725" cy="366713"/>
            </a:xfrm>
            <a:custGeom>
              <a:avLst/>
              <a:gdLst>
                <a:gd name="T0" fmla="*/ 141 w 589"/>
                <a:gd name="T1" fmla="*/ 237 h 1017"/>
                <a:gd name="T2" fmla="*/ 0 w 589"/>
                <a:gd name="T3" fmla="*/ 237 h 1017"/>
                <a:gd name="T4" fmla="*/ 0 w 589"/>
                <a:gd name="T5" fmla="*/ 328 h 1017"/>
                <a:gd name="T6" fmla="*/ 141 w 589"/>
                <a:gd name="T7" fmla="*/ 328 h 1017"/>
                <a:gd name="T8" fmla="*/ 141 w 589"/>
                <a:gd name="T9" fmla="*/ 797 h 1017"/>
                <a:gd name="T10" fmla="*/ 427 w 589"/>
                <a:gd name="T11" fmla="*/ 1016 h 1017"/>
                <a:gd name="T12" fmla="*/ 551 w 589"/>
                <a:gd name="T13" fmla="*/ 1004 h 1017"/>
                <a:gd name="T14" fmla="*/ 564 w 589"/>
                <a:gd name="T15" fmla="*/ 1004 h 1017"/>
                <a:gd name="T16" fmla="*/ 564 w 589"/>
                <a:gd name="T17" fmla="*/ 909 h 1017"/>
                <a:gd name="T18" fmla="*/ 547 w 589"/>
                <a:gd name="T19" fmla="*/ 913 h 1017"/>
                <a:gd name="T20" fmla="*/ 485 w 589"/>
                <a:gd name="T21" fmla="*/ 917 h 1017"/>
                <a:gd name="T22" fmla="*/ 352 w 589"/>
                <a:gd name="T23" fmla="*/ 772 h 1017"/>
                <a:gd name="T24" fmla="*/ 352 w 589"/>
                <a:gd name="T25" fmla="*/ 328 h 1017"/>
                <a:gd name="T26" fmla="*/ 588 w 589"/>
                <a:gd name="T27" fmla="*/ 328 h 1017"/>
                <a:gd name="T28" fmla="*/ 588 w 589"/>
                <a:gd name="T29" fmla="*/ 237 h 1017"/>
                <a:gd name="T30" fmla="*/ 352 w 589"/>
                <a:gd name="T31" fmla="*/ 237 h 1017"/>
                <a:gd name="T32" fmla="*/ 352 w 589"/>
                <a:gd name="T33" fmla="*/ 0 h 1017"/>
                <a:gd name="T34" fmla="*/ 141 w 589"/>
                <a:gd name="T35" fmla="*/ 0 h 1017"/>
                <a:gd name="T36" fmla="*/ 141 w 589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9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70" y="1016"/>
                    <a:pt x="427" y="1016"/>
                  </a:cubicBezTo>
                  <a:cubicBezTo>
                    <a:pt x="464" y="1016"/>
                    <a:pt x="505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0" y="917"/>
                    <a:pt x="510" y="917"/>
                    <a:pt x="485" y="917"/>
                  </a:cubicBezTo>
                  <a:cubicBezTo>
                    <a:pt x="360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8" y="328"/>
                  </a:lnTo>
                  <a:lnTo>
                    <a:pt x="588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Freeform 19"/>
            <p:cNvSpPr>
              <a:spLocks noChangeArrowheads="1"/>
            </p:cNvSpPr>
            <p:nvPr/>
          </p:nvSpPr>
          <p:spPr bwMode="auto">
            <a:xfrm>
              <a:off x="6049963" y="4087813"/>
              <a:ext cx="450850" cy="395287"/>
            </a:xfrm>
            <a:custGeom>
              <a:avLst/>
              <a:gdLst>
                <a:gd name="T0" fmla="*/ 1245 w 1254"/>
                <a:gd name="T1" fmla="*/ 0 h 1096"/>
                <a:gd name="T2" fmla="*/ 1033 w 1254"/>
                <a:gd name="T3" fmla="*/ 0 h 1096"/>
                <a:gd name="T4" fmla="*/ 1033 w 1254"/>
                <a:gd name="T5" fmla="*/ 829 h 1096"/>
                <a:gd name="T6" fmla="*/ 485 w 1254"/>
                <a:gd name="T7" fmla="*/ 0 h 1096"/>
                <a:gd name="T8" fmla="*/ 0 w 1254"/>
                <a:gd name="T9" fmla="*/ 0 h 1096"/>
                <a:gd name="T10" fmla="*/ 0 w 1254"/>
                <a:gd name="T11" fmla="*/ 62 h 1096"/>
                <a:gd name="T12" fmla="*/ 42 w 1254"/>
                <a:gd name="T13" fmla="*/ 70 h 1096"/>
                <a:gd name="T14" fmla="*/ 178 w 1254"/>
                <a:gd name="T15" fmla="*/ 220 h 1096"/>
                <a:gd name="T16" fmla="*/ 178 w 1254"/>
                <a:gd name="T17" fmla="*/ 1095 h 1096"/>
                <a:gd name="T18" fmla="*/ 403 w 1254"/>
                <a:gd name="T19" fmla="*/ 1095 h 1096"/>
                <a:gd name="T20" fmla="*/ 403 w 1254"/>
                <a:gd name="T21" fmla="*/ 228 h 1096"/>
                <a:gd name="T22" fmla="*/ 975 w 1254"/>
                <a:gd name="T23" fmla="*/ 1095 h 1096"/>
                <a:gd name="T24" fmla="*/ 1253 w 1254"/>
                <a:gd name="T25" fmla="*/ 1095 h 1096"/>
                <a:gd name="T26" fmla="*/ 1253 w 1254"/>
                <a:gd name="T27" fmla="*/ 0 h 1096"/>
                <a:gd name="T28" fmla="*/ 1245 w 1254"/>
                <a:gd name="T29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4" h="1096">
                  <a:moveTo>
                    <a:pt x="1245" y="0"/>
                  </a:moveTo>
                  <a:lnTo>
                    <a:pt x="1033" y="0"/>
                  </a:lnTo>
                  <a:cubicBezTo>
                    <a:pt x="1033" y="0"/>
                    <a:pt x="1033" y="751"/>
                    <a:pt x="1033" y="829"/>
                  </a:cubicBezTo>
                  <a:cubicBezTo>
                    <a:pt x="992" y="763"/>
                    <a:pt x="485" y="0"/>
                    <a:pt x="485" y="0"/>
                  </a:cubicBezTo>
                  <a:lnTo>
                    <a:pt x="0" y="0"/>
                  </a:lnTo>
                  <a:lnTo>
                    <a:pt x="0" y="62"/>
                  </a:lnTo>
                  <a:lnTo>
                    <a:pt x="42" y="70"/>
                  </a:lnTo>
                  <a:cubicBezTo>
                    <a:pt x="170" y="91"/>
                    <a:pt x="178" y="95"/>
                    <a:pt x="178" y="220"/>
                  </a:cubicBezTo>
                  <a:lnTo>
                    <a:pt x="178" y="1095"/>
                  </a:lnTo>
                  <a:lnTo>
                    <a:pt x="403" y="1095"/>
                  </a:lnTo>
                  <a:cubicBezTo>
                    <a:pt x="403" y="1095"/>
                    <a:pt x="403" y="307"/>
                    <a:pt x="403" y="228"/>
                  </a:cubicBezTo>
                  <a:cubicBezTo>
                    <a:pt x="448" y="294"/>
                    <a:pt x="975" y="1095"/>
                    <a:pt x="975" y="1095"/>
                  </a:cubicBezTo>
                  <a:lnTo>
                    <a:pt x="1253" y="1095"/>
                  </a:lnTo>
                  <a:lnTo>
                    <a:pt x="1253" y="0"/>
                  </a:lnTo>
                  <a:lnTo>
                    <a:pt x="1245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Freeform 20"/>
            <p:cNvSpPr>
              <a:spLocks noChangeArrowheads="1"/>
            </p:cNvSpPr>
            <p:nvPr/>
          </p:nvSpPr>
          <p:spPr bwMode="auto">
            <a:xfrm>
              <a:off x="6573838" y="4200525"/>
              <a:ext cx="266700" cy="287338"/>
            </a:xfrm>
            <a:custGeom>
              <a:avLst/>
              <a:gdLst>
                <a:gd name="T0" fmla="*/ 390 w 740"/>
                <a:gd name="T1" fmla="*/ 0 h 797"/>
                <a:gd name="T2" fmla="*/ 0 w 740"/>
                <a:gd name="T3" fmla="*/ 373 h 797"/>
                <a:gd name="T4" fmla="*/ 456 w 740"/>
                <a:gd name="T5" fmla="*/ 796 h 797"/>
                <a:gd name="T6" fmla="*/ 714 w 740"/>
                <a:gd name="T7" fmla="*/ 755 h 797"/>
                <a:gd name="T8" fmla="*/ 726 w 740"/>
                <a:gd name="T9" fmla="*/ 751 h 797"/>
                <a:gd name="T10" fmla="*/ 726 w 740"/>
                <a:gd name="T11" fmla="*/ 651 h 797"/>
                <a:gd name="T12" fmla="*/ 705 w 740"/>
                <a:gd name="T13" fmla="*/ 660 h 797"/>
                <a:gd name="T14" fmla="*/ 539 w 740"/>
                <a:gd name="T15" fmla="*/ 684 h 797"/>
                <a:gd name="T16" fmla="*/ 228 w 740"/>
                <a:gd name="T17" fmla="*/ 332 h 797"/>
                <a:gd name="T18" fmla="*/ 739 w 740"/>
                <a:gd name="T19" fmla="*/ 332 h 797"/>
                <a:gd name="T20" fmla="*/ 739 w 740"/>
                <a:gd name="T21" fmla="*/ 315 h 797"/>
                <a:gd name="T22" fmla="*/ 390 w 740"/>
                <a:gd name="T23" fmla="*/ 0 h 797"/>
                <a:gd name="T24" fmla="*/ 386 w 740"/>
                <a:gd name="T25" fmla="*/ 83 h 797"/>
                <a:gd name="T26" fmla="*/ 531 w 740"/>
                <a:gd name="T27" fmla="*/ 236 h 797"/>
                <a:gd name="T28" fmla="*/ 228 w 740"/>
                <a:gd name="T29" fmla="*/ 236 h 797"/>
                <a:gd name="T30" fmla="*/ 386 w 740"/>
                <a:gd name="T31" fmla="*/ 83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40" h="797">
                  <a:moveTo>
                    <a:pt x="390" y="0"/>
                  </a:moveTo>
                  <a:cubicBezTo>
                    <a:pt x="129" y="0"/>
                    <a:pt x="0" y="124"/>
                    <a:pt x="0" y="373"/>
                  </a:cubicBezTo>
                  <a:cubicBezTo>
                    <a:pt x="0" y="639"/>
                    <a:pt x="170" y="796"/>
                    <a:pt x="456" y="796"/>
                  </a:cubicBezTo>
                  <a:cubicBezTo>
                    <a:pt x="581" y="796"/>
                    <a:pt x="676" y="767"/>
                    <a:pt x="714" y="755"/>
                  </a:cubicBezTo>
                  <a:lnTo>
                    <a:pt x="726" y="751"/>
                  </a:lnTo>
                  <a:lnTo>
                    <a:pt x="726" y="651"/>
                  </a:lnTo>
                  <a:lnTo>
                    <a:pt x="705" y="660"/>
                  </a:lnTo>
                  <a:cubicBezTo>
                    <a:pt x="672" y="672"/>
                    <a:pt x="610" y="684"/>
                    <a:pt x="539" y="684"/>
                  </a:cubicBezTo>
                  <a:cubicBezTo>
                    <a:pt x="315" y="684"/>
                    <a:pt x="232" y="498"/>
                    <a:pt x="228" y="332"/>
                  </a:cubicBezTo>
                  <a:lnTo>
                    <a:pt x="739" y="332"/>
                  </a:lnTo>
                  <a:lnTo>
                    <a:pt x="739" y="315"/>
                  </a:lnTo>
                  <a:cubicBezTo>
                    <a:pt x="739" y="104"/>
                    <a:pt x="622" y="0"/>
                    <a:pt x="390" y="0"/>
                  </a:cubicBezTo>
                  <a:close/>
                  <a:moveTo>
                    <a:pt x="386" y="83"/>
                  </a:moveTo>
                  <a:cubicBezTo>
                    <a:pt x="498" y="83"/>
                    <a:pt x="527" y="162"/>
                    <a:pt x="531" y="236"/>
                  </a:cubicBezTo>
                  <a:lnTo>
                    <a:pt x="228" y="236"/>
                  </a:lnTo>
                  <a:cubicBezTo>
                    <a:pt x="232" y="187"/>
                    <a:pt x="270" y="83"/>
                    <a:pt x="386" y="8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Freeform 21"/>
            <p:cNvSpPr>
              <a:spLocks noChangeArrowheads="1"/>
            </p:cNvSpPr>
            <p:nvPr/>
          </p:nvSpPr>
          <p:spPr bwMode="auto">
            <a:xfrm>
              <a:off x="7204075" y="4121150"/>
              <a:ext cx="212725" cy="366713"/>
            </a:xfrm>
            <a:custGeom>
              <a:avLst/>
              <a:gdLst>
                <a:gd name="T0" fmla="*/ 141 w 590"/>
                <a:gd name="T1" fmla="*/ 237 h 1017"/>
                <a:gd name="T2" fmla="*/ 0 w 590"/>
                <a:gd name="T3" fmla="*/ 237 h 1017"/>
                <a:gd name="T4" fmla="*/ 0 w 590"/>
                <a:gd name="T5" fmla="*/ 328 h 1017"/>
                <a:gd name="T6" fmla="*/ 141 w 590"/>
                <a:gd name="T7" fmla="*/ 328 h 1017"/>
                <a:gd name="T8" fmla="*/ 141 w 590"/>
                <a:gd name="T9" fmla="*/ 797 h 1017"/>
                <a:gd name="T10" fmla="*/ 427 w 590"/>
                <a:gd name="T11" fmla="*/ 1016 h 1017"/>
                <a:gd name="T12" fmla="*/ 551 w 590"/>
                <a:gd name="T13" fmla="*/ 1004 h 1017"/>
                <a:gd name="T14" fmla="*/ 564 w 590"/>
                <a:gd name="T15" fmla="*/ 1004 h 1017"/>
                <a:gd name="T16" fmla="*/ 564 w 590"/>
                <a:gd name="T17" fmla="*/ 909 h 1017"/>
                <a:gd name="T18" fmla="*/ 547 w 590"/>
                <a:gd name="T19" fmla="*/ 913 h 1017"/>
                <a:gd name="T20" fmla="*/ 485 w 590"/>
                <a:gd name="T21" fmla="*/ 917 h 1017"/>
                <a:gd name="T22" fmla="*/ 352 w 590"/>
                <a:gd name="T23" fmla="*/ 772 h 1017"/>
                <a:gd name="T24" fmla="*/ 352 w 590"/>
                <a:gd name="T25" fmla="*/ 328 h 1017"/>
                <a:gd name="T26" fmla="*/ 589 w 590"/>
                <a:gd name="T27" fmla="*/ 328 h 1017"/>
                <a:gd name="T28" fmla="*/ 589 w 590"/>
                <a:gd name="T29" fmla="*/ 237 h 1017"/>
                <a:gd name="T30" fmla="*/ 352 w 590"/>
                <a:gd name="T31" fmla="*/ 237 h 1017"/>
                <a:gd name="T32" fmla="*/ 352 w 590"/>
                <a:gd name="T33" fmla="*/ 0 h 1017"/>
                <a:gd name="T34" fmla="*/ 141 w 590"/>
                <a:gd name="T35" fmla="*/ 0 h 1017"/>
                <a:gd name="T36" fmla="*/ 141 w 590"/>
                <a:gd name="T37" fmla="*/ 23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1017">
                  <a:moveTo>
                    <a:pt x="141" y="237"/>
                  </a:moveTo>
                  <a:lnTo>
                    <a:pt x="0" y="237"/>
                  </a:lnTo>
                  <a:lnTo>
                    <a:pt x="0" y="328"/>
                  </a:lnTo>
                  <a:lnTo>
                    <a:pt x="141" y="328"/>
                  </a:lnTo>
                  <a:lnTo>
                    <a:pt x="141" y="797"/>
                  </a:lnTo>
                  <a:cubicBezTo>
                    <a:pt x="141" y="1000"/>
                    <a:pt x="269" y="1016"/>
                    <a:pt x="427" y="1016"/>
                  </a:cubicBezTo>
                  <a:cubicBezTo>
                    <a:pt x="464" y="1016"/>
                    <a:pt x="506" y="1012"/>
                    <a:pt x="551" y="1004"/>
                  </a:cubicBezTo>
                  <a:lnTo>
                    <a:pt x="564" y="1004"/>
                  </a:lnTo>
                  <a:lnTo>
                    <a:pt x="564" y="909"/>
                  </a:lnTo>
                  <a:lnTo>
                    <a:pt x="547" y="913"/>
                  </a:lnTo>
                  <a:cubicBezTo>
                    <a:pt x="531" y="917"/>
                    <a:pt x="510" y="917"/>
                    <a:pt x="485" y="917"/>
                  </a:cubicBezTo>
                  <a:cubicBezTo>
                    <a:pt x="361" y="917"/>
                    <a:pt x="352" y="880"/>
                    <a:pt x="352" y="772"/>
                  </a:cubicBezTo>
                  <a:lnTo>
                    <a:pt x="352" y="328"/>
                  </a:lnTo>
                  <a:lnTo>
                    <a:pt x="589" y="328"/>
                  </a:lnTo>
                  <a:lnTo>
                    <a:pt x="589" y="237"/>
                  </a:lnTo>
                  <a:lnTo>
                    <a:pt x="352" y="237"/>
                  </a:lnTo>
                  <a:lnTo>
                    <a:pt x="352" y="0"/>
                  </a:lnTo>
                  <a:lnTo>
                    <a:pt x="141" y="0"/>
                  </a:lnTo>
                  <a:lnTo>
                    <a:pt x="141" y="23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Freeform 22"/>
            <p:cNvSpPr>
              <a:spLocks noChangeArrowheads="1"/>
            </p:cNvSpPr>
            <p:nvPr/>
          </p:nvSpPr>
          <p:spPr bwMode="auto">
            <a:xfrm>
              <a:off x="6850063" y="4206875"/>
              <a:ext cx="331787" cy="274638"/>
            </a:xfrm>
            <a:custGeom>
              <a:avLst/>
              <a:gdLst>
                <a:gd name="T0" fmla="*/ 705 w 921"/>
                <a:gd name="T1" fmla="*/ 248 h 764"/>
                <a:gd name="T2" fmla="*/ 920 w 921"/>
                <a:gd name="T3" fmla="*/ 0 h 764"/>
                <a:gd name="T4" fmla="*/ 701 w 921"/>
                <a:gd name="T5" fmla="*/ 0 h 764"/>
                <a:gd name="T6" fmla="*/ 497 w 921"/>
                <a:gd name="T7" fmla="*/ 236 h 764"/>
                <a:gd name="T8" fmla="*/ 319 w 921"/>
                <a:gd name="T9" fmla="*/ 0 h 764"/>
                <a:gd name="T10" fmla="*/ 0 w 921"/>
                <a:gd name="T11" fmla="*/ 0 h 764"/>
                <a:gd name="T12" fmla="*/ 0 w 921"/>
                <a:gd name="T13" fmla="*/ 62 h 764"/>
                <a:gd name="T14" fmla="*/ 12 w 921"/>
                <a:gd name="T15" fmla="*/ 62 h 764"/>
                <a:gd name="T16" fmla="*/ 211 w 921"/>
                <a:gd name="T17" fmla="*/ 178 h 764"/>
                <a:gd name="T18" fmla="*/ 344 w 921"/>
                <a:gd name="T19" fmla="*/ 352 h 764"/>
                <a:gd name="T20" fmla="*/ 128 w 921"/>
                <a:gd name="T21" fmla="*/ 601 h 764"/>
                <a:gd name="T22" fmla="*/ 348 w 921"/>
                <a:gd name="T23" fmla="*/ 601 h 764"/>
                <a:gd name="T24" fmla="*/ 443 w 921"/>
                <a:gd name="T25" fmla="*/ 489 h 764"/>
                <a:gd name="T26" fmla="*/ 651 w 921"/>
                <a:gd name="T27" fmla="*/ 763 h 764"/>
                <a:gd name="T28" fmla="*/ 900 w 921"/>
                <a:gd name="T29" fmla="*/ 763 h 764"/>
                <a:gd name="T30" fmla="*/ 506 w 921"/>
                <a:gd name="T31" fmla="*/ 248 h 764"/>
                <a:gd name="T32" fmla="*/ 705 w 921"/>
                <a:gd name="T33" fmla="*/ 2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1" h="764">
                  <a:moveTo>
                    <a:pt x="705" y="248"/>
                  </a:moveTo>
                  <a:lnTo>
                    <a:pt x="920" y="0"/>
                  </a:lnTo>
                  <a:lnTo>
                    <a:pt x="701" y="0"/>
                  </a:lnTo>
                  <a:lnTo>
                    <a:pt x="497" y="236"/>
                  </a:lnTo>
                  <a:lnTo>
                    <a:pt x="319" y="0"/>
                  </a:lnTo>
                  <a:lnTo>
                    <a:pt x="0" y="0"/>
                  </a:lnTo>
                  <a:lnTo>
                    <a:pt x="0" y="62"/>
                  </a:lnTo>
                  <a:lnTo>
                    <a:pt x="12" y="62"/>
                  </a:lnTo>
                  <a:cubicBezTo>
                    <a:pt x="120" y="70"/>
                    <a:pt x="145" y="87"/>
                    <a:pt x="211" y="178"/>
                  </a:cubicBezTo>
                  <a:lnTo>
                    <a:pt x="344" y="352"/>
                  </a:lnTo>
                  <a:lnTo>
                    <a:pt x="128" y="601"/>
                  </a:lnTo>
                  <a:lnTo>
                    <a:pt x="348" y="601"/>
                  </a:lnTo>
                  <a:lnTo>
                    <a:pt x="443" y="489"/>
                  </a:lnTo>
                  <a:lnTo>
                    <a:pt x="651" y="763"/>
                  </a:lnTo>
                  <a:lnTo>
                    <a:pt x="900" y="763"/>
                  </a:lnTo>
                  <a:lnTo>
                    <a:pt x="506" y="248"/>
                  </a:lnTo>
                  <a:lnTo>
                    <a:pt x="705" y="24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Freeform 23"/>
            <p:cNvSpPr>
              <a:spLocks noChangeArrowheads="1"/>
            </p:cNvSpPr>
            <p:nvPr/>
          </p:nvSpPr>
          <p:spPr bwMode="auto">
            <a:xfrm>
              <a:off x="7175500" y="4010025"/>
              <a:ext cx="176213" cy="111125"/>
            </a:xfrm>
            <a:custGeom>
              <a:avLst/>
              <a:gdLst>
                <a:gd name="T0" fmla="*/ 224 w 490"/>
                <a:gd name="T1" fmla="*/ 307 h 308"/>
                <a:gd name="T2" fmla="*/ 0 w 490"/>
                <a:gd name="T3" fmla="*/ 307 h 308"/>
                <a:gd name="T4" fmla="*/ 269 w 490"/>
                <a:gd name="T5" fmla="*/ 0 h 308"/>
                <a:gd name="T6" fmla="*/ 489 w 490"/>
                <a:gd name="T7" fmla="*/ 0 h 308"/>
                <a:gd name="T8" fmla="*/ 224 w 490"/>
                <a:gd name="T9" fmla="*/ 30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308">
                  <a:moveTo>
                    <a:pt x="224" y="307"/>
                  </a:moveTo>
                  <a:lnTo>
                    <a:pt x="0" y="307"/>
                  </a:lnTo>
                  <a:lnTo>
                    <a:pt x="269" y="0"/>
                  </a:lnTo>
                  <a:lnTo>
                    <a:pt x="489" y="0"/>
                  </a:lnTo>
                  <a:lnTo>
                    <a:pt x="224" y="30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142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81" r:id="rId2"/>
    <p:sldLayoutId id="2147483779" r:id="rId3"/>
    <p:sldLayoutId id="2147483782" r:id="rId4"/>
    <p:sldLayoutId id="2147483783" r:id="rId5"/>
    <p:sldLayoutId id="2147483727" r:id="rId6"/>
    <p:sldLayoutId id="2147483728" r:id="rId7"/>
    <p:sldLayoutId id="2147483743" r:id="rId8"/>
    <p:sldLayoutId id="2147483744" r:id="rId9"/>
    <p:sldLayoutId id="2147483650" r:id="rId10"/>
    <p:sldLayoutId id="2147483691" r:id="rId11"/>
    <p:sldLayoutId id="2147483654" r:id="rId12"/>
    <p:sldLayoutId id="2147483669" r:id="rId13"/>
    <p:sldLayoutId id="2147483780" r:id="rId14"/>
    <p:sldLayoutId id="2147483749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400" b="1" kern="1200" cap="none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0988" indent="-280988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2"/>
        </a:buClr>
        <a:buFont typeface="Wingdings" charset="2"/>
        <a:buChar char="§"/>
        <a:defRPr lang="en-US" sz="22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93688" algn="l" defTabSz="914400" rtl="0" eaLnBrk="1" latinLnBrk="0" hangingPunct="1">
        <a:lnSpc>
          <a:spcPct val="95000"/>
        </a:lnSpc>
        <a:spcBef>
          <a:spcPct val="20000"/>
        </a:spcBef>
        <a:spcAft>
          <a:spcPts val="800"/>
        </a:spcAft>
        <a:buFontTx/>
        <a:buChar char="‒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663" indent="-280988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12863" indent="-222250" algn="l" defTabSz="914400" rtl="0" eaLnBrk="1" latinLnBrk="0" hangingPunct="1">
        <a:lnSpc>
          <a:spcPct val="95000"/>
        </a:lnSpc>
        <a:spcBef>
          <a:spcPts val="0"/>
        </a:spcBef>
        <a:spcAft>
          <a:spcPts val="800"/>
        </a:spcAft>
        <a:buFontTx/>
        <a:buChar char="‒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knowledge.hitachivantara.com/@api/deki/files/48613/FE-SL-110-00.pdf7?revision=1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knowledge.hitachivantara.com/@api/deki/files/48613/FE-SL-110-00.pdf7?revision=1" TargetMode="External"/><Relationship Id="rId4" Type="http://schemas.openxmlformats.org/officeDocument/2006/relationships/hyperlink" Target="https://www.hitachivantara.com/en-us/pdf/analyst-content/unified-compute-platform-hc-esg-technical-review.pdf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940213" y="2749198"/>
            <a:ext cx="7653702" cy="369332"/>
          </a:xfrm>
        </p:spPr>
        <p:txBody>
          <a:bodyPr/>
          <a:lstStyle/>
          <a:p>
            <a:r>
              <a:rPr lang="en-US" dirty="0"/>
              <a:t>(All-</a:t>
            </a:r>
            <a:r>
              <a:rPr lang="en-US" dirty="0" err="1"/>
              <a:t>NVMe</a:t>
            </a:r>
            <a:r>
              <a:rPr lang="en-US" dirty="0"/>
              <a:t>, Skylake-SP and Cascade Lake-SP/Persistent Memory)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82650" y="2356529"/>
            <a:ext cx="8191500" cy="392669"/>
          </a:xfrm>
        </p:spPr>
        <p:txBody>
          <a:bodyPr/>
          <a:lstStyle/>
          <a:p>
            <a:r>
              <a:rPr lang="en-US" sz="2400" dirty="0"/>
              <a:t>Performance and Benchmarking with Hitachi UCP HC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40213" y="3805038"/>
            <a:ext cx="4633158" cy="307777"/>
          </a:xfrm>
        </p:spPr>
        <p:txBody>
          <a:bodyPr/>
          <a:lstStyle/>
          <a:p>
            <a:r>
              <a:rPr lang="en-US" dirty="0"/>
              <a:t>Jose Perez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940213" y="4036019"/>
            <a:ext cx="4633158" cy="276999"/>
          </a:xfrm>
        </p:spPr>
        <p:txBody>
          <a:bodyPr/>
          <a:lstStyle/>
          <a:p>
            <a:r>
              <a:rPr lang="en-US" dirty="0"/>
              <a:t>Converged Product Engineering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940213" y="4313018"/>
            <a:ext cx="4633158" cy="276999"/>
          </a:xfrm>
        </p:spPr>
        <p:txBody>
          <a:bodyPr/>
          <a:lstStyle/>
          <a:p>
            <a:r>
              <a:rPr lang="en-US" dirty="0"/>
              <a:t>June 2019</a:t>
            </a:r>
          </a:p>
        </p:txBody>
      </p:sp>
    </p:spTree>
    <p:extLst>
      <p:ext uri="{BB962C8B-B14F-4D97-AF65-F5344CB8AC3E}">
        <p14:creationId xmlns:p14="http://schemas.microsoft.com/office/powerpoint/2010/main" val="305008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6"/>
            <a:ext cx="8312574" cy="4125232"/>
          </a:xfrm>
        </p:spPr>
        <p:txBody>
          <a:bodyPr/>
          <a:lstStyle/>
          <a:p>
            <a:r>
              <a:rPr lang="en-US" sz="1600" dirty="0"/>
              <a:t>Objectives</a:t>
            </a:r>
          </a:p>
          <a:p>
            <a:r>
              <a:rPr lang="en-US" sz="1600" dirty="0"/>
              <a:t>Summary of Results</a:t>
            </a:r>
          </a:p>
          <a:p>
            <a:r>
              <a:rPr lang="en-US" sz="1600" dirty="0"/>
              <a:t>Solution Components</a:t>
            </a:r>
          </a:p>
          <a:p>
            <a:pPr lvl="1"/>
            <a:r>
              <a:rPr lang="en-US" sz="1400" dirty="0"/>
              <a:t>UCP HC Configurations</a:t>
            </a:r>
          </a:p>
          <a:p>
            <a:r>
              <a:rPr lang="en-US" sz="1600" dirty="0"/>
              <a:t>Workloads and Test Cases</a:t>
            </a:r>
          </a:p>
          <a:p>
            <a:pPr lvl="1"/>
            <a:r>
              <a:rPr lang="en-US" sz="1400" dirty="0"/>
              <a:t>UCP HC All-</a:t>
            </a:r>
            <a:r>
              <a:rPr lang="en-US" sz="1400" dirty="0" err="1"/>
              <a:t>NVMe</a:t>
            </a:r>
            <a:r>
              <a:rPr lang="en-US" sz="1400" dirty="0"/>
              <a:t> Vs SATA SSD – </a:t>
            </a:r>
            <a:r>
              <a:rPr lang="en-US" sz="1400" dirty="0" err="1"/>
              <a:t>HCIBench</a:t>
            </a:r>
            <a:r>
              <a:rPr lang="en-US" sz="1400" dirty="0"/>
              <a:t> (All Skylake CPU)</a:t>
            </a:r>
          </a:p>
          <a:p>
            <a:pPr lvl="1"/>
            <a:r>
              <a:rPr lang="en-US" sz="1400" dirty="0"/>
              <a:t>UCP HC All-</a:t>
            </a:r>
            <a:r>
              <a:rPr lang="en-US" sz="1400" dirty="0" err="1"/>
              <a:t>NVMe</a:t>
            </a:r>
            <a:r>
              <a:rPr lang="en-US" sz="1400" dirty="0"/>
              <a:t> Vs SATA SSD - </a:t>
            </a:r>
            <a:r>
              <a:rPr lang="en-US" sz="1400" dirty="0" err="1"/>
              <a:t>HammerDB</a:t>
            </a:r>
            <a:r>
              <a:rPr lang="en-US" sz="1400" dirty="0"/>
              <a:t> (All Skylake CPU)</a:t>
            </a:r>
          </a:p>
          <a:p>
            <a:pPr lvl="1"/>
            <a:r>
              <a:rPr lang="en-US" sz="1400" dirty="0"/>
              <a:t>UCP HC All-</a:t>
            </a:r>
            <a:r>
              <a:rPr lang="en-US" sz="1400" dirty="0" err="1"/>
              <a:t>NVMe</a:t>
            </a:r>
            <a:r>
              <a:rPr lang="en-US" sz="1400" dirty="0"/>
              <a:t> - Skylake vs Cascade/AEP</a:t>
            </a:r>
          </a:p>
          <a:p>
            <a:r>
              <a:rPr lang="en-US" sz="1600" dirty="0"/>
              <a:t>Test Cases &amp; Results</a:t>
            </a:r>
          </a:p>
          <a:p>
            <a:r>
              <a:rPr lang="en-US" sz="1600" dirty="0"/>
              <a:t>Findings &amp; Conclusions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85611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2816156"/>
          </a:xfrm>
        </p:spPr>
        <p:txBody>
          <a:bodyPr/>
          <a:lstStyle/>
          <a:p>
            <a:r>
              <a:rPr lang="en-US" dirty="0"/>
              <a:t>Perform benchmarks on Hitachi UCP HC All-</a:t>
            </a:r>
            <a:r>
              <a:rPr lang="en-US" dirty="0" err="1"/>
              <a:t>NVMe</a:t>
            </a:r>
            <a:r>
              <a:rPr lang="en-US" dirty="0"/>
              <a:t> with Cascade CPU and Intel® Optane DC Persistent Memory (DCPMM).</a:t>
            </a:r>
          </a:p>
          <a:p>
            <a:r>
              <a:rPr lang="en-US" dirty="0"/>
              <a:t>Perform benchmarks on UCP HC based on SATA SSD, </a:t>
            </a:r>
            <a:r>
              <a:rPr lang="en-US" dirty="0" err="1"/>
              <a:t>NVMe</a:t>
            </a:r>
            <a:r>
              <a:rPr lang="en-US" dirty="0"/>
              <a:t> + SATA SSD and All-</a:t>
            </a:r>
            <a:r>
              <a:rPr lang="en-US" dirty="0" err="1"/>
              <a:t>NVMe</a:t>
            </a:r>
            <a:r>
              <a:rPr lang="en-US" dirty="0"/>
              <a:t> solutions.</a:t>
            </a:r>
          </a:p>
          <a:p>
            <a:r>
              <a:rPr lang="en-US" dirty="0"/>
              <a:t>Compare results with UCP HC based on Skylake CPU. 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727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1210588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</a:t>
            </a:r>
            <a:r>
              <a:rPr lang="en-US" b="1" dirty="0"/>
              <a:t>SKL</a:t>
            </a:r>
            <a:r>
              <a:rPr lang="en-US" dirty="0"/>
              <a:t> Vs </a:t>
            </a:r>
            <a:r>
              <a:rPr lang="en-US" b="1" dirty="0"/>
              <a:t>CLX/AEP </a:t>
            </a:r>
            <a:r>
              <a:rPr lang="en-US" dirty="0"/>
              <a:t>Configurations</a:t>
            </a:r>
          </a:p>
          <a:p>
            <a:pPr lvl="1"/>
            <a:r>
              <a:rPr lang="en-US" sz="1200" dirty="0"/>
              <a:t>Charts below show the results of </a:t>
            </a:r>
            <a:r>
              <a:rPr lang="en-US" sz="1200" dirty="0" err="1"/>
              <a:t>HCIBench</a:t>
            </a:r>
            <a:r>
              <a:rPr lang="en-US" sz="1200" dirty="0"/>
              <a:t> tests executed on UCP HC All-</a:t>
            </a:r>
            <a:r>
              <a:rPr lang="en-US" sz="1200" dirty="0" err="1"/>
              <a:t>NVMe</a:t>
            </a:r>
            <a:r>
              <a:rPr lang="en-US" sz="1200" dirty="0"/>
              <a:t> with Skylake (SKL) and Cascade/AEP (CLX/AEP) configurations.</a:t>
            </a:r>
          </a:p>
          <a:p>
            <a:pPr lvl="1"/>
            <a:r>
              <a:rPr lang="en-US" sz="1200" dirty="0"/>
              <a:t>Detailed results and highlights on section </a:t>
            </a:r>
            <a:r>
              <a:rPr lang="en-US" sz="1200" b="1" dirty="0"/>
              <a:t>Workloads and Tests Results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</a:t>
            </a:r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D8D98F-2F23-4E68-A4A0-9CED9EB33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50" y="2410813"/>
            <a:ext cx="3741950" cy="2306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AE7EDE-6FA9-4ACF-A926-F1712851B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99" y="2410813"/>
            <a:ext cx="4228421" cy="230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5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214008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8206741" cy="826380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 Configurations:</a:t>
            </a:r>
          </a:p>
          <a:p>
            <a:pPr lvl="1"/>
            <a:r>
              <a:rPr lang="en-US" sz="1800" dirty="0"/>
              <a:t>4-node UCP HC Cluster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293" y="4201190"/>
            <a:ext cx="3898900" cy="46166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5400" b="1">
                <a:solidFill>
                  <a:srgbClr val="414042"/>
                </a:solidFill>
                <a:latin typeface="HelveticaNeueLT Std" pitchFamily="34" charset="0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Text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C667DA-3F97-437B-9D2C-BFBCEA1D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421901"/>
              </p:ext>
            </p:extLst>
          </p:nvPr>
        </p:nvGraphicFramePr>
        <p:xfrm>
          <a:off x="966216" y="1753287"/>
          <a:ext cx="8078724" cy="3173341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182060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3958564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1125397">
                  <a:extLst>
                    <a:ext uri="{9D8B030D-6E8A-4147-A177-3AD203B41FA5}">
                      <a16:colId xmlns:a16="http://schemas.microsoft.com/office/drawing/2014/main" val="31701887"/>
                    </a:ext>
                  </a:extLst>
                </a:gridCol>
                <a:gridCol w="826340">
                  <a:extLst>
                    <a:ext uri="{9D8B030D-6E8A-4147-A177-3AD203B41FA5}">
                      <a16:colId xmlns:a16="http://schemas.microsoft.com/office/drawing/2014/main" val="1530307434"/>
                    </a:ext>
                  </a:extLst>
                </a:gridCol>
                <a:gridCol w="986363">
                  <a:extLst>
                    <a:ext uri="{9D8B030D-6E8A-4147-A177-3AD203B41FA5}">
                      <a16:colId xmlns:a16="http://schemas.microsoft.com/office/drawing/2014/main" val="3791376523"/>
                    </a:ext>
                  </a:extLst>
                </a:gridCol>
              </a:tblGrid>
              <a:tr h="213701">
                <a:tc>
                  <a:txBody>
                    <a:bodyPr/>
                    <a:lstStyle/>
                    <a:p>
                      <a:r>
                        <a:rPr lang="en-US" sz="1200" dirty="0"/>
                        <a:t>Hardware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Skylake-SP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Cascade Lake-SP/AEP</a:t>
                      </a:r>
                    </a:p>
                  </a:txBody>
                  <a:tcPr marT="0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20884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V124N </a:t>
                      </a:r>
                      <a:r>
                        <a:rPr lang="en-US" sz="1050" dirty="0"/>
                        <a:t>(SKL)</a:t>
                      </a:r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CLX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CLX/AEP</a:t>
                      </a:r>
                    </a:p>
                  </a:txBody>
                  <a:tcPr marT="0" marB="0" anchor="ctr">
                    <a:solidFill>
                      <a:srgbClr val="00206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836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System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Hitachi Advanced Server DS120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CPU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Platinum 8</a:t>
                      </a:r>
                      <a:r>
                        <a:rPr lang="pt-BR" sz="1050" b="1" dirty="0"/>
                        <a:t>2</a:t>
                      </a:r>
                      <a:r>
                        <a:rPr lang="pt-BR" sz="1050" dirty="0"/>
                        <a:t>76L (28 cores, 2.20GHz)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(Cascade 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</a:t>
                      </a:r>
                      <a:r>
                        <a:rPr lang="en-US" sz="1050" dirty="0"/>
                        <a:t>Gold 6</a:t>
                      </a:r>
                      <a:r>
                        <a:rPr lang="en-US" sz="1050" b="1" dirty="0"/>
                        <a:t>1</a:t>
                      </a:r>
                      <a:r>
                        <a:rPr lang="en-US" sz="1050" dirty="0"/>
                        <a:t>40 (18 cores, 2.3GHz)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(Skylake-SP)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72176036"/>
                  </a:ext>
                </a:extLst>
              </a:tr>
              <a:tr h="24126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Memory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32GB 2666 MHz DDR4 RDIMM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 x 32GB</a:t>
                      </a:r>
                    </a:p>
                    <a:p>
                      <a:pPr algn="ctr"/>
                      <a:r>
                        <a:rPr lang="en-US" sz="1050" dirty="0"/>
                        <a:t>(384GB)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8 x 32GB</a:t>
                      </a:r>
                    </a:p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(256 GB)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23168829"/>
                  </a:ext>
                </a:extLst>
              </a:tr>
              <a:tr h="241260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128GB </a:t>
                      </a:r>
                      <a:r>
                        <a:rPr lang="en-US" sz="1050" b="1" dirty="0"/>
                        <a:t>Intel Optane DC Persistent Memory</a:t>
                      </a:r>
                      <a:r>
                        <a:rPr lang="en-US" sz="105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(in Memory Mode)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4 x 128 GB</a:t>
                      </a:r>
                    </a:p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(512 GB)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7394880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Cache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Optane SSD DC P4800X (375GB, U.2) NVMe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7090983"/>
                  </a:ext>
                </a:extLst>
              </a:tr>
              <a:tr h="12063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Capacity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(4TB, U.2) NVMe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1897728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(1TB,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3589414"/>
                  </a:ext>
                </a:extLst>
              </a:tr>
              <a:tr h="24126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 Ethernet Network Connection X722 (</a:t>
                      </a:r>
                      <a:r>
                        <a:rPr lang="en-US" sz="1050" dirty="0"/>
                        <a:t>Quanta X527-DA4 10GbE, quad-port, OCP)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9729359"/>
                  </a:ext>
                </a:extLst>
              </a:tr>
              <a:tr h="175248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Ethernet Network Adapter XXV710-2 25GbE, dual-port</a:t>
                      </a:r>
                      <a:endParaRPr lang="en-US" sz="10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31714966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Boot Device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SATADOM SLC 32GB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49747270"/>
                  </a:ext>
                </a:extLst>
              </a:tr>
              <a:tr h="175248">
                <a:tc>
                  <a:txBody>
                    <a:bodyPr/>
                    <a:lstStyle/>
                    <a:p>
                      <a:r>
                        <a:rPr lang="en-US" sz="1050" dirty="0"/>
                        <a:t>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</a:t>
                      </a:r>
                      <a:r>
                        <a:rPr lang="en-US" sz="1050" dirty="0" err="1"/>
                        <a:t>GbE</a:t>
                      </a:r>
                      <a:r>
                        <a:rPr lang="en-US" sz="1050" dirty="0"/>
                        <a:t> 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4122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57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6118353" cy="826380"/>
          </a:xfrm>
        </p:spPr>
        <p:txBody>
          <a:bodyPr/>
          <a:lstStyle/>
          <a:p>
            <a:r>
              <a:rPr lang="en-US" dirty="0"/>
              <a:t>UCP HC– Network Switches</a:t>
            </a:r>
          </a:p>
          <a:p>
            <a:pPr lvl="1"/>
            <a:r>
              <a:rPr lang="en-US" sz="1800" dirty="0"/>
              <a:t>10/25 </a:t>
            </a:r>
            <a:r>
              <a:rPr lang="en-US" sz="1800" dirty="0" err="1"/>
              <a:t>GbE</a:t>
            </a:r>
            <a:r>
              <a:rPr lang="en-US" sz="1800" dirty="0"/>
              <a:t> Network Support: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293" y="4201190"/>
            <a:ext cx="3898900" cy="46166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5400" b="1">
                <a:solidFill>
                  <a:srgbClr val="414042"/>
                </a:solidFill>
                <a:latin typeface="HelveticaNeueLT Std" pitchFamily="34" charset="0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Text Example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C815DB-58A4-412A-BB19-60E3AC88F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02073"/>
              </p:ext>
            </p:extLst>
          </p:nvPr>
        </p:nvGraphicFramePr>
        <p:xfrm>
          <a:off x="966216" y="1797736"/>
          <a:ext cx="6797040" cy="74009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4169664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1530307434"/>
                    </a:ext>
                  </a:extLst>
                </a:gridCol>
              </a:tblGrid>
              <a:tr h="197582">
                <a:tc>
                  <a:txBody>
                    <a:bodyPr/>
                    <a:lstStyle/>
                    <a:p>
                      <a:r>
                        <a:rPr lang="en-US" sz="1400" dirty="0"/>
                        <a:t>Hardware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Qty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248542">
                <a:tc>
                  <a:txBody>
                    <a:bodyPr/>
                    <a:lstStyle/>
                    <a:p>
                      <a:r>
                        <a:rPr lang="en-US" sz="1200" dirty="0"/>
                        <a:t>Top-of-Rack  Switch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Cisco Nexus 93180YC-EX 48-port 10/25GbE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78193">
                <a:tc>
                  <a:txBody>
                    <a:bodyPr/>
                    <a:lstStyle/>
                    <a:p>
                      <a:r>
                        <a:rPr lang="en-US" sz="1200" dirty="0"/>
                        <a:t>Mgmt. Switch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Cisco Nexus 3840TP 48-port 1GbE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31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6118353" cy="430887"/>
          </a:xfrm>
        </p:spPr>
        <p:txBody>
          <a:bodyPr/>
          <a:lstStyle/>
          <a:p>
            <a:r>
              <a:rPr lang="en-US" dirty="0"/>
              <a:t>Software/Firmware: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577280-661D-4A2D-8FEC-EBE3CCE09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326768"/>
              </p:ext>
            </p:extLst>
          </p:nvPr>
        </p:nvGraphicFramePr>
        <p:xfrm>
          <a:off x="966216" y="1578281"/>
          <a:ext cx="7834884" cy="258747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201924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534570528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3452448606"/>
                    </a:ext>
                  </a:extLst>
                </a:gridCol>
              </a:tblGrid>
              <a:tr h="149157">
                <a:tc>
                  <a:txBody>
                    <a:bodyPr/>
                    <a:lstStyle/>
                    <a:p>
                      <a:r>
                        <a:rPr lang="en-US" sz="1400" dirty="0"/>
                        <a:t>Software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Servers w/SKL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Servers w/CLX/AEP</a:t>
                      </a:r>
                    </a:p>
                  </a:txBody>
                  <a:tcPr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138558">
                <a:tc>
                  <a:txBody>
                    <a:bodyPr/>
                    <a:lstStyle/>
                    <a:p>
                      <a:r>
                        <a:rPr lang="en-US" sz="1200" dirty="0"/>
                        <a:t>VMware vCenter Server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vCenter 6.7.0 Build 9232942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6.7.0 U1 Build 10244857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r>
                        <a:rPr lang="en-US" sz="1200" dirty="0"/>
                        <a:t>VMware </a:t>
                      </a:r>
                      <a:r>
                        <a:rPr lang="en-US" sz="1200" dirty="0" err="1"/>
                        <a:t>ESXi</a:t>
                      </a:r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ESXi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6.7.0 Build 9214924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6.7.0 U1 Build 10764712 (EP5) 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r>
                        <a:rPr lang="en-US" sz="1200" dirty="0"/>
                        <a:t>VMware vSAN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6.7.0 EP5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9868407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r>
                        <a:rPr lang="en-US" sz="1200" dirty="0" err="1"/>
                        <a:t>HCIBench</a:t>
                      </a:r>
                      <a:r>
                        <a:rPr lang="en-US" sz="1200" dirty="0"/>
                        <a:t>/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Vdbench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1.6.7.1 / 5.04.07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 / 5.04.07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433653329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r>
                        <a:rPr lang="en-US" sz="1200" dirty="0"/>
                        <a:t>Firmware: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74118099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pPr lvl="1"/>
                      <a:r>
                        <a:rPr lang="en-US" sz="1200" dirty="0"/>
                        <a:t>BMC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4.23.06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4.57.06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66509629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pPr lvl="1"/>
                      <a:r>
                        <a:rPr lang="en-US" sz="1200" dirty="0"/>
                        <a:t>BIOS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3A10.H7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S5BH3B13.H00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71741900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pPr lvl="1"/>
                      <a:r>
                        <a:rPr lang="en-US" sz="1200" dirty="0"/>
                        <a:t>CPLD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85688509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pPr lvl="1"/>
                      <a:r>
                        <a:rPr lang="en-US" sz="1200" dirty="0"/>
                        <a:t>Intel Optane SSD DC P4800X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E2010324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E2010435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441386456"/>
                  </a:ext>
                </a:extLst>
              </a:tr>
              <a:tr h="202830">
                <a:tc>
                  <a:txBody>
                    <a:bodyPr/>
                    <a:lstStyle/>
                    <a:p>
                      <a:pPr lvl="1"/>
                      <a:r>
                        <a:rPr lang="en-US" sz="1200" dirty="0"/>
                        <a:t>Intel SSD DCP4510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VDV10131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VDV10131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28436970"/>
                  </a:ext>
                </a:extLst>
              </a:tr>
              <a:tr h="255698">
                <a:tc>
                  <a:txBody>
                    <a:bodyPr/>
                    <a:lstStyle/>
                    <a:p>
                      <a:pPr lvl="1"/>
                      <a:r>
                        <a:rPr lang="en-US" sz="1200" b="1" dirty="0"/>
                        <a:t>Intel Optane DC Persistent Memory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1.2.0.5375 and API version 1.15 ( BKC 2019 WW16)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4190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19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6118353" cy="430887"/>
          </a:xfrm>
        </p:spPr>
        <p:txBody>
          <a:bodyPr/>
          <a:lstStyle/>
          <a:p>
            <a:r>
              <a:rPr lang="en-US" dirty="0"/>
              <a:t>Firmware and Software Optimizations: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577280-661D-4A2D-8FEC-EBE3CCE09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33510"/>
              </p:ext>
            </p:extLst>
          </p:nvPr>
        </p:nvGraphicFramePr>
        <p:xfrm>
          <a:off x="678628" y="1407022"/>
          <a:ext cx="8267252" cy="308714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953992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2671525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2641735">
                  <a:extLst>
                    <a:ext uri="{9D8B030D-6E8A-4147-A177-3AD203B41FA5}">
                      <a16:colId xmlns:a16="http://schemas.microsoft.com/office/drawing/2014/main" val="1783247153"/>
                    </a:ext>
                  </a:extLst>
                </a:gridCol>
              </a:tblGrid>
              <a:tr h="178660">
                <a:tc>
                  <a:txBody>
                    <a:bodyPr/>
                    <a:lstStyle/>
                    <a:p>
                      <a:r>
                        <a:rPr lang="en-US" sz="1400" dirty="0"/>
                        <a:t>Setting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Servers w/SKL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Servers w/CLX/AEP</a:t>
                      </a:r>
                    </a:p>
                  </a:txBody>
                  <a:tcPr marT="0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167757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Intel® Hyper Threading Technology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Enabled)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Enabled)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45573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Intel® Turbo Boost Technology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Enabled)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Enabled)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306275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Hardware P-states (HWP)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default: Out of Band Mode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Native Mode (default: Out of Band Mode)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9868407"/>
                  </a:ext>
                </a:extLst>
              </a:tr>
              <a:tr h="245573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C-States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Disabled (default: Enabled)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Disabled (default: Enabled)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480192203"/>
                  </a:ext>
                </a:extLst>
              </a:tr>
              <a:tr h="245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LLC prefetch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default: Disabled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Disabled) 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89769130"/>
                  </a:ext>
                </a:extLst>
              </a:tr>
              <a:tr h="245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BIOS Power and Performance Settings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Performance (default: Custom)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Performance (default: Custom)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433653329"/>
                  </a:ext>
                </a:extLst>
              </a:tr>
              <a:tr h="306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ESXi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Power Management Policy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Performance (default: Balanced)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Performance (default: Balanced)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45221706"/>
                  </a:ext>
                </a:extLst>
              </a:tr>
              <a:tr h="306275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Intel® Trusted Execution Technology (Intel TXT)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Disabled)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Disabled)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74118099"/>
                  </a:ext>
                </a:extLst>
              </a:tr>
              <a:tr h="245573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Trusted Platform Module (TPM) 2.0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TPM 2.0 Installed and Enabled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71741900"/>
                  </a:ext>
                </a:extLst>
              </a:tr>
              <a:tr h="306275">
                <a:tc>
                  <a:txBody>
                    <a:bodyPr/>
                    <a:lstStyle/>
                    <a:p>
                      <a:pPr lvl="0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Intel® Volume Management Device (Intel VMD)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Disabled)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Enabled (default: Disabled)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85688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95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55591"/>
          </a:xfrm>
        </p:spPr>
        <p:txBody>
          <a:bodyPr/>
          <a:lstStyle/>
          <a:p>
            <a:r>
              <a:rPr lang="en-US" dirty="0"/>
              <a:t>AEP DIMM Population</a:t>
            </a:r>
          </a:p>
          <a:p>
            <a:pPr lvl="1"/>
            <a:r>
              <a:rPr lang="en-US" sz="1400" dirty="0"/>
              <a:t>Tests executed with 3 different memory populations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CLX/AEP Memory Population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622E9F-87AF-4013-85BC-AAC08979C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465570"/>
              </p:ext>
            </p:extLst>
          </p:nvPr>
        </p:nvGraphicFramePr>
        <p:xfrm>
          <a:off x="660399" y="1901952"/>
          <a:ext cx="8115302" cy="1828800"/>
        </p:xfrm>
        <a:graphic>
          <a:graphicData uri="http://schemas.openxmlformats.org/drawingml/2006/table">
            <a:tbl>
              <a:tblPr/>
              <a:tblGrid>
                <a:gridCol w="583766">
                  <a:extLst>
                    <a:ext uri="{9D8B030D-6E8A-4147-A177-3AD203B41FA5}">
                      <a16:colId xmlns:a16="http://schemas.microsoft.com/office/drawing/2014/main" val="3814697489"/>
                    </a:ext>
                  </a:extLst>
                </a:gridCol>
                <a:gridCol w="459357">
                  <a:extLst>
                    <a:ext uri="{9D8B030D-6E8A-4147-A177-3AD203B41FA5}">
                      <a16:colId xmlns:a16="http://schemas.microsoft.com/office/drawing/2014/main" val="3655712231"/>
                    </a:ext>
                  </a:extLst>
                </a:gridCol>
                <a:gridCol w="459357">
                  <a:extLst>
                    <a:ext uri="{9D8B030D-6E8A-4147-A177-3AD203B41FA5}">
                      <a16:colId xmlns:a16="http://schemas.microsoft.com/office/drawing/2014/main" val="2955176759"/>
                    </a:ext>
                  </a:extLst>
                </a:gridCol>
                <a:gridCol w="459357">
                  <a:extLst>
                    <a:ext uri="{9D8B030D-6E8A-4147-A177-3AD203B41FA5}">
                      <a16:colId xmlns:a16="http://schemas.microsoft.com/office/drawing/2014/main" val="406381219"/>
                    </a:ext>
                  </a:extLst>
                </a:gridCol>
                <a:gridCol w="459357">
                  <a:extLst>
                    <a:ext uri="{9D8B030D-6E8A-4147-A177-3AD203B41FA5}">
                      <a16:colId xmlns:a16="http://schemas.microsoft.com/office/drawing/2014/main" val="1553069046"/>
                    </a:ext>
                  </a:extLst>
                </a:gridCol>
                <a:gridCol w="478496">
                  <a:extLst>
                    <a:ext uri="{9D8B030D-6E8A-4147-A177-3AD203B41FA5}">
                      <a16:colId xmlns:a16="http://schemas.microsoft.com/office/drawing/2014/main" val="3327555006"/>
                    </a:ext>
                  </a:extLst>
                </a:gridCol>
                <a:gridCol w="478496">
                  <a:extLst>
                    <a:ext uri="{9D8B030D-6E8A-4147-A177-3AD203B41FA5}">
                      <a16:colId xmlns:a16="http://schemas.microsoft.com/office/drawing/2014/main" val="790410739"/>
                    </a:ext>
                  </a:extLst>
                </a:gridCol>
                <a:gridCol w="468927">
                  <a:extLst>
                    <a:ext uri="{9D8B030D-6E8A-4147-A177-3AD203B41FA5}">
                      <a16:colId xmlns:a16="http://schemas.microsoft.com/office/drawing/2014/main" val="340952975"/>
                    </a:ext>
                  </a:extLst>
                </a:gridCol>
                <a:gridCol w="468927">
                  <a:extLst>
                    <a:ext uri="{9D8B030D-6E8A-4147-A177-3AD203B41FA5}">
                      <a16:colId xmlns:a16="http://schemas.microsoft.com/office/drawing/2014/main" val="1770317367"/>
                    </a:ext>
                  </a:extLst>
                </a:gridCol>
                <a:gridCol w="468927">
                  <a:extLst>
                    <a:ext uri="{9D8B030D-6E8A-4147-A177-3AD203B41FA5}">
                      <a16:colId xmlns:a16="http://schemas.microsoft.com/office/drawing/2014/main" val="56215443"/>
                    </a:ext>
                  </a:extLst>
                </a:gridCol>
                <a:gridCol w="468927">
                  <a:extLst>
                    <a:ext uri="{9D8B030D-6E8A-4147-A177-3AD203B41FA5}">
                      <a16:colId xmlns:a16="http://schemas.microsoft.com/office/drawing/2014/main" val="1206031213"/>
                    </a:ext>
                  </a:extLst>
                </a:gridCol>
                <a:gridCol w="478496">
                  <a:extLst>
                    <a:ext uri="{9D8B030D-6E8A-4147-A177-3AD203B41FA5}">
                      <a16:colId xmlns:a16="http://schemas.microsoft.com/office/drawing/2014/main" val="2037573423"/>
                    </a:ext>
                  </a:extLst>
                </a:gridCol>
                <a:gridCol w="478496">
                  <a:extLst>
                    <a:ext uri="{9D8B030D-6E8A-4147-A177-3AD203B41FA5}">
                      <a16:colId xmlns:a16="http://schemas.microsoft.com/office/drawing/2014/main" val="2420696197"/>
                    </a:ext>
                  </a:extLst>
                </a:gridCol>
                <a:gridCol w="526346">
                  <a:extLst>
                    <a:ext uri="{9D8B030D-6E8A-4147-A177-3AD203B41FA5}">
                      <a16:colId xmlns:a16="http://schemas.microsoft.com/office/drawing/2014/main" val="763640265"/>
                    </a:ext>
                  </a:extLst>
                </a:gridCol>
                <a:gridCol w="1378070">
                  <a:extLst>
                    <a:ext uri="{9D8B030D-6E8A-4147-A177-3AD203B41FA5}">
                      <a16:colId xmlns:a16="http://schemas.microsoft.com/office/drawing/2014/main" val="1175865357"/>
                    </a:ext>
                  </a:extLst>
                </a:gridCol>
              </a:tblGrid>
              <a:tr h="209550">
                <a:tc gridSpan="14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Memory Population within the Socket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48903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iMC1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iMC0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0029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DIMMs/Server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5553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F1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F0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E1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E0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D1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D0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C1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C0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B1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B0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A1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Slot A0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Config#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04377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2-2-0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 x 32GB + 8 x 128GB)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7308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8089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1-1-1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(8 x 32GB + 4 x 128GB)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1019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8507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1-1-0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 x 32GB + 4 x 128GB)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662143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CCE13E-72B1-44A4-A440-6194E3D19F3C}"/>
              </a:ext>
            </a:extLst>
          </p:cNvPr>
          <p:cNvSpPr/>
          <p:nvPr/>
        </p:nvSpPr>
        <p:spPr>
          <a:xfrm>
            <a:off x="660399" y="3105150"/>
            <a:ext cx="8115302" cy="228600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A0068-7518-4472-9DC4-4D81E9844BB8}"/>
              </a:ext>
            </a:extLst>
          </p:cNvPr>
          <p:cNvSpPr txBox="1"/>
          <p:nvPr/>
        </p:nvSpPr>
        <p:spPr>
          <a:xfrm>
            <a:off x="660399" y="3914315"/>
            <a:ext cx="1443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MM: </a:t>
            </a:r>
            <a:r>
              <a:rPr lang="en-US" sz="1100" b="1" dirty="0"/>
              <a:t>Memory Mode</a:t>
            </a:r>
          </a:p>
        </p:txBody>
      </p:sp>
      <p:pic>
        <p:nvPicPr>
          <p:cNvPr id="4100" name="Picture 4" descr="https://techcommunity.microsoft.com/t5/image/serverpage/image-id/107640iAA7FEB12C3420A9E">
            <a:extLst>
              <a:ext uri="{FF2B5EF4-FFF2-40B4-BE49-F238E27FC236}">
                <a16:creationId xmlns:a16="http://schemas.microsoft.com/office/drawing/2014/main" id="{1FB4D6B4-AA2B-497B-8779-A12B71260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77" y="924051"/>
            <a:ext cx="2715763" cy="83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D7D011-AE7B-4125-AFA3-EA51B367E25D}"/>
              </a:ext>
            </a:extLst>
          </p:cNvPr>
          <p:cNvSpPr txBox="1"/>
          <p:nvPr/>
        </p:nvSpPr>
        <p:spPr>
          <a:xfrm>
            <a:off x="660399" y="4567428"/>
            <a:ext cx="51571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Note</a:t>
            </a:r>
            <a:r>
              <a:rPr lang="en-US" sz="1100" dirty="0"/>
              <a:t>: More details about AEP DIMM population on slides and the end of the doc</a:t>
            </a:r>
          </a:p>
        </p:txBody>
      </p:sp>
    </p:spTree>
    <p:extLst>
      <p:ext uri="{BB962C8B-B14F-4D97-AF65-F5344CB8AC3E}">
        <p14:creationId xmlns:p14="http://schemas.microsoft.com/office/powerpoint/2010/main" val="302365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Workloads and Test Results</a:t>
            </a:r>
          </a:p>
        </p:txBody>
      </p:sp>
    </p:spTree>
    <p:extLst>
      <p:ext uri="{BB962C8B-B14F-4D97-AF65-F5344CB8AC3E}">
        <p14:creationId xmlns:p14="http://schemas.microsoft.com/office/powerpoint/2010/main" val="142430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90986"/>
          </a:xfrm>
        </p:spPr>
        <p:txBody>
          <a:bodyPr/>
          <a:lstStyle/>
          <a:p>
            <a:r>
              <a:rPr lang="en-US" dirty="0"/>
              <a:t>UCP HC/ </a:t>
            </a:r>
            <a:r>
              <a:rPr lang="en-US" dirty="0" err="1"/>
              <a:t>HCIBench</a:t>
            </a:r>
            <a:r>
              <a:rPr lang="en-US" dirty="0"/>
              <a:t> Benchmark Configuration</a:t>
            </a:r>
          </a:p>
          <a:p>
            <a:pPr lvl="1"/>
            <a:r>
              <a:rPr lang="en-US" sz="1600" dirty="0"/>
              <a:t>Except one test case, all the other tests cases were executed with </a:t>
            </a:r>
            <a:r>
              <a:rPr lang="en-US" sz="1600" dirty="0" err="1"/>
              <a:t>HCIBench</a:t>
            </a:r>
            <a:endParaRPr lang="en-US"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UCP HC/</a:t>
            </a:r>
            <a:r>
              <a:rPr lang="en-US" dirty="0" err="1"/>
              <a:t>HCIBench</a:t>
            </a:r>
            <a:r>
              <a:rPr lang="en-US" dirty="0"/>
              <a:t> Configurations</a:t>
            </a:r>
            <a:endParaRPr lang="en-US" sz="2400" dirty="0"/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26F659E6-8739-4A2D-B9C3-8AD4CC44F015}"/>
              </a:ext>
            </a:extLst>
          </p:cNvPr>
          <p:cNvSpPr/>
          <p:nvPr/>
        </p:nvSpPr>
        <p:spPr bwMode="auto">
          <a:xfrm>
            <a:off x="1253657" y="2632528"/>
            <a:ext cx="2082801" cy="329790"/>
          </a:xfrm>
          <a:prstGeom prst="roundRect">
            <a:avLst/>
          </a:prstGeom>
          <a:gradFill>
            <a:gsLst>
              <a:gs pos="0">
                <a:srgbClr val="037BB1"/>
              </a:gs>
              <a:gs pos="83000">
                <a:srgbClr val="0383BD">
                  <a:alpha val="64000"/>
                </a:srgbClr>
              </a:gs>
            </a:gsLst>
          </a:gradFill>
          <a:ln w="12700">
            <a:solidFill>
              <a:schemeClr val="tx2"/>
            </a:solidFill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31750" h="635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</a:rPr>
              <a:t>VMware vSAN</a:t>
            </a:r>
          </a:p>
        </p:txBody>
      </p:sp>
      <p:pic>
        <p:nvPicPr>
          <p:cNvPr id="22" name="Picture 21" descr="ICON_VirtTriangle_flat_Q408.png">
            <a:extLst>
              <a:ext uri="{FF2B5EF4-FFF2-40B4-BE49-F238E27FC236}">
                <a16:creationId xmlns:a16="http://schemas.microsoft.com/office/drawing/2014/main" id="{45CB7A34-9191-4827-9CB2-9DEC8674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0800000">
            <a:off x="918511" y="2978213"/>
            <a:ext cx="2747376" cy="205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59D7CD-C25D-4005-9CF1-C6AEBC06F19E}"/>
              </a:ext>
            </a:extLst>
          </p:cNvPr>
          <p:cNvSpPr txBox="1"/>
          <p:nvPr/>
        </p:nvSpPr>
        <p:spPr>
          <a:xfrm>
            <a:off x="918512" y="3718491"/>
            <a:ext cx="2747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UCP HC All-NVMe CLX/AEP</a:t>
            </a: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(Hitachi Advanced Server DS120)</a:t>
            </a:r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2A91AF58-788E-4977-85D5-6006C218A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891" y="3259260"/>
            <a:ext cx="1333996" cy="20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F3D3230B-40A8-4890-8D26-58938495A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12" y="3265241"/>
            <a:ext cx="1333996" cy="20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356C0B90-9935-48B2-8380-F7F0702E2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891" y="3488876"/>
            <a:ext cx="1333996" cy="20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A8DFAEB1-B2E8-4EF3-8EC9-92011683C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512" y="3494856"/>
            <a:ext cx="1333996" cy="20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DCA55C9-8A33-40BA-A727-C0140B2BC8CD}"/>
              </a:ext>
            </a:extLst>
          </p:cNvPr>
          <p:cNvSpPr/>
          <p:nvPr/>
        </p:nvSpPr>
        <p:spPr>
          <a:xfrm>
            <a:off x="783758" y="2191951"/>
            <a:ext cx="3028950" cy="1983974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A43304-3B76-4927-998D-BDE3380B1E61}"/>
              </a:ext>
            </a:extLst>
          </p:cNvPr>
          <p:cNvSpPr txBox="1"/>
          <p:nvPr/>
        </p:nvSpPr>
        <p:spPr>
          <a:xfrm>
            <a:off x="1162682" y="2211363"/>
            <a:ext cx="2320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System Under Test (SUT)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4F4657-011B-46BB-909E-64925B13BD15}"/>
              </a:ext>
            </a:extLst>
          </p:cNvPr>
          <p:cNvSpPr txBox="1"/>
          <p:nvPr/>
        </p:nvSpPr>
        <p:spPr>
          <a:xfrm>
            <a:off x="4729439" y="2311391"/>
            <a:ext cx="1143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err="1">
                <a:solidFill>
                  <a:srgbClr val="002060"/>
                </a:solidFill>
              </a:rPr>
              <a:t>HCIBench</a:t>
            </a:r>
            <a:r>
              <a:rPr lang="en-US" sz="1050" b="1" dirty="0">
                <a:solidFill>
                  <a:srgbClr val="002060"/>
                </a:solidFill>
              </a:rPr>
              <a:t> VMs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D7D3799-2EBA-4618-B5CA-AE6BEC4E727A}"/>
              </a:ext>
            </a:extLst>
          </p:cNvPr>
          <p:cNvSpPr/>
          <p:nvPr/>
        </p:nvSpPr>
        <p:spPr>
          <a:xfrm>
            <a:off x="4621307" y="2190520"/>
            <a:ext cx="2693893" cy="1985405"/>
          </a:xfrm>
          <a:prstGeom prst="roundRect">
            <a:avLst>
              <a:gd name="adj" fmla="val 5199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6" name="Arrow: Striped Right 75">
            <a:extLst>
              <a:ext uri="{FF2B5EF4-FFF2-40B4-BE49-F238E27FC236}">
                <a16:creationId xmlns:a16="http://schemas.microsoft.com/office/drawing/2014/main" id="{8E30E730-DC5C-4900-98AF-4961566DFD2F}"/>
              </a:ext>
            </a:extLst>
          </p:cNvPr>
          <p:cNvSpPr/>
          <p:nvPr/>
        </p:nvSpPr>
        <p:spPr>
          <a:xfrm rot="10800000">
            <a:off x="4022913" y="3223088"/>
            <a:ext cx="433294" cy="248920"/>
          </a:xfrm>
          <a:prstGeom prst="striped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pic>
        <p:nvPicPr>
          <p:cNvPr id="81" name="Picture 80" descr="C:\Users\Abject-3D\Desktop\VMWare Files\FINAL diagrams\Basic Virtualization\3D PNGs\DGRM_Server_VMs_basic_6_VMware_Q408_0.png">
            <a:extLst>
              <a:ext uri="{FF2B5EF4-FFF2-40B4-BE49-F238E27FC236}">
                <a16:creationId xmlns:a16="http://schemas.microsoft.com/office/drawing/2014/main" id="{BFECED0B-6158-4B38-B261-02AB81619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9439" y="3077967"/>
            <a:ext cx="933572" cy="702841"/>
          </a:xfrm>
          <a:prstGeom prst="rect">
            <a:avLst/>
          </a:prstGeom>
          <a:noFill/>
        </p:spPr>
      </p:pic>
      <p:pic>
        <p:nvPicPr>
          <p:cNvPr id="84" name="Picture 83" descr="C:\Users\Abject-3D\Desktop\VMWare Files\FINAL diagrams\Basic Virtualization\3D PNGs\DGRM_Server_VMs_basic_6_VMware_Q408_0.png">
            <a:extLst>
              <a:ext uri="{FF2B5EF4-FFF2-40B4-BE49-F238E27FC236}">
                <a16:creationId xmlns:a16="http://schemas.microsoft.com/office/drawing/2014/main" id="{D7CA8D21-612B-4108-826B-7D174BFAD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07504" y="3077967"/>
            <a:ext cx="933572" cy="702841"/>
          </a:xfrm>
          <a:prstGeom prst="rect">
            <a:avLst/>
          </a:prstGeom>
          <a:noFill/>
        </p:spPr>
      </p:pic>
      <p:pic>
        <p:nvPicPr>
          <p:cNvPr id="85" name="Picture 84" descr="C:\Users\Abject-3D\Desktop\VMWare Files\FINAL diagrams\Basic Virtualization\3D PNGs\DGRM_Server_VMs_basic_6_VMware_Q408_0.png">
            <a:extLst>
              <a:ext uri="{FF2B5EF4-FFF2-40B4-BE49-F238E27FC236}">
                <a16:creationId xmlns:a16="http://schemas.microsoft.com/office/drawing/2014/main" id="{7CBEE0C0-F700-4102-AD21-FA1BB1878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85569" y="3077967"/>
            <a:ext cx="933572" cy="702841"/>
          </a:xfrm>
          <a:prstGeom prst="rect">
            <a:avLst/>
          </a:prstGeom>
          <a:noFill/>
        </p:spPr>
      </p:pic>
      <p:pic>
        <p:nvPicPr>
          <p:cNvPr id="87" name="Picture 2" descr="Green memory">
            <a:extLst>
              <a:ext uri="{FF2B5EF4-FFF2-40B4-BE49-F238E27FC236}">
                <a16:creationId xmlns:a16="http://schemas.microsoft.com/office/drawing/2014/main" id="{2787D400-93CB-4D16-AA31-D1127B7E3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463" y="3685340"/>
            <a:ext cx="503953" cy="36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360BF35-80B8-412A-AD97-282E5C411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5427" y="967575"/>
            <a:ext cx="939800" cy="45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0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003660"/>
          </a:xfrm>
        </p:spPr>
        <p:txBody>
          <a:bodyPr/>
          <a:lstStyle/>
          <a:p>
            <a:r>
              <a:rPr lang="en-US" dirty="0"/>
              <a:t>UCP HC/ </a:t>
            </a:r>
            <a:r>
              <a:rPr lang="en-US" dirty="0" err="1"/>
              <a:t>HCIBench</a:t>
            </a:r>
            <a:r>
              <a:rPr lang="en-US" dirty="0"/>
              <a:t> Configuration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4-node </a:t>
            </a:r>
            <a:r>
              <a:rPr lang="en-US" sz="1400" dirty="0" err="1"/>
              <a:t>vSAN</a:t>
            </a:r>
            <a:r>
              <a:rPr lang="en-US" sz="1400" dirty="0"/>
              <a:t> cluster configured, each host with 2 disk groups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Dedupe/Compression disabled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Default </a:t>
            </a:r>
            <a:r>
              <a:rPr lang="en-US" sz="1400" dirty="0" err="1"/>
              <a:t>vSAN</a:t>
            </a:r>
            <a:r>
              <a:rPr lang="en-US" sz="1400" dirty="0"/>
              <a:t> VM Storage Policy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VM Configuration: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16 VMs deployed in cluster (4/host, 2/disk group)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8 VMDK’s per VM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50 and 100GB per VMDK depending on size of </a:t>
            </a:r>
            <a:r>
              <a:rPr lang="en-US" sz="1200" dirty="0" err="1"/>
              <a:t>vSAN</a:t>
            </a:r>
            <a:r>
              <a:rPr lang="en-US" sz="1200" dirty="0"/>
              <a:t> datastore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Clear Read/Write cache before each testing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200" dirty="0"/>
              <a:t>VMDKs initialized with the HCIBench "Zero" option (which uses FIO) before running a workload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VMs evenly distributed across all hosts in the cluster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Each test executed for 30min with 10min warmup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UCP HC/</a:t>
            </a:r>
            <a:r>
              <a:rPr lang="en-US" dirty="0" err="1"/>
              <a:t>HCIBench</a:t>
            </a:r>
            <a:r>
              <a:rPr lang="en-US" dirty="0"/>
              <a:t> Configurations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798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Vs SATA SSD</a:t>
            </a:r>
            <a:br>
              <a:rPr lang="en-US" dirty="0"/>
            </a:br>
            <a:r>
              <a:rPr lang="en-US" dirty="0"/>
              <a:t>(with </a:t>
            </a:r>
            <a:r>
              <a:rPr lang="en-US" dirty="0" err="1"/>
              <a:t>HCIBench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841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3769237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Configurations (Skylake)</a:t>
            </a:r>
          </a:p>
          <a:p>
            <a:pPr lvl="1"/>
            <a:r>
              <a:rPr lang="en-US" sz="1600" dirty="0"/>
              <a:t>Tested with four different configurations of UCP HC, using SATA SSD, </a:t>
            </a:r>
            <a:r>
              <a:rPr lang="en-US" sz="1600" dirty="0" err="1"/>
              <a:t>NVMe</a:t>
            </a:r>
            <a:r>
              <a:rPr lang="en-US" sz="1600" dirty="0"/>
              <a:t> + SATA SSD and All-</a:t>
            </a:r>
            <a:r>
              <a:rPr lang="en-US" sz="1600" dirty="0" err="1"/>
              <a:t>NVMe</a:t>
            </a:r>
            <a:r>
              <a:rPr lang="en-US" sz="1600" dirty="0"/>
              <a:t>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400" dirty="0"/>
              <a:t>Config 1: UCP HC </a:t>
            </a:r>
            <a:r>
              <a:rPr lang="en-US" sz="1400" b="1" dirty="0"/>
              <a:t>V121F</a:t>
            </a:r>
            <a:r>
              <a:rPr lang="en-US" sz="1400" dirty="0"/>
              <a:t> (SATA SSD for Cache + SATA SSD for Capacity)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400" dirty="0"/>
              <a:t>Config 2: UCP HC </a:t>
            </a:r>
            <a:r>
              <a:rPr lang="en-US" sz="1400" b="1" dirty="0"/>
              <a:t>V120F</a:t>
            </a:r>
            <a:r>
              <a:rPr lang="en-US" sz="1400" dirty="0"/>
              <a:t> (P46x0 </a:t>
            </a:r>
            <a:r>
              <a:rPr lang="en-US" sz="1400" dirty="0" err="1"/>
              <a:t>NVMe</a:t>
            </a:r>
            <a:r>
              <a:rPr lang="en-US" sz="1400" dirty="0"/>
              <a:t> for Cache + SATA SSD for Capacity)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400" dirty="0"/>
              <a:t>Config 3: UCP HC </a:t>
            </a:r>
            <a:r>
              <a:rPr lang="en-US" sz="1400" b="1" dirty="0"/>
              <a:t>V123F</a:t>
            </a:r>
            <a:r>
              <a:rPr lang="en-US" sz="1400" dirty="0"/>
              <a:t> (</a:t>
            </a:r>
            <a:r>
              <a:rPr lang="en-US" sz="1400" dirty="0" err="1"/>
              <a:t>Optane</a:t>
            </a:r>
            <a:r>
              <a:rPr lang="en-US" sz="1400" dirty="0"/>
              <a:t> </a:t>
            </a:r>
            <a:r>
              <a:rPr lang="en-US" sz="1400" dirty="0" err="1"/>
              <a:t>NVMe</a:t>
            </a:r>
            <a:r>
              <a:rPr lang="en-US" sz="1400" dirty="0"/>
              <a:t> for Cache + SATA SSD for Capacity)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400" dirty="0"/>
              <a:t>Config 4: UCP HC </a:t>
            </a:r>
            <a:r>
              <a:rPr lang="en-US" sz="1400" b="1" dirty="0"/>
              <a:t>V124N</a:t>
            </a:r>
            <a:r>
              <a:rPr lang="en-US" sz="1400" dirty="0"/>
              <a:t> (</a:t>
            </a:r>
            <a:r>
              <a:rPr lang="en-US" sz="1400" dirty="0" err="1"/>
              <a:t>Optane</a:t>
            </a:r>
            <a:r>
              <a:rPr lang="en-US" sz="1400" dirty="0"/>
              <a:t> </a:t>
            </a:r>
            <a:r>
              <a:rPr lang="en-US" sz="1400" dirty="0" err="1"/>
              <a:t>NVMe</a:t>
            </a:r>
            <a:r>
              <a:rPr lang="en-US" sz="1400" dirty="0"/>
              <a:t> for Cache + P45x0 </a:t>
            </a:r>
            <a:r>
              <a:rPr lang="en-US" sz="1400" dirty="0" err="1"/>
              <a:t>NVMe</a:t>
            </a:r>
            <a:r>
              <a:rPr lang="en-US" sz="1400" dirty="0"/>
              <a:t> for Capacity)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58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8206741" cy="1133644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 Configurations:</a:t>
            </a:r>
          </a:p>
          <a:p>
            <a:pPr lvl="1"/>
            <a:r>
              <a:rPr lang="en-US" sz="1800" dirty="0"/>
              <a:t>4-node UCP HC Cluster</a:t>
            </a:r>
          </a:p>
          <a:p>
            <a:pPr marL="574675" lvl="2" indent="0">
              <a:buNone/>
            </a:pPr>
            <a:r>
              <a:rPr lang="en-US" sz="1400" dirty="0"/>
              <a:t>The servers on the </a:t>
            </a:r>
            <a:r>
              <a:rPr lang="en-US" sz="1400" dirty="0" err="1"/>
              <a:t>vSAN</a:t>
            </a:r>
            <a:r>
              <a:rPr lang="en-US" sz="1400" dirty="0"/>
              <a:t> cluster were configured as indicated below: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293" y="4201190"/>
            <a:ext cx="3898900" cy="46166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5400" b="1">
                <a:solidFill>
                  <a:srgbClr val="414042"/>
                </a:solidFill>
                <a:latin typeface="HelveticaNeueLT Std" pitchFamily="34" charset="0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Text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C667DA-3F97-437B-9D2C-BFBCEA1D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913644"/>
              </p:ext>
            </p:extLst>
          </p:nvPr>
        </p:nvGraphicFramePr>
        <p:xfrm>
          <a:off x="966216" y="2240967"/>
          <a:ext cx="8078724" cy="259927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135634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170188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53030743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65804085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3791376523"/>
                    </a:ext>
                  </a:extLst>
                </a:gridCol>
              </a:tblGrid>
              <a:tr h="213701">
                <a:tc>
                  <a:txBody>
                    <a:bodyPr/>
                    <a:lstStyle/>
                    <a:p>
                      <a:r>
                        <a:rPr lang="en-US" sz="1200" dirty="0"/>
                        <a:t>Hardware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 marT="0" marB="0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Skylake-SP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0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20884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V121F</a:t>
                      </a:r>
                    </a:p>
                  </a:txBody>
                  <a:tcPr marT="0" marB="0"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V120F</a:t>
                      </a:r>
                    </a:p>
                  </a:txBody>
                  <a:tcPr marT="0" marB="0" anchor="ctr">
                    <a:solidFill>
                      <a:schemeClr val="accent3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V123F</a:t>
                      </a:r>
                    </a:p>
                  </a:txBody>
                  <a:tcPr marT="0" marB="0" anchor="ctr">
                    <a:solidFill>
                      <a:schemeClr val="accent3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V124N</a:t>
                      </a:r>
                    </a:p>
                  </a:txBody>
                  <a:tcPr marT="0" marB="0" anchor="ctr">
                    <a:solidFill>
                      <a:srgbClr val="13529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836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System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Hitachi Advanced Server DS120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CPU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</a:t>
                      </a:r>
                      <a:r>
                        <a:rPr lang="en-US" sz="1050" dirty="0"/>
                        <a:t>Gold 6</a:t>
                      </a:r>
                      <a:r>
                        <a:rPr lang="en-US" sz="1050" b="1" dirty="0"/>
                        <a:t>1</a:t>
                      </a:r>
                      <a:r>
                        <a:rPr lang="en-US" sz="1050" dirty="0"/>
                        <a:t>40 (18 cores, 2.3GHz) (Skylake-SP)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Memory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32GB 2666 MHz DDR4 RDIMM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23168829"/>
                  </a:ext>
                </a:extLst>
              </a:tr>
              <a:tr h="120630">
                <a:tc rowSpan="3">
                  <a:txBody>
                    <a:bodyPr/>
                    <a:lstStyle/>
                    <a:p>
                      <a:r>
                        <a:rPr lang="en-US" sz="1050" dirty="0"/>
                        <a:t>Cache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S46x0 (960GB, 2.5” U.2)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7090983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P4610 (1.6TB,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51281754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</a:t>
                      </a:r>
                      <a:r>
                        <a:rPr lang="en-US" sz="1050" dirty="0" err="1"/>
                        <a:t>Optane</a:t>
                      </a:r>
                      <a:r>
                        <a:rPr lang="en-US" sz="1050" dirty="0"/>
                        <a:t> SSD DC P4800X (375GB,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90219744"/>
                  </a:ext>
                </a:extLst>
              </a:tr>
              <a:tr h="12063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Capacity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S4500 (1.92TB, 2.5” U.2)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1897728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(1TB,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3589414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 Ethernet Network Connection X722 (</a:t>
                      </a:r>
                      <a:r>
                        <a:rPr lang="en-US" sz="1050" dirty="0"/>
                        <a:t>Quanta X527-DA4 10GbE, quad-port, OCP)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97293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Boot Device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SATADOM SLC 32GB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49747270"/>
                  </a:ext>
                </a:extLst>
              </a:tr>
              <a:tr h="175248">
                <a:tc>
                  <a:txBody>
                    <a:bodyPr/>
                    <a:lstStyle/>
                    <a:p>
                      <a:r>
                        <a:rPr lang="en-US" sz="1050" dirty="0"/>
                        <a:t>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</a:t>
                      </a:r>
                      <a:r>
                        <a:rPr lang="en-US" sz="1050" dirty="0" err="1"/>
                        <a:t>GbE</a:t>
                      </a:r>
                      <a:r>
                        <a:rPr lang="en-US" sz="1050" dirty="0"/>
                        <a:t> 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4122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54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Results</a:t>
            </a: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Workloads/Results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71CE6E-4BB8-4398-9199-2228DEA8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38" y="1407221"/>
            <a:ext cx="3496665" cy="2290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DEB48A-58CA-42A6-BEDB-8E8868414D27}"/>
              </a:ext>
            </a:extLst>
          </p:cNvPr>
          <p:cNvSpPr txBox="1"/>
          <p:nvPr/>
        </p:nvSpPr>
        <p:spPr>
          <a:xfrm>
            <a:off x="707447" y="3827350"/>
            <a:ext cx="7824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big difference when comparing performance results between SATA SSD Vs All-</a:t>
            </a:r>
            <a:r>
              <a:rPr lang="en-US" sz="1200" dirty="0" err="1"/>
              <a:t>NVMe</a:t>
            </a:r>
            <a:r>
              <a:rPr lang="en-US" sz="1200" dirty="0"/>
              <a:t> clusters is for Write-intensive workloads.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total max IOPS achieved in an All-</a:t>
            </a:r>
            <a:r>
              <a:rPr lang="en-US" sz="1200" dirty="0" err="1"/>
              <a:t>NVMe</a:t>
            </a:r>
            <a:r>
              <a:rPr lang="en-US" sz="1200" dirty="0"/>
              <a:t> cluster could be 2 to 3 times the IOPS achieved on a SATA SSD cluster, while latency could be 1.3 to 3.3 times lower on the All-</a:t>
            </a:r>
            <a:r>
              <a:rPr lang="en-US" sz="1200" dirty="0" err="1"/>
              <a:t>NVMe</a:t>
            </a:r>
            <a:r>
              <a:rPr lang="en-US" sz="1200" dirty="0"/>
              <a:t> cluster.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 the other side, all these gains in IOPS (2-to-3 times) and lower latency (up to 3x lower) can be achieved with only a small delta in cost (16% 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201B5-3AAB-4768-AF8D-003707B20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244" y="1393197"/>
            <a:ext cx="3802952" cy="23044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FDBECF-F44A-4F3C-A26D-590BEA3A5E3D}"/>
              </a:ext>
            </a:extLst>
          </p:cNvPr>
          <p:cNvSpPr txBox="1"/>
          <p:nvPr/>
        </p:nvSpPr>
        <p:spPr>
          <a:xfrm>
            <a:off x="4597423" y="3638652"/>
            <a:ext cx="2056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Note: based on COG at November 2018 </a:t>
            </a:r>
          </a:p>
        </p:txBody>
      </p:sp>
    </p:spTree>
    <p:extLst>
      <p:ext uri="{BB962C8B-B14F-4D97-AF65-F5344CB8AC3E}">
        <p14:creationId xmlns:p14="http://schemas.microsoft.com/office/powerpoint/2010/main" val="235557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Results</a:t>
            </a: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D7604-EB7D-4AE3-8952-3876DC26F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80483"/>
            <a:ext cx="6501206" cy="321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0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Results</a:t>
            </a: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197F30-7820-4046-98B7-9997D86C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1774974"/>
            <a:ext cx="8519160" cy="17542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DF907F-2091-475B-97C2-4CA11EE490CE}"/>
              </a:ext>
            </a:extLst>
          </p:cNvPr>
          <p:cNvSpPr/>
          <p:nvPr/>
        </p:nvSpPr>
        <p:spPr>
          <a:xfrm>
            <a:off x="372508" y="3852759"/>
            <a:ext cx="7796132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More details about these performance tests can be found on the following Tech Note:</a:t>
            </a:r>
          </a:p>
          <a:p>
            <a:endParaRPr lang="en-US" sz="1100" b="1" dirty="0"/>
          </a:p>
          <a:p>
            <a:pPr lvl="1"/>
            <a:r>
              <a:rPr lang="en-US" sz="1100" b="1" dirty="0"/>
              <a:t>Performance and Benchmarking Hitachi Unified Compute Platform HC Using an All-</a:t>
            </a:r>
            <a:r>
              <a:rPr lang="en-US" sz="1100" b="1" dirty="0" err="1"/>
              <a:t>NVMe</a:t>
            </a:r>
            <a:r>
              <a:rPr lang="en-US" sz="1100" b="1" dirty="0"/>
              <a:t> Configuration</a:t>
            </a:r>
          </a:p>
          <a:p>
            <a:pPr lvl="1"/>
            <a:r>
              <a:rPr lang="en-US" sz="1200" dirty="0">
                <a:hlinkClick r:id="rId4"/>
              </a:rPr>
              <a:t>https://knowledge.hitachivantara.com/@api/deki/files/48613/FE-SL-110-00.pdf7?revision=1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61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Vs SATA SSD</a:t>
            </a:r>
            <a:br>
              <a:rPr lang="en-US" dirty="0"/>
            </a:br>
            <a:r>
              <a:rPr lang="en-US" dirty="0"/>
              <a:t>(with </a:t>
            </a:r>
            <a:r>
              <a:rPr lang="en-US" dirty="0" err="1"/>
              <a:t>HammerDB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097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1375505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- </a:t>
            </a:r>
            <a:r>
              <a:rPr lang="en-US" dirty="0" err="1"/>
              <a:t>HammerDB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100" dirty="0"/>
              <a:t>UCP HC was tested with </a:t>
            </a:r>
            <a:r>
              <a:rPr lang="en-US" sz="1100" dirty="0" err="1"/>
              <a:t>HammerDB</a:t>
            </a:r>
            <a:r>
              <a:rPr lang="en-US" sz="1100" dirty="0"/>
              <a:t> running a TPC-C like workload on Microsoft Windows Server 2016 and Microsoft SQL Server 2016 virtual machines. Two configuration were used for these tests: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050" dirty="0"/>
              <a:t>Config 1: UCP HC </a:t>
            </a:r>
            <a:r>
              <a:rPr lang="en-US" sz="1050" b="1" dirty="0"/>
              <a:t>V121F</a:t>
            </a:r>
            <a:r>
              <a:rPr lang="en-US" sz="1050" dirty="0"/>
              <a:t> (SATA SSD for Cache + SATA SSD for Capacity)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050" dirty="0"/>
              <a:t>Config 2: UCP HC </a:t>
            </a:r>
            <a:r>
              <a:rPr lang="en-US" sz="1050" b="1" dirty="0"/>
              <a:t>V124N</a:t>
            </a:r>
            <a:r>
              <a:rPr lang="en-US" sz="1050" dirty="0"/>
              <a:t> (</a:t>
            </a:r>
            <a:r>
              <a:rPr lang="en-US" sz="1050" dirty="0" err="1"/>
              <a:t>Optane</a:t>
            </a:r>
            <a:r>
              <a:rPr lang="en-US" sz="1050" dirty="0"/>
              <a:t> </a:t>
            </a:r>
            <a:r>
              <a:rPr lang="en-US" sz="1050" dirty="0" err="1"/>
              <a:t>NVMe</a:t>
            </a:r>
            <a:r>
              <a:rPr lang="en-US" sz="1050" dirty="0"/>
              <a:t> for Cache + P45x0 </a:t>
            </a:r>
            <a:r>
              <a:rPr lang="en-US" sz="1050" dirty="0" err="1"/>
              <a:t>NVMe</a:t>
            </a:r>
            <a:r>
              <a:rPr lang="en-US" sz="1050" dirty="0"/>
              <a:t> for Capacity)</a:t>
            </a:r>
            <a:endParaRPr lang="en-US"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CE803D-D35A-47F4-917A-F963F6908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485170"/>
              </p:ext>
            </p:extLst>
          </p:nvPr>
        </p:nvGraphicFramePr>
        <p:xfrm>
          <a:off x="859000" y="2453057"/>
          <a:ext cx="7394325" cy="243925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298713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4371645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871424">
                  <a:extLst>
                    <a:ext uri="{9D8B030D-6E8A-4147-A177-3AD203B41FA5}">
                      <a16:colId xmlns:a16="http://schemas.microsoft.com/office/drawing/2014/main" val="31701887"/>
                    </a:ext>
                  </a:extLst>
                </a:gridCol>
                <a:gridCol w="852543">
                  <a:extLst>
                    <a:ext uri="{9D8B030D-6E8A-4147-A177-3AD203B41FA5}">
                      <a16:colId xmlns:a16="http://schemas.microsoft.com/office/drawing/2014/main" val="3791376523"/>
                    </a:ext>
                  </a:extLst>
                </a:gridCol>
              </a:tblGrid>
              <a:tr h="213701">
                <a:tc>
                  <a:txBody>
                    <a:bodyPr/>
                    <a:lstStyle/>
                    <a:p>
                      <a:r>
                        <a:rPr lang="en-US" sz="1200" dirty="0"/>
                        <a:t>Hardware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Skylake-SP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20884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V121F</a:t>
                      </a:r>
                    </a:p>
                  </a:txBody>
                  <a:tcPr marT="0" marB="0"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V124N</a:t>
                      </a:r>
                    </a:p>
                  </a:txBody>
                  <a:tcPr marT="0" marB="0" anchor="ctr">
                    <a:solidFill>
                      <a:srgbClr val="13529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836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System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Hitachi Advanced Server DS120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CPU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</a:t>
                      </a:r>
                      <a:r>
                        <a:rPr lang="en-US" sz="1050" dirty="0"/>
                        <a:t>Gold 6</a:t>
                      </a:r>
                      <a:r>
                        <a:rPr lang="en-US" sz="1050" b="1" dirty="0"/>
                        <a:t>1</a:t>
                      </a:r>
                      <a:r>
                        <a:rPr lang="en-US" sz="1050" dirty="0"/>
                        <a:t>40 (18 cores, 2.3GHz) (Skylake-SP)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Memory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32GB 2666 MHz DDR4 RDIMM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 x 32GB</a:t>
                      </a:r>
                    </a:p>
                    <a:p>
                      <a:pPr algn="ctr"/>
                      <a:r>
                        <a:rPr lang="en-US" sz="1050" b="1" dirty="0"/>
                        <a:t>(384GB</a:t>
                      </a:r>
                      <a:r>
                        <a:rPr lang="en-US" sz="1050" dirty="0"/>
                        <a:t>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 x 32GB</a:t>
                      </a:r>
                    </a:p>
                    <a:p>
                      <a:pPr algn="ctr"/>
                      <a:r>
                        <a:rPr lang="en-US" sz="1050" dirty="0"/>
                        <a:t>(</a:t>
                      </a:r>
                      <a:r>
                        <a:rPr lang="en-US" sz="1050" b="1" dirty="0"/>
                        <a:t>384GB</a:t>
                      </a:r>
                      <a:r>
                        <a:rPr lang="en-US" sz="1050" dirty="0"/>
                        <a:t>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23168829"/>
                  </a:ext>
                </a:extLst>
              </a:tr>
              <a:tr h="12063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Cache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S46x0 (960GB, 2.5” U.2)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7090983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</a:t>
                      </a:r>
                      <a:r>
                        <a:rPr lang="en-US" sz="1050" dirty="0" err="1"/>
                        <a:t>Optane</a:t>
                      </a:r>
                      <a:r>
                        <a:rPr lang="en-US" sz="1050" dirty="0"/>
                        <a:t> SSD DC P4800X (375GB,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90219744"/>
                  </a:ext>
                </a:extLst>
              </a:tr>
              <a:tr h="12063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Capacity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S4500 (1.92TB, 2.5” U.2)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1897728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(1TB,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3589414"/>
                  </a:ext>
                </a:extLst>
              </a:tr>
              <a:tr h="241260">
                <a:tc>
                  <a:txBody>
                    <a:bodyPr/>
                    <a:lstStyle/>
                    <a:p>
                      <a:r>
                        <a:rPr lang="en-US" sz="1050" dirty="0"/>
                        <a:t>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 Ethernet Network Connection X722 (</a:t>
                      </a:r>
                      <a:r>
                        <a:rPr lang="en-US" sz="1050" dirty="0"/>
                        <a:t>Quanta X527-DA4 10GbE, quad-port, OCP)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9729359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Boot Device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SATADOM SLC 32GB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49747270"/>
                  </a:ext>
                </a:extLst>
              </a:tr>
              <a:tr h="175248">
                <a:tc>
                  <a:txBody>
                    <a:bodyPr/>
                    <a:lstStyle/>
                    <a:p>
                      <a:r>
                        <a:rPr lang="en-US" sz="1050" dirty="0"/>
                        <a:t>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</a:t>
                      </a:r>
                      <a:r>
                        <a:rPr lang="en-US" sz="1050" dirty="0" err="1"/>
                        <a:t>GbE</a:t>
                      </a:r>
                      <a:r>
                        <a:rPr lang="en-US" sz="1050" dirty="0"/>
                        <a:t> 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4122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1070549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– </a:t>
            </a:r>
            <a:r>
              <a:rPr lang="en-US" dirty="0" err="1"/>
              <a:t>HammerDB</a:t>
            </a:r>
            <a:endParaRPr lang="en-US" dirty="0"/>
          </a:p>
          <a:p>
            <a:pPr lvl="1"/>
            <a:r>
              <a:rPr lang="en-US" sz="1200" dirty="0"/>
              <a:t>Tables below show the configuration for </a:t>
            </a:r>
            <a:r>
              <a:rPr lang="en-US" sz="1200" dirty="0" err="1"/>
              <a:t>HammerDB</a:t>
            </a:r>
            <a:r>
              <a:rPr lang="en-US" sz="1200" dirty="0"/>
              <a:t> and the SQL Server VMs: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8C2DDF-52A5-4984-869C-E70BD49A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69" y="1791387"/>
            <a:ext cx="7490091" cy="1313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78082-E6EB-4C7C-98A5-83875EFA6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69" y="3261360"/>
            <a:ext cx="2715945" cy="1617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A0FFC0-8758-42AF-9E2B-E1FBAEACE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215" y="3261360"/>
            <a:ext cx="2898825" cy="124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8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55591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- </a:t>
            </a:r>
            <a:r>
              <a:rPr lang="en-US" dirty="0" err="1"/>
              <a:t>HammerDB</a:t>
            </a:r>
            <a:endParaRPr lang="en-US" dirty="0"/>
          </a:p>
          <a:p>
            <a:pPr marL="280987" lvl="1" indent="0">
              <a:buNone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Workloads/Results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64682-B257-432C-8D0F-FE9DE9E58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13" y="1662206"/>
            <a:ext cx="3678097" cy="2568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C11123-C389-4AD1-82A4-3F14FAB6D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341" y="1662206"/>
            <a:ext cx="3665218" cy="256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2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55591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- </a:t>
            </a:r>
            <a:r>
              <a:rPr lang="en-US" dirty="0" err="1"/>
              <a:t>HammerDB</a:t>
            </a:r>
            <a:endParaRPr lang="en-US" dirty="0"/>
          </a:p>
          <a:p>
            <a:pPr marL="280987" lvl="1" indent="0">
              <a:buNone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Workloads/Results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908B3-DBF5-47C2-8D48-4B1AD856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1" y="1723166"/>
            <a:ext cx="3351459" cy="2334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2DFCB3-65D5-468A-B75D-382151080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706" y="1723166"/>
            <a:ext cx="3336930" cy="233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0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55591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- </a:t>
            </a:r>
            <a:r>
              <a:rPr lang="en-US" dirty="0" err="1"/>
              <a:t>HammerDB</a:t>
            </a:r>
            <a:endParaRPr lang="en-US" dirty="0"/>
          </a:p>
          <a:p>
            <a:pPr marL="280987" lvl="1" indent="0">
              <a:buNone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32DD03-CC77-4AF3-8E3D-D3AB03B40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54" y="1482522"/>
            <a:ext cx="3561086" cy="2510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19A32A-3E77-4C39-A982-516C5108AD53}"/>
              </a:ext>
            </a:extLst>
          </p:cNvPr>
          <p:cNvSpPr txBox="1"/>
          <p:nvPr/>
        </p:nvSpPr>
        <p:spPr>
          <a:xfrm>
            <a:off x="601980" y="1434624"/>
            <a:ext cx="46786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summary, for an OLTP application, an All-</a:t>
            </a:r>
            <a:r>
              <a:rPr lang="en-US" sz="1200" dirty="0" err="1"/>
              <a:t>NVMe</a:t>
            </a:r>
            <a:r>
              <a:rPr lang="en-US" sz="1200" dirty="0"/>
              <a:t> cluster shows about 90% more transactions per minute (TPM) than the SATA SSD cluster.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All-</a:t>
            </a:r>
            <a:r>
              <a:rPr lang="en-US" sz="1200" dirty="0" err="1"/>
              <a:t>NVMe</a:t>
            </a:r>
            <a:r>
              <a:rPr lang="en-US" sz="1200" dirty="0"/>
              <a:t> cluster has 2 times more IOPS and more than 6 times lower latency.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When comparing the TPM per price, the all-</a:t>
            </a:r>
            <a:r>
              <a:rPr lang="en-US" sz="1200" dirty="0" err="1"/>
              <a:t>NVMe</a:t>
            </a:r>
            <a:r>
              <a:rPr lang="en-US" sz="1200" dirty="0"/>
              <a:t> solution can be even about 40% lower in cost (TPM/dollar). For the cost analysis, both solutions were compared using capacity drives that accounted for the same total raw capacity on a </a:t>
            </a:r>
            <a:r>
              <a:rPr lang="en-US" sz="1200" dirty="0" err="1"/>
              <a:t>vSAN</a:t>
            </a:r>
            <a:r>
              <a:rPr lang="en-US" sz="1200" dirty="0"/>
              <a:t> datastore.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Tis is the result of running the same number of virtual machines per workload, with same number of </a:t>
            </a:r>
            <a:r>
              <a:rPr lang="en-US" sz="1200" dirty="0" err="1"/>
              <a:t>HammerDB</a:t>
            </a:r>
            <a:r>
              <a:rPr lang="en-US" sz="1200" dirty="0"/>
              <a:t> virtual users across both clusters. This did not necessarily push the cluster to its maximum capacity, where the vCPUs can be fully saturated.</a:t>
            </a:r>
          </a:p>
        </p:txBody>
      </p:sp>
    </p:spTree>
    <p:extLst>
      <p:ext uri="{BB962C8B-B14F-4D97-AF65-F5344CB8AC3E}">
        <p14:creationId xmlns:p14="http://schemas.microsoft.com/office/powerpoint/2010/main" val="527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02500"/>
          </a:xfrm>
        </p:spPr>
        <p:txBody>
          <a:bodyPr/>
          <a:lstStyle/>
          <a:p>
            <a:r>
              <a:rPr lang="en-US" dirty="0"/>
              <a:t>UCP HC – All-</a:t>
            </a:r>
            <a:r>
              <a:rPr lang="en-US" dirty="0" err="1"/>
              <a:t>NVMe</a:t>
            </a:r>
            <a:r>
              <a:rPr lang="en-US" dirty="0"/>
              <a:t> Vs SATA SSD – </a:t>
            </a:r>
            <a:r>
              <a:rPr lang="en-US" dirty="0" err="1"/>
              <a:t>HammerDB</a:t>
            </a:r>
            <a:endParaRPr lang="en-US" dirty="0"/>
          </a:p>
          <a:p>
            <a:pPr lvl="1"/>
            <a:r>
              <a:rPr lang="en-US" sz="1100" dirty="0"/>
              <a:t>Tables below show the results from the previous charts</a:t>
            </a: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HammerDB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481128-7988-44E6-87AB-29C0EC052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93" y="1670075"/>
            <a:ext cx="6104814" cy="2271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DCEE67-B67B-4D98-99E8-B3CECC7034C8}"/>
              </a:ext>
            </a:extLst>
          </p:cNvPr>
          <p:cNvSpPr/>
          <p:nvPr/>
        </p:nvSpPr>
        <p:spPr>
          <a:xfrm>
            <a:off x="853440" y="3996692"/>
            <a:ext cx="7994726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More details about these performance tests/results can be found on the following papers: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1" dirty="0"/>
              <a:t>Maximizing Hyperconverged Performance with </a:t>
            </a:r>
            <a:r>
              <a:rPr lang="en-US" sz="1050" b="1" dirty="0" err="1"/>
              <a:t>NVMe</a:t>
            </a:r>
            <a:endParaRPr lang="en-US" sz="1050" b="1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sz="1000" dirty="0">
                <a:hlinkClick r:id="rId4"/>
              </a:rPr>
              <a:t>https://www.hitachivantara.com/en-us/pdf/analyst-content/unified-compute-platform-hc-esg-technical-review.pdf</a:t>
            </a:r>
            <a:endParaRPr 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b="1" dirty="0"/>
              <a:t>Performance and Benchmarking Hitachi Unified Compute Platform HC Using an All-</a:t>
            </a:r>
            <a:r>
              <a:rPr lang="en-US" sz="1050" b="1" dirty="0" err="1"/>
              <a:t>NVMe</a:t>
            </a:r>
            <a:r>
              <a:rPr lang="en-US" sz="1050" b="1" dirty="0"/>
              <a:t> Configuration</a:t>
            </a:r>
          </a:p>
          <a:p>
            <a:pPr lvl="1"/>
            <a:r>
              <a:rPr lang="en-US" sz="1050" dirty="0">
                <a:hlinkClick r:id="rId5"/>
              </a:rPr>
              <a:t>https://knowledge.hitachivantara.com/@api/deki/files/48613/FE-SL-110-00.pdf7?revision=1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5173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SKL Vs CLX/AEP</a:t>
            </a:r>
            <a:br>
              <a:rPr lang="en-US" dirty="0"/>
            </a:br>
            <a:r>
              <a:rPr lang="en-US" dirty="0"/>
              <a:t>(with </a:t>
            </a:r>
            <a:r>
              <a:rPr lang="en-US" dirty="0" err="1"/>
              <a:t>HCIBench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957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3434273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 </a:t>
            </a:r>
            <a:r>
              <a:rPr lang="en-US" dirty="0" err="1"/>
              <a:t>Sylake</a:t>
            </a:r>
            <a:r>
              <a:rPr lang="en-US" dirty="0"/>
              <a:t> Vs Cascade/AEP</a:t>
            </a:r>
          </a:p>
          <a:p>
            <a:pPr lvl="1"/>
            <a:r>
              <a:rPr lang="en-US" sz="1600" dirty="0"/>
              <a:t>UCP HC with four different configurations was used, with Skylake CPU, Cascade CPU and Cascade + AEP, and using different Firmware: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/>
              <a:t>Config 1: UCP HC V124N with Skylake CPU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/>
              <a:t>Config 2: UCP HC with </a:t>
            </a:r>
            <a:r>
              <a:rPr lang="en-US" sz="1600" b="1" dirty="0"/>
              <a:t>Cascade CPU </a:t>
            </a:r>
            <a:r>
              <a:rPr lang="en-US" sz="1600" dirty="0"/>
              <a:t>(Base Configuration)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/>
              <a:t>Config 3: UCP HC with </a:t>
            </a:r>
            <a:r>
              <a:rPr lang="en-US" sz="1600" b="1" dirty="0"/>
              <a:t>Cascade CPU + AEP </a:t>
            </a:r>
            <a:r>
              <a:rPr lang="en-US" sz="1600" dirty="0"/>
              <a:t>(Plus Configuration)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600" dirty="0"/>
              <a:t>Config 4: UCP HC with </a:t>
            </a:r>
            <a:r>
              <a:rPr lang="en-US" sz="1600" b="1" dirty="0"/>
              <a:t>Cascade CPU </a:t>
            </a:r>
            <a:r>
              <a:rPr lang="en-US" sz="1600" dirty="0"/>
              <a:t>(Base Configuration) – New BIOS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Workloads/Results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516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64159" y="967575"/>
            <a:ext cx="8206741" cy="826380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 Configurations:</a:t>
            </a:r>
          </a:p>
          <a:p>
            <a:pPr lvl="1"/>
            <a:r>
              <a:rPr lang="en-US" sz="1800" dirty="0"/>
              <a:t>4-node UCP HC Cluster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14141"/>
                </a:solidFill>
              </a:rPr>
              <a:t>Solution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293" y="4201190"/>
            <a:ext cx="3898900" cy="46166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5400" b="1">
                <a:solidFill>
                  <a:srgbClr val="414042"/>
                </a:solidFill>
                <a:latin typeface="HelveticaNeueLT Std" pitchFamily="34" charset="0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Text 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C667DA-3F97-437B-9D2C-BFBCEA1D2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884066"/>
              </p:ext>
            </p:extLst>
          </p:nvPr>
        </p:nvGraphicFramePr>
        <p:xfrm>
          <a:off x="966216" y="1753287"/>
          <a:ext cx="8078724" cy="3173341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182060">
                  <a:extLst>
                    <a:ext uri="{9D8B030D-6E8A-4147-A177-3AD203B41FA5}">
                      <a16:colId xmlns:a16="http://schemas.microsoft.com/office/drawing/2014/main" val="2539651683"/>
                    </a:ext>
                  </a:extLst>
                </a:gridCol>
                <a:gridCol w="3958564">
                  <a:extLst>
                    <a:ext uri="{9D8B030D-6E8A-4147-A177-3AD203B41FA5}">
                      <a16:colId xmlns:a16="http://schemas.microsoft.com/office/drawing/2014/main" val="3264417345"/>
                    </a:ext>
                  </a:extLst>
                </a:gridCol>
                <a:gridCol w="1125397">
                  <a:extLst>
                    <a:ext uri="{9D8B030D-6E8A-4147-A177-3AD203B41FA5}">
                      <a16:colId xmlns:a16="http://schemas.microsoft.com/office/drawing/2014/main" val="31701887"/>
                    </a:ext>
                  </a:extLst>
                </a:gridCol>
                <a:gridCol w="826340">
                  <a:extLst>
                    <a:ext uri="{9D8B030D-6E8A-4147-A177-3AD203B41FA5}">
                      <a16:colId xmlns:a16="http://schemas.microsoft.com/office/drawing/2014/main" val="1530307434"/>
                    </a:ext>
                  </a:extLst>
                </a:gridCol>
                <a:gridCol w="986363">
                  <a:extLst>
                    <a:ext uri="{9D8B030D-6E8A-4147-A177-3AD203B41FA5}">
                      <a16:colId xmlns:a16="http://schemas.microsoft.com/office/drawing/2014/main" val="3791376523"/>
                    </a:ext>
                  </a:extLst>
                </a:gridCol>
              </a:tblGrid>
              <a:tr h="213701">
                <a:tc>
                  <a:txBody>
                    <a:bodyPr/>
                    <a:lstStyle/>
                    <a:p>
                      <a:r>
                        <a:rPr lang="en-US" sz="1200" dirty="0"/>
                        <a:t>Hardware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Skylake-SP</a:t>
                      </a:r>
                    </a:p>
                  </a:txBody>
                  <a:tcPr marT="0" marB="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Cascade Lake-SP/AEP</a:t>
                      </a:r>
                    </a:p>
                  </a:txBody>
                  <a:tcPr marT="0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76054"/>
                  </a:ext>
                </a:extLst>
              </a:tr>
              <a:tr h="208844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V124N </a:t>
                      </a:r>
                      <a:r>
                        <a:rPr lang="en-US" sz="1050" dirty="0"/>
                        <a:t>(SKL)</a:t>
                      </a:r>
                      <a:endParaRPr lang="en-US" sz="11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CLX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CLX/AEP</a:t>
                      </a:r>
                    </a:p>
                  </a:txBody>
                  <a:tcPr marT="0" marB="0" anchor="ctr">
                    <a:solidFill>
                      <a:srgbClr val="00206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83656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System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Hitachi Advanced Server DS120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21603280"/>
                  </a:ext>
                </a:extLst>
              </a:tr>
              <a:tr h="24126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CPU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Platinum 8</a:t>
                      </a:r>
                      <a:r>
                        <a:rPr lang="pt-BR" sz="1050" b="1" dirty="0"/>
                        <a:t>2</a:t>
                      </a:r>
                      <a:r>
                        <a:rPr lang="pt-BR" sz="1050" dirty="0"/>
                        <a:t>76L (28 cores, 2.20GHz)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(Cascade 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1091073"/>
                  </a:ext>
                </a:extLst>
              </a:tr>
              <a:tr h="241260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/>
                        <a:t>Intel(R) Xeon(R) </a:t>
                      </a:r>
                      <a:r>
                        <a:rPr lang="en-US" sz="1050" dirty="0"/>
                        <a:t>Gold 6</a:t>
                      </a:r>
                      <a:r>
                        <a:rPr lang="en-US" sz="1050" b="1" dirty="0"/>
                        <a:t>1</a:t>
                      </a:r>
                      <a:r>
                        <a:rPr lang="en-US" sz="1050" dirty="0"/>
                        <a:t>40 (18 cores, 2.3GHz)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(Skylake-SP)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72176036"/>
                  </a:ext>
                </a:extLst>
              </a:tr>
              <a:tr h="24126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Memory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32GB 2666 MHz DDR4 RDIMM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 x 32GB</a:t>
                      </a:r>
                    </a:p>
                    <a:p>
                      <a:pPr algn="ctr"/>
                      <a:r>
                        <a:rPr lang="en-US" sz="1050" dirty="0"/>
                        <a:t>(256GB)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 x 32GB</a:t>
                      </a:r>
                    </a:p>
                    <a:p>
                      <a:pPr algn="ctr"/>
                      <a:r>
                        <a:rPr lang="en-US" sz="1050" dirty="0"/>
                        <a:t>(384GB)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8 x 32GB</a:t>
                      </a:r>
                    </a:p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(256 GB)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23168829"/>
                  </a:ext>
                </a:extLst>
              </a:tr>
              <a:tr h="241260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128GB </a:t>
                      </a:r>
                      <a:r>
                        <a:rPr lang="en-US" sz="1050" b="1" dirty="0"/>
                        <a:t>Intel Optane DC Persistent Memory</a:t>
                      </a:r>
                      <a:r>
                        <a:rPr lang="en-US" sz="105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(in </a:t>
                      </a:r>
                      <a:r>
                        <a:rPr lang="en-US" sz="1050" b="1" dirty="0"/>
                        <a:t>Memory Mode</a:t>
                      </a:r>
                      <a:r>
                        <a:rPr lang="en-US" sz="1050" dirty="0"/>
                        <a:t>)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highlight>
                            <a:srgbClr val="FFFF00"/>
                          </a:highlight>
                        </a:rPr>
                        <a:t>4 x 128 GB</a:t>
                      </a:r>
                    </a:p>
                    <a:p>
                      <a:pPr algn="ctr"/>
                      <a:r>
                        <a:rPr lang="en-US" sz="1050" b="1" dirty="0">
                          <a:highlight>
                            <a:srgbClr val="FFFF00"/>
                          </a:highlight>
                        </a:rPr>
                        <a:t>(512 GB)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73948805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Cache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Optane SSD DC P4800X (375GB, U.2) NVMe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7090983"/>
                  </a:ext>
                </a:extLst>
              </a:tr>
              <a:tr h="12063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Capacity Tier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(4TB, U.2) NVMe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1897728"/>
                  </a:ext>
                </a:extLst>
              </a:tr>
              <a:tr h="12063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SSD DC P4510 (1TB, U.2) </a:t>
                      </a:r>
                      <a:r>
                        <a:rPr lang="en-US" sz="1050" dirty="0" err="1"/>
                        <a:t>NVMe</a:t>
                      </a:r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6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53589414"/>
                  </a:ext>
                </a:extLst>
              </a:tr>
              <a:tr h="241260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Intel Ethernet Network Connection X722 (</a:t>
                      </a:r>
                      <a:r>
                        <a:rPr lang="en-US" sz="1050" dirty="0"/>
                        <a:t>Quanta X527-DA4 10GbE, quad-port, OCP)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9729359"/>
                  </a:ext>
                </a:extLst>
              </a:tr>
              <a:tr h="175248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Intel Ethernet Network Adapter XXV710-2 25GbE, dual-port</a:t>
                      </a:r>
                      <a:endParaRPr lang="en-US" sz="10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-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317149663"/>
                  </a:ext>
                </a:extLst>
              </a:tr>
              <a:tr h="120630">
                <a:tc>
                  <a:txBody>
                    <a:bodyPr/>
                    <a:lstStyle/>
                    <a:p>
                      <a:r>
                        <a:rPr lang="en-US" sz="1050" dirty="0"/>
                        <a:t>Boot Device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SATADOM SLC 32GB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49747270"/>
                  </a:ext>
                </a:extLst>
              </a:tr>
              <a:tr h="175248">
                <a:tc>
                  <a:txBody>
                    <a:bodyPr/>
                    <a:lstStyle/>
                    <a:p>
                      <a:r>
                        <a:rPr lang="en-US" sz="1050" dirty="0"/>
                        <a:t>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1 </a:t>
                      </a:r>
                      <a:r>
                        <a:rPr lang="en-US" sz="1050" dirty="0" err="1"/>
                        <a:t>GbE</a:t>
                      </a:r>
                      <a:r>
                        <a:rPr lang="en-US" sz="1050" dirty="0"/>
                        <a:t> Mgmt. Network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4122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57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</a:p>
          <a:p>
            <a:pPr lvl="1"/>
            <a:r>
              <a:rPr lang="en-US" sz="1200" dirty="0"/>
              <a:t>The following typical workload applications were used: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09B87F-36B1-4E5A-9BE6-902BD836B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07" y="1777227"/>
            <a:ext cx="4993742" cy="20208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841089-648F-4703-BA55-F9673D962696}"/>
              </a:ext>
            </a:extLst>
          </p:cNvPr>
          <p:cNvSpPr/>
          <p:nvPr/>
        </p:nvSpPr>
        <p:spPr>
          <a:xfrm>
            <a:off x="852170" y="3803758"/>
            <a:ext cx="103906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elapsed=1800</a:t>
            </a:r>
          </a:p>
        </p:txBody>
      </p:sp>
    </p:spTree>
    <p:extLst>
      <p:ext uri="{BB962C8B-B14F-4D97-AF65-F5344CB8AC3E}">
        <p14:creationId xmlns:p14="http://schemas.microsoft.com/office/powerpoint/2010/main" val="256868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494B3A-48B5-44BC-8434-7A983B65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619" y="1752600"/>
            <a:ext cx="4897832" cy="25280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ECEE52-4261-445E-AE25-7EC5EF3026E6}"/>
              </a:ext>
            </a:extLst>
          </p:cNvPr>
          <p:cNvSpPr/>
          <p:nvPr/>
        </p:nvSpPr>
        <p:spPr>
          <a:xfrm>
            <a:off x="99060" y="1676400"/>
            <a:ext cx="406555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The target of these tests was basically to show the difference between the UCP HC with CLX and CLX+AEP. However, previous results from Skylake were added just as a reference point.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These results with </a:t>
            </a:r>
            <a:r>
              <a:rPr lang="en-US" sz="1200" dirty="0" err="1"/>
              <a:t>HCIBench</a:t>
            </a:r>
            <a:r>
              <a:rPr lang="en-US" sz="1200" dirty="0"/>
              <a:t> shows some performance gains between the configuration with CLX CPU Vs the one with CLX + AEP. However, the difference is more noticeable when running </a:t>
            </a:r>
            <a:r>
              <a:rPr lang="en-US" sz="1200" dirty="0" err="1"/>
              <a:t>VMmark</a:t>
            </a:r>
            <a:r>
              <a:rPr lang="en-US" sz="1200" dirty="0"/>
              <a:t> benchmarks where we can see that a configuration with AEP (Persistent Memory) can run up to 33% more VMs compared with a traditional cluster with DDR4 only. Results of </a:t>
            </a:r>
            <a:r>
              <a:rPr lang="en-US" sz="1200" dirty="0" err="1"/>
              <a:t>VMmark</a:t>
            </a:r>
            <a:r>
              <a:rPr lang="en-US" sz="1200" dirty="0"/>
              <a:t> benchmarks can be found on separate document.  (</a:t>
            </a:r>
            <a:r>
              <a:rPr lang="en-US" sz="1200" b="1" dirty="0"/>
              <a:t>Hitachi UCP HC – Intel Select - </a:t>
            </a:r>
            <a:r>
              <a:rPr lang="en-US" sz="1200" b="1" dirty="0" err="1"/>
              <a:t>VMmark</a:t>
            </a:r>
            <a:r>
              <a:rPr lang="en-US" sz="1200" b="1" dirty="0"/>
              <a:t> Benchmarks Results-05142019.pptx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652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D55F4-794E-4D84-B043-C90D356E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1" y="1687772"/>
            <a:ext cx="596431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9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43088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036B0F-FF8A-46E3-A43C-7E95CB60A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75" y="1808833"/>
            <a:ext cx="5999831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0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  <a:p>
            <a:pPr lvl="1"/>
            <a:r>
              <a:rPr lang="en-US" sz="1200" dirty="0"/>
              <a:t>The table below shows all the results shown in previous charts.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6FEA4-499D-4D0B-BBC5-C7F892038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" y="2386686"/>
            <a:ext cx="8655050" cy="133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9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1515287"/>
          </a:xfrm>
        </p:spPr>
        <p:txBody>
          <a:bodyPr/>
          <a:lstStyle/>
          <a:p>
            <a:r>
              <a:rPr lang="en-US" dirty="0"/>
              <a:t>UCP HC All-</a:t>
            </a:r>
            <a:r>
              <a:rPr lang="en-US" dirty="0" err="1"/>
              <a:t>NVMe</a:t>
            </a:r>
            <a:r>
              <a:rPr lang="en-US" dirty="0"/>
              <a:t> –Cascade/AEP</a:t>
            </a:r>
          </a:p>
          <a:p>
            <a:pPr lvl="1"/>
            <a:r>
              <a:rPr lang="en-US" sz="1400" dirty="0"/>
              <a:t>In addition to running typical workload applications, the following workloads were executed: 4-corners, </a:t>
            </a:r>
            <a:r>
              <a:rPr lang="en-US" sz="1400" dirty="0" err="1"/>
              <a:t>oltp</a:t>
            </a:r>
            <a:endParaRPr lang="en-US" sz="1400" dirty="0"/>
          </a:p>
          <a:p>
            <a:pPr lvl="1"/>
            <a:r>
              <a:rPr lang="en-US" sz="1400" dirty="0"/>
              <a:t>And these tests were executed only on the two configurations with Cascade CPU (Base with CLX and Plus with CLX/AEP):</a:t>
            </a:r>
            <a:endParaRPr lang="en-US" sz="105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Cases : </a:t>
            </a:r>
            <a:r>
              <a:rPr lang="en-US" dirty="0" err="1"/>
              <a:t>HCIBench</a:t>
            </a:r>
            <a:r>
              <a:rPr lang="en-US" dirty="0"/>
              <a:t> Workloads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B44C5-A651-4E08-B3BE-0BC614FA5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67" y="2570197"/>
            <a:ext cx="5504844" cy="1475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F51547-8738-4F8F-8E49-6A50F5750A5A}"/>
              </a:ext>
            </a:extLst>
          </p:cNvPr>
          <p:cNvSpPr/>
          <p:nvPr/>
        </p:nvSpPr>
        <p:spPr>
          <a:xfrm>
            <a:off x="844550" y="4045250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 err="1"/>
              <a:t>iorate</a:t>
            </a:r>
            <a:r>
              <a:rPr lang="en-US" sz="1050" dirty="0"/>
              <a:t>=</a:t>
            </a:r>
            <a:r>
              <a:rPr lang="en-US" sz="1050" dirty="0" err="1"/>
              <a:t>curve,curve</a:t>
            </a:r>
            <a:r>
              <a:rPr lang="en-US" sz="1050" dirty="0"/>
              <a:t>=(10,20,30,50,80,90,100),elapsed=600</a:t>
            </a:r>
          </a:p>
        </p:txBody>
      </p:sp>
    </p:spTree>
    <p:extLst>
      <p:ext uri="{BB962C8B-B14F-4D97-AF65-F5344CB8AC3E}">
        <p14:creationId xmlns:p14="http://schemas.microsoft.com/office/powerpoint/2010/main" val="368970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4 corners</a:t>
            </a:r>
          </a:p>
          <a:p>
            <a:pPr lvl="1"/>
            <a:r>
              <a:rPr lang="en-US" sz="1200" dirty="0"/>
              <a:t>Results show IOPS and latency very similar for both configurations (CLX and CLX+AEP).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9722D-EAF6-4E5D-9862-36923CBC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3" y="2268801"/>
            <a:ext cx="3940787" cy="1907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435802-835F-4596-B53F-78463D134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313" y="2268801"/>
            <a:ext cx="3940788" cy="19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1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895630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4 corners/ OLTP/ and 70%</a:t>
            </a:r>
          </a:p>
          <a:p>
            <a:pPr lvl="1"/>
            <a:r>
              <a:rPr lang="en-US" sz="1200" dirty="0"/>
              <a:t>For large block size, sequential, we can see that the configuration with AEP shows better results in IOPS and latency.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0519B0-9810-477E-9AB8-4CB3C456D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084651"/>
            <a:ext cx="3940787" cy="19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1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4 corners/ OLTP/ and 70%</a:t>
            </a:r>
          </a:p>
          <a:p>
            <a:pPr lvl="1"/>
            <a:r>
              <a:rPr lang="en-US" sz="1200" dirty="0"/>
              <a:t>Results show IOPS and latency very similar for both configurations (CLX and CLX+AEP).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HCIBench</a:t>
            </a:r>
            <a:r>
              <a:rPr lang="en-US" dirty="0"/>
              <a:t> Results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79ED2-BFF5-4BC0-A0E5-EA250B49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18" y="1938601"/>
            <a:ext cx="3940787" cy="19071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24D45C-F79A-4BF0-A679-16A85AF95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313" y="1938601"/>
            <a:ext cx="3940788" cy="19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  <a:p>
            <a:pPr lvl="1"/>
            <a:r>
              <a:rPr lang="en-US" sz="1200" dirty="0"/>
              <a:t>Results show IOPS and latency very similar for both configurations (CLX and CLX+AEP).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VMmark Results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792B9-5C51-4419-95DA-1AF06CE7A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63" y="2110882"/>
            <a:ext cx="5316173" cy="25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6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720197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Results – SKL Vs CLX Vs CLX/AEP Configurations</a:t>
            </a:r>
          </a:p>
          <a:p>
            <a:pPr lvl="1"/>
            <a:r>
              <a:rPr lang="en-US" sz="1200" dirty="0"/>
              <a:t>Table below shows the all the results shown in previous charts.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VMmark Results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C715B-76C4-4CBB-BB4C-2BBBB690D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87" y="2224279"/>
            <a:ext cx="7399313" cy="182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7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Findings/Conclusions</a:t>
            </a:r>
          </a:p>
        </p:txBody>
      </p:sp>
    </p:spTree>
    <p:extLst>
      <p:ext uri="{BB962C8B-B14F-4D97-AF65-F5344CB8AC3E}">
        <p14:creationId xmlns:p14="http://schemas.microsoft.com/office/powerpoint/2010/main" val="202081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2599686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on UCP HC SATA SSD Vs All-</a:t>
            </a:r>
            <a:r>
              <a:rPr lang="en-US" dirty="0" err="1"/>
              <a:t>NVMe</a:t>
            </a:r>
            <a:r>
              <a:rPr lang="en-US" dirty="0"/>
              <a:t> :</a:t>
            </a:r>
          </a:p>
          <a:p>
            <a:pPr lvl="1"/>
            <a:r>
              <a:rPr lang="en-US" sz="1600" dirty="0"/>
              <a:t>All-</a:t>
            </a:r>
            <a:r>
              <a:rPr lang="en-US" sz="1600" dirty="0" err="1"/>
              <a:t>NVMe</a:t>
            </a:r>
            <a:r>
              <a:rPr lang="en-US" sz="1600" dirty="0"/>
              <a:t> outperforms SATA SSD on write intensive workloads, achieving two to three times more IOPS and up to three times lower latency.</a:t>
            </a:r>
          </a:p>
          <a:p>
            <a:r>
              <a:rPr lang="en-US" dirty="0"/>
              <a:t>OLTP benchmark on UCP HC SATA SSD Vs All-</a:t>
            </a:r>
            <a:r>
              <a:rPr lang="en-US" dirty="0" err="1"/>
              <a:t>NVMe</a:t>
            </a:r>
            <a:r>
              <a:rPr lang="en-US" dirty="0"/>
              <a:t>:</a:t>
            </a:r>
          </a:p>
          <a:p>
            <a:pPr lvl="1"/>
            <a:r>
              <a:rPr lang="en-US" sz="1600" dirty="0"/>
              <a:t>For OLTP applications, an All-</a:t>
            </a:r>
            <a:r>
              <a:rPr lang="en-US" sz="1600" dirty="0" err="1"/>
              <a:t>NVMe</a:t>
            </a:r>
            <a:r>
              <a:rPr lang="en-US" sz="1600" dirty="0"/>
              <a:t> solution shows about 90% more transactions per minute (TPM) than a cluster based on SATA SSD.</a:t>
            </a:r>
          </a:p>
          <a:p>
            <a:pPr lvl="1"/>
            <a:r>
              <a:rPr lang="en-US" sz="1600" dirty="0"/>
              <a:t>An All-</a:t>
            </a:r>
            <a:r>
              <a:rPr lang="en-US" sz="1600" dirty="0" err="1"/>
              <a:t>NVMe</a:t>
            </a:r>
            <a:r>
              <a:rPr lang="en-US" sz="1600" dirty="0"/>
              <a:t> solution can be even about 40% lower in cost (TPM/dollar).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Findings/Conclusions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293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967575"/>
            <a:ext cx="8584006" cy="3082895"/>
          </a:xfrm>
        </p:spPr>
        <p:txBody>
          <a:bodyPr/>
          <a:lstStyle/>
          <a:p>
            <a:r>
              <a:rPr lang="en-US" dirty="0" err="1"/>
              <a:t>HCIBench</a:t>
            </a:r>
            <a:r>
              <a:rPr lang="en-US" dirty="0"/>
              <a:t> on UCP HC with Cascade CPU and AEP:</a:t>
            </a:r>
          </a:p>
          <a:p>
            <a:pPr lvl="1"/>
            <a:r>
              <a:rPr lang="en-US" sz="1600" dirty="0"/>
              <a:t>Results with </a:t>
            </a:r>
            <a:r>
              <a:rPr lang="en-US" sz="1600" dirty="0" err="1"/>
              <a:t>HCIBench</a:t>
            </a:r>
            <a:r>
              <a:rPr lang="en-US" sz="1600" dirty="0"/>
              <a:t> shows some performance gains between the configuration with CLX CPU Vs the one with CLX + AEP. However, the difference is more noticeable when running </a:t>
            </a:r>
            <a:r>
              <a:rPr lang="en-US" sz="1600" dirty="0" err="1"/>
              <a:t>VMmark</a:t>
            </a:r>
            <a:r>
              <a:rPr lang="en-US" sz="1600" dirty="0"/>
              <a:t> benchmarks where we can see that a configuration with AEP (Persistent Memory) allows not only better VM density, but also allows running VMs with  higher memory resources and still meeting SLA’s by VMware </a:t>
            </a:r>
            <a:r>
              <a:rPr lang="en-US" sz="1600" dirty="0" err="1"/>
              <a:t>VMmark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From cost perspective, it depends on the memory population and capacity of the DDR4 DIMMs used, we can see that just changing from a Base config to a Plus config we can easily get up to 33% more VM density.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Findings/Conclusions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82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83740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22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Miscellaneous</a:t>
            </a:r>
          </a:p>
        </p:txBody>
      </p:sp>
    </p:spTree>
    <p:extLst>
      <p:ext uri="{BB962C8B-B14F-4D97-AF65-F5344CB8AC3E}">
        <p14:creationId xmlns:p14="http://schemas.microsoft.com/office/powerpoint/2010/main" val="414302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59" y="967575"/>
            <a:ext cx="8879841" cy="430887"/>
          </a:xfrm>
        </p:spPr>
        <p:txBody>
          <a:bodyPr/>
          <a:lstStyle/>
          <a:p>
            <a:r>
              <a:rPr lang="en-US" dirty="0"/>
              <a:t>DS120 with AEP DIMM Population </a:t>
            </a:r>
            <a:r>
              <a:rPr lang="en-US" b="1" dirty="0"/>
              <a:t>1-1-1 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sz="1900" b="1" dirty="0">
                <a:solidFill>
                  <a:srgbClr val="0070C0"/>
                </a:solidFill>
                <a:latin typeface="Calibri" panose="020F0502020204030204" pitchFamily="34" charset="0"/>
              </a:rPr>
              <a:t>8 x 32GB DDR4 + 4 x 128GB AEP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en-US" sz="19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CLX/AEP Memory Population</a:t>
            </a:r>
            <a:endParaRPr lang="en-US" sz="2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35C27D-6295-4F0A-AA9D-A1BDF5C6C31A}"/>
              </a:ext>
            </a:extLst>
          </p:cNvPr>
          <p:cNvGrpSpPr/>
          <p:nvPr/>
        </p:nvGrpSpPr>
        <p:grpSpPr>
          <a:xfrm>
            <a:off x="644243" y="1398462"/>
            <a:ext cx="8169851" cy="3444324"/>
            <a:chOff x="644243" y="1398462"/>
            <a:chExt cx="8169851" cy="34443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DCA157-D4B8-4A88-A023-35FAB24B3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243" y="1398462"/>
              <a:ext cx="4023007" cy="3444324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2990DB2-2D95-4BBC-9C58-7B4B4583DF52}"/>
                </a:ext>
              </a:extLst>
            </p:cNvPr>
            <p:cNvSpPr/>
            <p:nvPr/>
          </p:nvSpPr>
          <p:spPr>
            <a:xfrm>
              <a:off x="4418683" y="3206748"/>
              <a:ext cx="171450" cy="1381125"/>
            </a:xfrm>
            <a:prstGeom prst="roundRect">
              <a:avLst/>
            </a:prstGeom>
            <a:no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2C2267A-6841-439A-B20D-0EAA2DCBE425}"/>
                </a:ext>
              </a:extLst>
            </p:cNvPr>
            <p:cNvSpPr/>
            <p:nvPr/>
          </p:nvSpPr>
          <p:spPr>
            <a:xfrm>
              <a:off x="697654" y="3206748"/>
              <a:ext cx="171450" cy="1381125"/>
            </a:xfrm>
            <a:prstGeom prst="roundRect">
              <a:avLst/>
            </a:prstGeom>
            <a:noFill/>
            <a:ln w="12700">
              <a:solidFill>
                <a:schemeClr val="accent4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AAA1B2-A66C-40D6-A4D3-8673FDE996EF}"/>
                </a:ext>
              </a:extLst>
            </p:cNvPr>
            <p:cNvSpPr/>
            <p:nvPr/>
          </p:nvSpPr>
          <p:spPr>
            <a:xfrm>
              <a:off x="2400371" y="3206748"/>
              <a:ext cx="171450" cy="1381125"/>
            </a:xfrm>
            <a:prstGeom prst="roundRect">
              <a:avLst/>
            </a:prstGeom>
            <a:noFill/>
            <a:ln w="12700">
              <a:solidFill>
                <a:schemeClr val="accent4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8CA73CE-861D-49CC-A6B8-0175B6B6269B}"/>
                </a:ext>
              </a:extLst>
            </p:cNvPr>
            <p:cNvSpPr/>
            <p:nvPr/>
          </p:nvSpPr>
          <p:spPr>
            <a:xfrm>
              <a:off x="2723233" y="3206748"/>
              <a:ext cx="171450" cy="1381125"/>
            </a:xfrm>
            <a:prstGeom prst="roundRect">
              <a:avLst/>
            </a:prstGeom>
            <a:noFill/>
            <a:ln w="12700">
              <a:solidFill>
                <a:schemeClr val="accent4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DDCD057F-012B-40BE-8651-F3DF3702C4A7}"/>
                </a:ext>
              </a:extLst>
            </p:cNvPr>
            <p:cNvSpPr/>
            <p:nvPr/>
          </p:nvSpPr>
          <p:spPr>
            <a:xfrm>
              <a:off x="5194005" y="3410075"/>
              <a:ext cx="1759245" cy="591671"/>
            </a:xfrm>
            <a:prstGeom prst="wedgeRoundRectCallout">
              <a:avLst>
                <a:gd name="adj1" fmla="val -87819"/>
                <a:gd name="adj2" fmla="val 58874"/>
                <a:gd name="adj3" fmla="val 16667"/>
              </a:avLst>
            </a:prstGeom>
            <a:solidFill>
              <a:schemeClr val="accent4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Intel Optane DC Persistent Memory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6E733A1-F9EF-4408-B020-1E3E6A5CEED7}"/>
                </a:ext>
              </a:extLst>
            </p:cNvPr>
            <p:cNvSpPr/>
            <p:nvPr/>
          </p:nvSpPr>
          <p:spPr>
            <a:xfrm>
              <a:off x="4108450" y="3206748"/>
              <a:ext cx="117500" cy="1381125"/>
            </a:xfrm>
            <a:prstGeom prst="roundRect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A2F51E1-DF54-48C9-B2E8-2D4CFC0764D5}"/>
                </a:ext>
              </a:extLst>
            </p:cNvPr>
            <p:cNvSpPr/>
            <p:nvPr/>
          </p:nvSpPr>
          <p:spPr>
            <a:xfrm>
              <a:off x="4270374" y="3206748"/>
              <a:ext cx="117499" cy="1381125"/>
            </a:xfrm>
            <a:prstGeom prst="roundRect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CCFC9909-F748-465D-8989-5914EB9AB4C4}"/>
                </a:ext>
              </a:extLst>
            </p:cNvPr>
            <p:cNvSpPr/>
            <p:nvPr/>
          </p:nvSpPr>
          <p:spPr>
            <a:xfrm>
              <a:off x="5194005" y="2386376"/>
              <a:ext cx="1759245" cy="591671"/>
            </a:xfrm>
            <a:prstGeom prst="wedgeRoundRectCallout">
              <a:avLst>
                <a:gd name="adj1" fmla="val -103440"/>
                <a:gd name="adj2" fmla="val 120731"/>
                <a:gd name="adj3" fmla="val 16667"/>
              </a:avLst>
            </a:prstGeom>
            <a:solidFill>
              <a:schemeClr val="accent4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DDR4 R-DIMM Memory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DE02E84-2D73-460D-B86F-331032D9AA8B}"/>
                </a:ext>
              </a:extLst>
            </p:cNvPr>
            <p:cNvSpPr/>
            <p:nvPr/>
          </p:nvSpPr>
          <p:spPr>
            <a:xfrm>
              <a:off x="2094595" y="3206748"/>
              <a:ext cx="117500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5F8C3FC-5F7C-4D83-B00E-9CA77881B661}"/>
                </a:ext>
              </a:extLst>
            </p:cNvPr>
            <p:cNvSpPr/>
            <p:nvPr/>
          </p:nvSpPr>
          <p:spPr>
            <a:xfrm>
              <a:off x="2256519" y="3206748"/>
              <a:ext cx="117499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D3B789E-9387-450D-BAE1-8E03FA407398}"/>
                </a:ext>
              </a:extLst>
            </p:cNvPr>
            <p:cNvSpPr/>
            <p:nvPr/>
          </p:nvSpPr>
          <p:spPr>
            <a:xfrm>
              <a:off x="2922974" y="3206748"/>
              <a:ext cx="117500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201F285-76ED-4B3B-8FDA-40EA4B4CEDAA}"/>
                </a:ext>
              </a:extLst>
            </p:cNvPr>
            <p:cNvSpPr/>
            <p:nvPr/>
          </p:nvSpPr>
          <p:spPr>
            <a:xfrm>
              <a:off x="3094424" y="3206748"/>
              <a:ext cx="117499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F0E4637-9491-4203-AA5C-76B25899362F}"/>
                </a:ext>
              </a:extLst>
            </p:cNvPr>
            <p:cNvSpPr/>
            <p:nvPr/>
          </p:nvSpPr>
          <p:spPr>
            <a:xfrm>
              <a:off x="914828" y="3206748"/>
              <a:ext cx="117500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82636C1-E33D-4F95-864C-6BB817006528}"/>
                </a:ext>
              </a:extLst>
            </p:cNvPr>
            <p:cNvSpPr/>
            <p:nvPr/>
          </p:nvSpPr>
          <p:spPr>
            <a:xfrm>
              <a:off x="1086278" y="3206748"/>
              <a:ext cx="117499" cy="1381125"/>
            </a:xfrm>
            <a:prstGeom prst="roundRect">
              <a:avLst/>
            </a:prstGeom>
            <a:noFill/>
            <a:ln w="9525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pic>
          <p:nvPicPr>
            <p:cNvPr id="5122" name="Picture 2" descr="Green memory">
              <a:extLst>
                <a:ext uri="{FF2B5EF4-FFF2-40B4-BE49-F238E27FC236}">
                  <a16:creationId xmlns:a16="http://schemas.microsoft.com/office/drawing/2014/main" id="{A7162193-E388-4CF2-942D-31980B4DBC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8142" y="3173696"/>
              <a:ext cx="1705951" cy="1064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8E87BB1-99C4-43AC-80DE-A18E5B909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08143" y="2437841"/>
              <a:ext cx="1705951" cy="439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309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59" y="967575"/>
            <a:ext cx="8879841" cy="430887"/>
          </a:xfrm>
        </p:spPr>
        <p:txBody>
          <a:bodyPr/>
          <a:lstStyle/>
          <a:p>
            <a:r>
              <a:rPr lang="en-US" dirty="0"/>
              <a:t>DS120 with AEP DIMM Population </a:t>
            </a:r>
            <a:r>
              <a:rPr lang="en-US" b="1" dirty="0"/>
              <a:t>1-1-1 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sz="1900" b="1" dirty="0">
                <a:solidFill>
                  <a:srgbClr val="0070C0"/>
                </a:solidFill>
                <a:latin typeface="Calibri" panose="020F0502020204030204" pitchFamily="34" charset="0"/>
              </a:rPr>
              <a:t>8 x 32GB DDR4 + 4 x 128GB AEP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en-US" sz="19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CLX/AEP Memory Population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A23C01-9DFB-4C4A-8746-A926D0EF2B73}"/>
              </a:ext>
            </a:extLst>
          </p:cNvPr>
          <p:cNvSpPr txBox="1"/>
          <p:nvPr/>
        </p:nvSpPr>
        <p:spPr>
          <a:xfrm>
            <a:off x="778437" y="2132573"/>
            <a:ext cx="48984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[root@v124n-host3:~] /opt/intel/bin/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ipmctl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show -topology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DimmID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| Capacity  |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PhysicalID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DeviceLocator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==============================================================================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0x0020 | Logical Non-Volatile Device | 126.3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0x0048    | CPU0_C0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0x0120 | Logical Non-Volatile Device | 126.3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0x004e    | CPU0_F0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0x1020 | Logical Non-Volatile Device | 126.3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0x0054    | CPU1_C0</a:t>
            </a:r>
          </a:p>
          <a:p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0x1120 | Logical Non-Volatile Device | 126.3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0x005a    | CPU1_F0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0x0044    | CPU0_A0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0x0046    | CPU0_B0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0x004a    | CPU0_D0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0x004c    | CPU0_E0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0x0050    | CPU1_A0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0x0052    | CPU1_B0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0x0056    | CPU1_D0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N/A    | DDR4                        | 32.0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GiB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| 0x0058    | CPU1_E0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FF4C62-C193-4A01-B249-45359A6253F3}"/>
              </a:ext>
            </a:extLst>
          </p:cNvPr>
          <p:cNvGrpSpPr/>
          <p:nvPr/>
        </p:nvGrpSpPr>
        <p:grpSpPr>
          <a:xfrm>
            <a:off x="6099001" y="2298015"/>
            <a:ext cx="2757429" cy="1788692"/>
            <a:chOff x="1453880" y="3281687"/>
            <a:chExt cx="2404442" cy="154247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B894BEA-D41E-4BF6-B5B5-33B5E3068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3880" y="3281687"/>
              <a:ext cx="2404442" cy="1542472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486AB07-B238-4BE3-A93E-5C9E894A5CDF}"/>
                </a:ext>
              </a:extLst>
            </p:cNvPr>
            <p:cNvSpPr/>
            <p:nvPr/>
          </p:nvSpPr>
          <p:spPr>
            <a:xfrm>
              <a:off x="2381250" y="3536950"/>
              <a:ext cx="1447800" cy="704850"/>
            </a:xfrm>
            <a:prstGeom prst="roundRect">
              <a:avLst>
                <a:gd name="adj" fmla="val 4054"/>
              </a:avLst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AA16A11-C9E4-45A5-89F7-F966ED42BAC6}"/>
              </a:ext>
            </a:extLst>
          </p:cNvPr>
          <p:cNvSpPr txBox="1"/>
          <p:nvPr/>
        </p:nvSpPr>
        <p:spPr>
          <a:xfrm>
            <a:off x="606986" y="1624366"/>
            <a:ext cx="5275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</a:rPr>
              <a:t>DDR4 + AEP topology seen from </a:t>
            </a:r>
            <a:r>
              <a:rPr lang="en-US" sz="1200" b="1" dirty="0" err="1">
                <a:solidFill>
                  <a:srgbClr val="0070C0"/>
                </a:solidFill>
              </a:rPr>
              <a:t>ESXi</a:t>
            </a:r>
            <a:r>
              <a:rPr lang="en-US" sz="1200" b="1" dirty="0">
                <a:solidFill>
                  <a:srgbClr val="0070C0"/>
                </a:solidFill>
              </a:rPr>
              <a:t> (configured in Memory Mode)</a:t>
            </a:r>
          </a:p>
        </p:txBody>
      </p:sp>
    </p:spTree>
    <p:extLst>
      <p:ext uri="{BB962C8B-B14F-4D97-AF65-F5344CB8AC3E}">
        <p14:creationId xmlns:p14="http://schemas.microsoft.com/office/powerpoint/2010/main" val="284585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59" y="967575"/>
            <a:ext cx="8879841" cy="430887"/>
          </a:xfrm>
        </p:spPr>
        <p:txBody>
          <a:bodyPr/>
          <a:lstStyle/>
          <a:p>
            <a:r>
              <a:rPr lang="en-US" dirty="0"/>
              <a:t>DS120 with AEP DIMM Population </a:t>
            </a:r>
            <a:r>
              <a:rPr lang="en-US" b="1" dirty="0"/>
              <a:t>1-1-1 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sz="1900" b="1" dirty="0">
                <a:solidFill>
                  <a:srgbClr val="0070C0"/>
                </a:solidFill>
                <a:latin typeface="Calibri" panose="020F0502020204030204" pitchFamily="34" charset="0"/>
              </a:rPr>
              <a:t>8 x 32GB DDR4 + 4 x 128GB AEP</a:t>
            </a:r>
            <a:r>
              <a:rPr lang="en-US" sz="19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  <a:endParaRPr lang="en-US" sz="19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CLX/AEP Memory Population</a:t>
            </a:r>
            <a:endParaRPr lang="en-US" sz="2400" dirty="0"/>
          </a:p>
        </p:txBody>
      </p:sp>
      <p:pic>
        <p:nvPicPr>
          <p:cNvPr id="6148" name="Picture 4" descr="Channel A &#10;DIMM 1 &#10;Channel B &#10;DIMM 1 &#10;DIM &#10;DIMM 1 &#10;DIMM Information &#10;(cpu_o) _ (channel_c) &#10;Device Path: &#10;Device Present: &#10;Frequency: &#10;Manufacturer ID &#10;Part Number: &#10;Serial Number: &#10;(channel_c DIMM_o) &#10;2666 MHz &#10;126375 MB &#10;NMAIXBD128GQS &#10;0-0-14-199 &#10;Channel D &#10;DIMM 1 &#10;Channel E &#10;DIMM 1 &#10;Channel F &#10;DIMM 1 &#10;Channel A &#10;DIMM 1 &#10;Channel B &#10;DIMM 1 &#10;Channel C &#10;DIMM 1 &#10;Channel D &#10;DIMM 1 &#10;Channel E &#10;DIMM 1 &#10;Channel F &#10;DIMM 1 ">
            <a:extLst>
              <a:ext uri="{FF2B5EF4-FFF2-40B4-BE49-F238E27FC236}">
                <a16:creationId xmlns:a16="http://schemas.microsoft.com/office/drawing/2014/main" id="{C277445C-CD13-45C9-9AFF-6AA4BE3F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429" y="1698296"/>
            <a:ext cx="2805142" cy="316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iagram">
            <a:extLst>
              <a:ext uri="{FF2B5EF4-FFF2-40B4-BE49-F238E27FC236}">
                <a16:creationId xmlns:a16="http://schemas.microsoft.com/office/drawing/2014/main" id="{8280F80D-2FAC-462B-AA15-0D900162F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126129"/>
            <a:ext cx="1666285" cy="231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99A56D-AF43-4798-8DE9-0AC20F156C35}"/>
              </a:ext>
            </a:extLst>
          </p:cNvPr>
          <p:cNvSpPr txBox="1"/>
          <p:nvPr/>
        </p:nvSpPr>
        <p:spPr>
          <a:xfrm>
            <a:off x="3479393" y="1441983"/>
            <a:ext cx="2255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DDR4 + AEP seen from BMC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F80AD62-E8D3-4D97-892E-A18D0A18A85A}"/>
              </a:ext>
            </a:extLst>
          </p:cNvPr>
          <p:cNvSpPr/>
          <p:nvPr/>
        </p:nvSpPr>
        <p:spPr>
          <a:xfrm rot="16200000">
            <a:off x="2663825" y="3024511"/>
            <a:ext cx="279400" cy="514350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053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DBEE21-21A1-4F71-ABDB-E3419B3E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AEP Population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70428-973D-49F5-8C08-6C07879A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69" y="1090739"/>
            <a:ext cx="6854803" cy="382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8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9"/>
</p:tagLst>
</file>

<file path=ppt/theme/theme1.xml><?xml version="1.0" encoding="utf-8"?>
<a:theme xmlns:a="http://schemas.openxmlformats.org/drawingml/2006/main" name="2015 HDS Corporate Template">
  <a:themeElements>
    <a:clrScheme name="HDS Final">
      <a:dk1>
        <a:srgbClr val="414141"/>
      </a:dk1>
      <a:lt1>
        <a:sysClr val="window" lastClr="FFFFFF"/>
      </a:lt1>
      <a:dk2>
        <a:srgbClr val="00A499"/>
      </a:dk2>
      <a:lt2>
        <a:srgbClr val="999999"/>
      </a:lt2>
      <a:accent1>
        <a:srgbClr val="CC0000"/>
      </a:accent1>
      <a:accent2>
        <a:srgbClr val="CC0000"/>
      </a:accent2>
      <a:accent3>
        <a:srgbClr val="55951B"/>
      </a:accent3>
      <a:accent4>
        <a:srgbClr val="008EAA"/>
      </a:accent4>
      <a:accent5>
        <a:srgbClr val="FFC600"/>
      </a:accent5>
      <a:accent6>
        <a:srgbClr val="F78E1E"/>
      </a:accent6>
      <a:hlink>
        <a:srgbClr val="00C8DC"/>
      </a:hlink>
      <a:folHlink>
        <a:srgbClr val="008EAA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DS_Corporate_PowerPoint_Template_2016 (1).pptx" id="{33BB0B5D-0DBF-40D8-8BAA-044A16F3E511}" vid="{E717B3E8-6843-487F-B577-1480382C5D6B}"/>
    </a:ext>
  </a:extLst>
</a:theme>
</file>

<file path=ppt/theme/theme2.xml><?xml version="1.0" encoding="utf-8"?>
<a:theme xmlns:a="http://schemas.openxmlformats.org/drawingml/2006/main" name="Office Theme">
  <a:themeElements>
    <a:clrScheme name="HDS 2011">
      <a:dk1>
        <a:sysClr val="windowText" lastClr="000000"/>
      </a:dk1>
      <a:lt1>
        <a:sysClr val="window" lastClr="FFFFFF"/>
      </a:lt1>
      <a:dk2>
        <a:srgbClr val="14AF9F"/>
      </a:dk2>
      <a:lt2>
        <a:srgbClr val="6D6E71"/>
      </a:lt2>
      <a:accent1>
        <a:srgbClr val="FD0014"/>
      </a:accent1>
      <a:accent2>
        <a:srgbClr val="C20014"/>
      </a:accent2>
      <a:accent3>
        <a:srgbClr val="009933"/>
      </a:accent3>
      <a:accent4>
        <a:srgbClr val="0073B2"/>
      </a:accent4>
      <a:accent5>
        <a:srgbClr val="DEB408"/>
      </a:accent5>
      <a:accent6>
        <a:srgbClr val="DC7400"/>
      </a:accent6>
      <a:hlink>
        <a:srgbClr val="FD0014"/>
      </a:hlink>
      <a:folHlink>
        <a:srgbClr val="C20014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HDS 2011">
      <a:dk1>
        <a:sysClr val="windowText" lastClr="000000"/>
      </a:dk1>
      <a:lt1>
        <a:sysClr val="window" lastClr="FFFFFF"/>
      </a:lt1>
      <a:dk2>
        <a:srgbClr val="14AF9F"/>
      </a:dk2>
      <a:lt2>
        <a:srgbClr val="6D6E71"/>
      </a:lt2>
      <a:accent1>
        <a:srgbClr val="FD0014"/>
      </a:accent1>
      <a:accent2>
        <a:srgbClr val="C20014"/>
      </a:accent2>
      <a:accent3>
        <a:srgbClr val="009933"/>
      </a:accent3>
      <a:accent4>
        <a:srgbClr val="0073B2"/>
      </a:accent4>
      <a:accent5>
        <a:srgbClr val="DEB408"/>
      </a:accent5>
      <a:accent6>
        <a:srgbClr val="DC7400"/>
      </a:accent6>
      <a:hlink>
        <a:srgbClr val="FD0014"/>
      </a:hlink>
      <a:folHlink>
        <a:srgbClr val="C20014"/>
      </a:folHlink>
    </a:clrScheme>
    <a:fontScheme name="HDS 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23270</TotalTime>
  <Words>3429</Words>
  <Application>Microsoft Office PowerPoint</Application>
  <PresentationFormat>On-screen Show (16:9)</PresentationFormat>
  <Paragraphs>635</Paragraphs>
  <Slides>50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SimSun</vt:lpstr>
      <vt:lpstr>Arial</vt:lpstr>
      <vt:lpstr>Calibri</vt:lpstr>
      <vt:lpstr>Courier New</vt:lpstr>
      <vt:lpstr>HelveticaNeueLT Std</vt:lpstr>
      <vt:lpstr>Wingdings</vt:lpstr>
      <vt:lpstr>2015 HDS Corporate Template</vt:lpstr>
      <vt:lpstr>Performance and Benchmarking with Hitachi UCP HC</vt:lpstr>
      <vt:lpstr>Content</vt:lpstr>
      <vt:lpstr>Objectives</vt:lpstr>
      <vt:lpstr>Summary of HCIBench Results</vt:lpstr>
      <vt:lpstr>Solution Components</vt:lpstr>
      <vt:lpstr>Solution Components</vt:lpstr>
      <vt:lpstr>Solution Components</vt:lpstr>
      <vt:lpstr>Solution Components</vt:lpstr>
      <vt:lpstr>Solution Components</vt:lpstr>
      <vt:lpstr>CLX/AEP Memory Population</vt:lpstr>
      <vt:lpstr>Workloads and Test Results</vt:lpstr>
      <vt:lpstr>UCP HC/HCIBench Configurations</vt:lpstr>
      <vt:lpstr>UCP HC/HCIBench Configurations</vt:lpstr>
      <vt:lpstr>UCP HC All-NVMe Vs SATA SSD (with HCIBench)</vt:lpstr>
      <vt:lpstr>Test Cases : HCIBench Workloads</vt:lpstr>
      <vt:lpstr>Solution Components</vt:lpstr>
      <vt:lpstr>Test Cases : HCIBench Workloads/Results</vt:lpstr>
      <vt:lpstr>Test Cases : HCIBench Workloads</vt:lpstr>
      <vt:lpstr>Test Cases : HCIBench Workloads</vt:lpstr>
      <vt:lpstr>UCP HC All-NVMe Vs SATA SSD (with HammerDB)</vt:lpstr>
      <vt:lpstr>Test Cases : HammerDB Workloads</vt:lpstr>
      <vt:lpstr>Test Cases : HammerDB Workloads</vt:lpstr>
      <vt:lpstr>Test Cases : HammerDB Workloads/Results</vt:lpstr>
      <vt:lpstr>Test Cases : HammerDB Workloads/Results</vt:lpstr>
      <vt:lpstr>Test Cases : HammerDB Workloads</vt:lpstr>
      <vt:lpstr>Test Cases : HammerDB Workloads</vt:lpstr>
      <vt:lpstr>UCP HC All-NVMe SKL Vs CLX/AEP (with HCIBench)</vt:lpstr>
      <vt:lpstr>Test Cases : HCIBench Workloads/Results</vt:lpstr>
      <vt:lpstr>Solution Components</vt:lpstr>
      <vt:lpstr>Test Cases : HCIBench Workloads</vt:lpstr>
      <vt:lpstr>HCIBench Results</vt:lpstr>
      <vt:lpstr>HCIBench Results</vt:lpstr>
      <vt:lpstr>HCIBench Results</vt:lpstr>
      <vt:lpstr>HCIBench Results</vt:lpstr>
      <vt:lpstr>Test Cases : HCIBench Workloads</vt:lpstr>
      <vt:lpstr>HCIBench Results</vt:lpstr>
      <vt:lpstr>HCIBench Results</vt:lpstr>
      <vt:lpstr>HCIBench Results</vt:lpstr>
      <vt:lpstr>Summary of VMmark Results</vt:lpstr>
      <vt:lpstr>Summary of VMmark Results</vt:lpstr>
      <vt:lpstr>Findings/Conclusions</vt:lpstr>
      <vt:lpstr>Findings/Conclusions</vt:lpstr>
      <vt:lpstr>Findings/Conclusions</vt:lpstr>
      <vt:lpstr>Questions and Discussion</vt:lpstr>
      <vt:lpstr>Thank You</vt:lpstr>
      <vt:lpstr>Miscellaneous</vt:lpstr>
      <vt:lpstr>CLX/AEP Memory Population</vt:lpstr>
      <vt:lpstr>CLX/AEP Memory Population</vt:lpstr>
      <vt:lpstr>CLX/AEP Memory Population</vt:lpstr>
      <vt:lpstr>AEP Population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Hitachi UCP HC – VMmark Benchmarks</dc:title>
  <dc:creator>Jose Perez</dc:creator>
  <cp:lastModifiedBy>Leo Nguyen</cp:lastModifiedBy>
  <cp:revision>369</cp:revision>
  <dcterms:created xsi:type="dcterms:W3CDTF">2019-05-14T20:40:06Z</dcterms:created>
  <dcterms:modified xsi:type="dcterms:W3CDTF">2026-04-29T03:27:50Z</dcterms:modified>
</cp:coreProperties>
</file>